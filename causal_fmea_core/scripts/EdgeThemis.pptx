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EdgeThemis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A Deterministic Causal Inference Engine for Edge LLMs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边缘大语言模型的确定性因果推理引擎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Rust FFI + LangGraph + llama.cpp   |   8GB VRAM   |   O(N³) d-separation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01  问题：LLM 的因果图幻觉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LLM 直接生成因果图的典型错误：</a:t>
            </a:r>
          </a:p>
        </p:txBody>
      </p:sp>
      <p:sp>
        <p:nvSpPr>
          <p:cNvPr id="4" name="Oval 3"/>
          <p:cNvSpPr/>
          <p:nvPr/>
        </p:nvSpPr>
        <p:spPr>
          <a:xfrm>
            <a:off x="1417320" y="2148839"/>
            <a:ext cx="822960" cy="822960"/>
          </a:xfrm>
          <a:prstGeom prst="ellipse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</a:t>
            </a:r>
          </a:p>
        </p:txBody>
      </p:sp>
      <p:sp>
        <p:nvSpPr>
          <p:cNvPr id="5" name="Oval 4"/>
          <p:cNvSpPr/>
          <p:nvPr/>
        </p:nvSpPr>
        <p:spPr>
          <a:xfrm>
            <a:off x="2788920" y="2148839"/>
            <a:ext cx="822960" cy="822960"/>
          </a:xfrm>
          <a:prstGeom prst="ellipse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B</a:t>
            </a:r>
          </a:p>
        </p:txBody>
      </p:sp>
      <p:sp>
        <p:nvSpPr>
          <p:cNvPr id="6" name="Oval 5"/>
          <p:cNvSpPr/>
          <p:nvPr/>
        </p:nvSpPr>
        <p:spPr>
          <a:xfrm>
            <a:off x="4160520" y="2148839"/>
            <a:ext cx="822960" cy="822960"/>
          </a:xfrm>
          <a:prstGeom prst="ellipse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40280" y="2560320"/>
            <a:ext cx="54864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11880" y="2560320"/>
            <a:ext cx="54864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828800" y="2148840"/>
            <a:ext cx="2743200" cy="0"/>
          </a:xfrm>
          <a:prstGeom prst="line">
            <a:avLst/>
          </a:prstGeom>
          <a:ln w="31750">
            <a:solidFill>
              <a:srgbClr val="FF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2608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4545"/>
                </a:solidFill>
                <a:latin typeface="微软雅黑" panose="020B0503020204020204" charset="-122"/>
              </a:defRPr>
            </a:pPr>
            <a:r>
              <a:t>⚠ 死循环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✗  捏造因果环路 (A→B→C→A)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✗  遗漏隐藏混淆因子 (Confounder)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✗  时间先后 ≠ 因果关系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✗  并行路径被错误串联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核心矛盾：小参数量化模型（3B/8B）的推理能力不足以自我纠错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破局之道：不信任 LLM 的图，用形式化数学验证它。</a:t>
            </a:r>
            <a:br/>
            <a:r>
              <a:t>将图论定理（d-separation）注入推理循环，用确定性约束生成式直觉。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02  三大数学约束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320040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4545"/>
                </a:solidFill>
                <a:latin typeface="微软雅黑" panose="020B0503020204020204" charset="-122"/>
              </a:defRPr>
            </a:pPr>
            <a:r>
              <a:t>1. DAG 拓扑约束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Kahn 算法强制无环</a:t>
            </a:r>
            <a:br/>
            <a:r>
              <a:t>∀v₁∈V, ∃ path v₁→...→v₁</a:t>
            </a:r>
            <a:br/>
            <a:r>
              <a:t>检测到环 → 物理熔断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371600"/>
            <a:ext cx="3383280" cy="320040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微软雅黑" panose="020B0503020204020204" charset="-122"/>
              </a:defRPr>
            </a:pPr>
            <a:r>
              <a:t>2. d-分离条件独立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19456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贝叶斯球 O(N³) 全量扫描</a:t>
            </a:r>
            <a:br/>
            <a:r>
              <a:t>X ⩝ Y | Z</a:t>
            </a:r>
            <a:br/>
            <a:r>
              <a:t>提取反直觉断言 → 常识审判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371600"/>
            <a:ext cx="3383280" cy="320040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3. FMEA 风险评分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19456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RPN = 100·S + 10·O + D</a:t>
            </a:r>
            <a:br/>
            <a:r>
              <a:t>S/O/D ∈ [1, 10] 整数</a:t>
            </a:r>
            <a:br/>
            <a:r>
              <a:t>Rust 底层硬校验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本质：将形式化验证的确定性与 LLM 的生成式直觉，在数学层面完成暴力缝合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03  系统架构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144000" cy="164592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051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545"/>
                </a:solidFill>
                <a:latin typeface="微软雅黑" panose="020B0503020204020204" charset="-122"/>
              </a:defRPr>
            </a:pPr>
            <a:r>
              <a:t>C++  llama-server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张量推理层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2801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端口 8080, Q4 量化, Q8_0 KV Cache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200400"/>
            <a:ext cx="9144000" cy="164592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337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  <a:latin typeface="微软雅黑" panose="020B0503020204020204" charset="-122"/>
              </a:defRPr>
            </a:pPr>
            <a:r>
              <a:t>Rust  causal_fmea_core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749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形式化验证层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5661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Kahn + d-separation + FMEA RPN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5486400"/>
            <a:ext cx="9144000" cy="164592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5623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DA8FF"/>
                </a:solidFill>
                <a:latin typeface="微软雅黑" panose="020B0503020204020204" charset="-122"/>
              </a:defRPr>
            </a:pPr>
            <a:r>
              <a:t>Python  LangGraph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6035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编排调度层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58521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Generator / Validator / Reflector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↑ HTTP JSON 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4937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↑ PyO3 FFI (zero-copy) 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04  Kahn 环路检测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算法原理：入度剥洋葱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1. 统计每个节点的入度（被指向的次数）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2. 将入度为 0 的节点推入队列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3. 逐个取出，将其邻居入度 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4. 邻居入度降为 0 则入队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5. 若处理节点数 = 总节点数 → 无环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45"/>
                </a:solidFill>
                <a:latin typeface="微软雅黑" panose="020B0503020204020204" charset="-122"/>
              </a:defRPr>
            </a:pPr>
            <a:r>
              <a:t>示例：检测到环</a:t>
            </a:r>
          </a:p>
        </p:txBody>
      </p:sp>
      <p:sp>
        <p:nvSpPr>
          <p:cNvPr id="10" name="Oval 9"/>
          <p:cNvSpPr/>
          <p:nvPr/>
        </p:nvSpPr>
        <p:spPr>
          <a:xfrm>
            <a:off x="7406640" y="2194560"/>
            <a:ext cx="731520" cy="73152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8778240" y="2194560"/>
            <a:ext cx="731520" cy="73152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B</a:t>
            </a:r>
          </a:p>
        </p:txBody>
      </p:sp>
      <p:sp>
        <p:nvSpPr>
          <p:cNvPr id="12" name="Oval 11"/>
          <p:cNvSpPr/>
          <p:nvPr/>
        </p:nvSpPr>
        <p:spPr>
          <a:xfrm>
            <a:off x="8092440" y="3474720"/>
            <a:ext cx="731520" cy="73152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38160" y="2560320"/>
            <a:ext cx="6400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732520" y="2926080"/>
            <a:ext cx="411480" cy="59436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7772400" y="2926080"/>
            <a:ext cx="320040" cy="59436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98079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4545"/>
                </a:solidFill>
                <a:latin typeface="微软雅黑" panose="020B0503020204020204" charset="-122"/>
              </a:defRPr>
            </a:pPr>
            <a:r>
              <a:t>C 的入度永不为 0</a:t>
            </a:r>
            <a:br/>
            <a:r>
              <a:t>processed &lt; n → 有环！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05  d-分离：三种基本因果结构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因果图由三种原子结构组合而成。理解每种结构的"阻断"与"激活"规则，是掌握 d-分离的前提。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Chain 链式传导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148839"/>
            <a:ext cx="822960" cy="82296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7" name="Oval 6"/>
          <p:cNvSpPr/>
          <p:nvPr/>
        </p:nvSpPr>
        <p:spPr>
          <a:xfrm>
            <a:off x="2057400" y="2148839"/>
            <a:ext cx="822960" cy="8229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3429000" y="2148839"/>
            <a:ext cx="822960" cy="82296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2918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因果链：X 导致 Z，Z 导致 Y</a:t>
            </a:r>
            <a:br/>
            <a:r>
              <a:t>Z 是中间传导环节</a:t>
            </a:r>
            <a:br/>
            <a:br/>
            <a:r>
              <a:t>观测 Z → 路径被阻断</a:t>
            </a:r>
            <a:br/>
            <a:r>
              <a:t>X ⊥ Y | 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Confounder 共同原因</a:t>
            </a:r>
          </a:p>
        </p:txBody>
      </p:sp>
      <p:sp>
        <p:nvSpPr>
          <p:cNvPr id="12" name="Oval 11"/>
          <p:cNvSpPr/>
          <p:nvPr/>
        </p:nvSpPr>
        <p:spPr>
          <a:xfrm>
            <a:off x="5623559" y="1417320"/>
            <a:ext cx="822960" cy="8229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↘</a:t>
            </a:r>
          </a:p>
        </p:txBody>
      </p:sp>
      <p:sp>
        <p:nvSpPr>
          <p:cNvPr id="15" name="Oval 14"/>
          <p:cNvSpPr/>
          <p:nvPr/>
        </p:nvSpPr>
        <p:spPr>
          <a:xfrm>
            <a:off x="4617720" y="2514600"/>
            <a:ext cx="822960" cy="82296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X</a:t>
            </a:r>
          </a:p>
        </p:txBody>
      </p:sp>
      <p:sp>
        <p:nvSpPr>
          <p:cNvPr id="16" name="Oval 15"/>
          <p:cNvSpPr/>
          <p:nvPr/>
        </p:nvSpPr>
        <p:spPr>
          <a:xfrm>
            <a:off x="6629400" y="2514600"/>
            <a:ext cx="822960" cy="82296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6576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Z 同时导致 X 和 Y</a:t>
            </a:r>
            <a:br/>
            <a:r>
              <a:t>X 和 Y 之间无直接因果</a:t>
            </a:r>
            <a:br/>
            <a:br/>
            <a:r>
              <a:t>观测 Z → 后门路径被阻断</a:t>
            </a:r>
            <a:br/>
            <a:r>
              <a:t>X ⊥ Y | 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4545"/>
                </a:solidFill>
                <a:latin typeface="微软雅黑" panose="020B0503020204020204" charset="-122"/>
              </a:defRPr>
            </a:pPr>
            <a:r>
              <a:t>Collider 对撞汇聚</a:t>
            </a:r>
          </a:p>
        </p:txBody>
      </p:sp>
      <p:sp>
        <p:nvSpPr>
          <p:cNvPr id="19" name="Oval 18"/>
          <p:cNvSpPr/>
          <p:nvPr/>
        </p:nvSpPr>
        <p:spPr>
          <a:xfrm>
            <a:off x="8549640" y="1417320"/>
            <a:ext cx="822960" cy="82296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↙</a:t>
            </a:r>
          </a:p>
        </p:txBody>
      </p:sp>
      <p:sp>
        <p:nvSpPr>
          <p:cNvPr id="22" name="Oval 21"/>
          <p:cNvSpPr/>
          <p:nvPr/>
        </p:nvSpPr>
        <p:spPr>
          <a:xfrm>
            <a:off x="11018520" y="1417320"/>
            <a:ext cx="822960" cy="82296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Y</a:t>
            </a:r>
          </a:p>
        </p:txBody>
      </p:sp>
      <p:sp>
        <p:nvSpPr>
          <p:cNvPr id="23" name="Oval 22"/>
          <p:cNvSpPr/>
          <p:nvPr/>
        </p:nvSpPr>
        <p:spPr>
          <a:xfrm>
            <a:off x="9738360" y="2514600"/>
            <a:ext cx="822960" cy="822960"/>
          </a:xfrm>
          <a:prstGeom prst="ellipse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6576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X 和 Y 分别导致 Z</a:t>
            </a:r>
            <a:br/>
            <a:r>
              <a:t>X 和 Y 本身无因果关系</a:t>
            </a:r>
            <a:br/>
            <a:br/>
            <a:r>
              <a:t>不观测 Z → 路径阻断</a:t>
            </a:r>
            <a:br/>
            <a:r>
              <a:t>观测 Z → 路径被激活！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029200"/>
            <a:ext cx="11247120" cy="118872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1206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核心区别：Chain 和 Confounder 中，观测 Z 阻断路径；Collider 中，观测 Z 反而激活路径。</a:t>
            </a:r>
            <a:br/>
            <a:r>
              <a:t>这是 LLM 最容易犯的错：将多个独立原因汇聚到同一结果时，LLM 往往遗漏 Collider 结构，错误地认为这些原因之间存在因果关系。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06  三种结构的阻断与激活规则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103120" cy="54864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88899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2743200" y="1097280"/>
            <a:ext cx="2560320" cy="54864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88920" y="1143000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Chain 链式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097280"/>
            <a:ext cx="3017520" cy="54864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32120" y="114300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Confounder 共同原因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097280"/>
            <a:ext cx="3017520" cy="54864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14300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4545"/>
                </a:solidFill>
                <a:latin typeface="微软雅黑" panose="020B0503020204020204" charset="-122"/>
              </a:defRPr>
            </a:pPr>
            <a:r>
              <a:t>Collider 对撞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83080"/>
            <a:ext cx="2103120" cy="73152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结构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1783080"/>
            <a:ext cx="2560320" cy="73152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182880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X → Z → 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783080"/>
            <a:ext cx="3017520" cy="73152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1828800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Z → X,  Z → 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1783080"/>
            <a:ext cx="3017520" cy="73152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834640" cy="10680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X → Z ← 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560320"/>
            <a:ext cx="2103120" cy="7315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606039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Z 的角色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2560320"/>
            <a:ext cx="2560320" cy="7315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2606039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中间传导环节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0" y="2560320"/>
            <a:ext cx="3017520" cy="7315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77840" y="2606039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共同原因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41080" y="2468880"/>
            <a:ext cx="3017520" cy="7315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32520" y="2468879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汇聚结果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337560"/>
            <a:ext cx="2103120" cy="73152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383279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Z 未观测时</a:t>
            </a:r>
            <a:br/>
            <a:r>
              <a:t>路径状态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3337560"/>
            <a:ext cx="2560320" cy="73152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3383279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路径开放</a:t>
            </a:r>
            <a:br/>
            <a:r>
              <a:t>X 与 Y 相关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0" y="3337560"/>
            <a:ext cx="3017520" cy="73152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0" y="3383279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后门路径开放</a:t>
            </a:r>
            <a:br/>
            <a:r>
              <a:t>X 与 Y 相关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0" y="3337560"/>
            <a:ext cx="3017520" cy="73152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383279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路径阻断</a:t>
            </a:r>
            <a:br/>
            <a:r>
              <a:t>X 与 Y 独立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114800"/>
            <a:ext cx="2103120" cy="7315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16052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Z 观测后</a:t>
            </a:r>
            <a:br/>
            <a:r>
              <a:t>路径状态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0" y="4114800"/>
            <a:ext cx="2560320" cy="7315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34640" y="416052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路径被阻断</a:t>
            </a:r>
            <a:br/>
            <a:r>
              <a:t>X ⊥ Y | Z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0" y="4114800"/>
            <a:ext cx="3017520" cy="7315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77840" y="4160520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后门路径被阻断</a:t>
            </a:r>
            <a:br/>
            <a:r>
              <a:t>X ⊥ Y | Z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0" y="4114800"/>
            <a:ext cx="3017520" cy="7315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0" y="4160520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路径被激活！</a:t>
            </a:r>
            <a:br/>
            <a:r>
              <a:t>X ⩝̸ Y | Z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892040"/>
            <a:ext cx="2103120" cy="73152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937759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独立性结论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0" y="4892040"/>
            <a:ext cx="2560320" cy="73152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34640" y="4937759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观测 Z 可隔离</a:t>
            </a:r>
            <a:br/>
            <a:r>
              <a:t>X 和 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0" y="4892040"/>
            <a:ext cx="3017520" cy="73152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77840" y="4937759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观测 Z 可隔离</a:t>
            </a:r>
            <a:br/>
            <a:r>
              <a:t>X 和 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0" y="4892040"/>
            <a:ext cx="3017520" cy="73152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0" y="4937759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观测 Z 反而使</a:t>
            </a:r>
            <a:br/>
            <a:r>
              <a:t>X 和 Y 相关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669280"/>
            <a:ext cx="2103120" cy="7315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571500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EdgeThemis</a:t>
            </a:r>
            <a:br/>
            <a:r>
              <a:t>提取的断言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43200" y="5669280"/>
            <a:ext cx="2560320" cy="7315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834640" y="571500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若固定 Z，</a:t>
            </a:r>
            <a:br/>
            <a:r>
              <a:t>X 不传导至 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0" y="5669280"/>
            <a:ext cx="3017520" cy="7315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77840" y="5715000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若固定 Z，</a:t>
            </a:r>
            <a:br/>
            <a:r>
              <a:t>X 不传导至 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686800" y="5669280"/>
            <a:ext cx="3017520" cy="7315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78240" y="5715000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无条件下独立，</a:t>
            </a:r>
            <a:br/>
            <a:r>
              <a:t>观测 Z 后相关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79535" y="1783080"/>
            <a:ext cx="2354580" cy="82740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关键：Chain/Confounder 中观测 Z 阻断路径；Collider 中观测 Z 激活路径。三者规则完全相反。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07  贝叶斯球算法 (Bayes Ball) 详解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核心思想：模拟一个"球"从 X 出发，沿因果图滚动。若球能到达 Y，说明 X 和 Y 之间存在活跃路径。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滚动规则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规则 1：向下滚动（沿箭头方向）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• 中间节点未观测 → 球可继续向下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4545"/>
                </a:solidFill>
                <a:latin typeface="微软雅黑" panose="020B0503020204020204" charset="-122"/>
              </a:defRPr>
            </a:pPr>
            <a:r>
              <a:t>• 中间节点已观测 → 路径被阻断，球停止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规则 2：向上滚动（逆箭头方向）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• 中间节点未观测 → 球可继续向上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4545"/>
                </a:solidFill>
                <a:latin typeface="微软雅黑" panose="020B0503020204020204" charset="-122"/>
              </a:defRPr>
            </a:pPr>
            <a:r>
              <a:t>• 中间节点已观测 → 路径被阻断，球停止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规则 3：Collider 特殊规则（向下到达 Z 后向上）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6051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• Z 或 Z 的后代被观测 → 球可向上通行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348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4545"/>
                </a:solidFill>
                <a:latin typeface="微软雅黑" panose="020B0503020204020204" charset="-122"/>
              </a:defRPr>
            </a:pPr>
            <a:r>
              <a:t>• Z 及其后代均未观测 → 路径被阻断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0059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特殊规则：起始节点 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1206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• X 始终允许球向所有方向传播（不受观测状态限制）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逐步示例：Confounder 结构</a:t>
            </a:r>
          </a:p>
        </p:txBody>
      </p:sp>
      <p:sp>
        <p:nvSpPr>
          <p:cNvPr id="17" name="Oval 16"/>
          <p:cNvSpPr/>
          <p:nvPr/>
        </p:nvSpPr>
        <p:spPr>
          <a:xfrm>
            <a:off x="7406640" y="2194560"/>
            <a:ext cx="731520" cy="73152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X</a:t>
            </a:r>
          </a:p>
        </p:txBody>
      </p:sp>
      <p:sp>
        <p:nvSpPr>
          <p:cNvPr id="18" name="Oval 17"/>
          <p:cNvSpPr/>
          <p:nvPr/>
        </p:nvSpPr>
        <p:spPr>
          <a:xfrm>
            <a:off x="9235440" y="1463040"/>
            <a:ext cx="731520" cy="73152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Z</a:t>
            </a:r>
          </a:p>
        </p:txBody>
      </p:sp>
      <p:sp>
        <p:nvSpPr>
          <p:cNvPr id="19" name="Oval 18"/>
          <p:cNvSpPr/>
          <p:nvPr/>
        </p:nvSpPr>
        <p:spPr>
          <a:xfrm>
            <a:off x="10607040" y="2194560"/>
            <a:ext cx="731520" cy="73152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965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1965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观测 Z（黄色）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474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Step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球从 X 出发，方向：向上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886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Step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X 的上游是 Z，球向上滚动到 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297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Step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297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Z 是观测节点（在条件集中）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7091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4709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4545"/>
                </a:solidFill>
                <a:latin typeface="微软雅黑" panose="020B0503020204020204" charset="-122"/>
              </a:defRPr>
            </a:pPr>
            <a:r>
              <a:t>规则 2：向上滚动遇到已观测节点 → 阻断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120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Step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5120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4545"/>
                </a:solidFill>
                <a:latin typeface="微软雅黑" panose="020B0503020204020204" charset="-122"/>
              </a:defRPr>
            </a:pPr>
            <a:r>
              <a:t>球无法从 Z 继续传播到 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532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结论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5532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球到不了 Y → X ⊥ Y | Z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126480"/>
            <a:ext cx="11247120" cy="54864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时间复杂度 O(N³)：对每对节点 (X, Y) 执行一次球滚动，每次滚动最多遍历全图。通过缓存反向邻接表避免重复构建。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08  Collider 激活：LLM 的致命盲区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无条件下：球到不了 Y → 独立</a:t>
            </a:r>
          </a:p>
        </p:txBody>
      </p:sp>
      <p:sp>
        <p:nvSpPr>
          <p:cNvPr id="4" name="Oval 3"/>
          <p:cNvSpPr/>
          <p:nvPr/>
        </p:nvSpPr>
        <p:spPr>
          <a:xfrm>
            <a:off x="1234440" y="1965960"/>
            <a:ext cx="822960" cy="82296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X</a:t>
            </a:r>
          </a:p>
        </p:txBody>
      </p:sp>
      <p:sp>
        <p:nvSpPr>
          <p:cNvPr id="5" name="Oval 4"/>
          <p:cNvSpPr/>
          <p:nvPr/>
        </p:nvSpPr>
        <p:spPr>
          <a:xfrm>
            <a:off x="3977639" y="1965960"/>
            <a:ext cx="822960" cy="82296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Y</a:t>
            </a:r>
          </a:p>
        </p:txBody>
      </p:sp>
      <p:sp>
        <p:nvSpPr>
          <p:cNvPr id="6" name="Oval 5"/>
          <p:cNvSpPr/>
          <p:nvPr/>
        </p:nvSpPr>
        <p:spPr>
          <a:xfrm>
            <a:off x="2606039" y="3246120"/>
            <a:ext cx="822960" cy="822960"/>
          </a:xfrm>
          <a:prstGeom prst="ellipse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球从 X 出发，向下到达 Z</a:t>
            </a:r>
            <a:br/>
            <a:r>
              <a:t>Z 未观测 → 规则 3：无法向上</a:t>
            </a:r>
            <a:br/>
            <a:r>
              <a:t>球到不了 Y</a:t>
            </a:r>
            <a:br/>
            <a:br/>
            <a:r>
              <a:t>X ⊥ Y （无条件独立）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45"/>
                </a:solidFill>
                <a:latin typeface="微软雅黑" panose="020B0503020204020204" charset="-122"/>
              </a:defRPr>
            </a:pPr>
            <a:r>
              <a:t>观测 Z 后：球到达 Y → 相关！</a:t>
            </a:r>
          </a:p>
        </p:txBody>
      </p:sp>
      <p:sp>
        <p:nvSpPr>
          <p:cNvPr id="11" name="Oval 10"/>
          <p:cNvSpPr/>
          <p:nvPr/>
        </p:nvSpPr>
        <p:spPr>
          <a:xfrm>
            <a:off x="7178040" y="1965960"/>
            <a:ext cx="822960" cy="82296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X</a:t>
            </a:r>
          </a:p>
        </p:txBody>
      </p:sp>
      <p:sp>
        <p:nvSpPr>
          <p:cNvPr id="12" name="Oval 11"/>
          <p:cNvSpPr/>
          <p:nvPr/>
        </p:nvSpPr>
        <p:spPr>
          <a:xfrm>
            <a:off x="9921240" y="1965960"/>
            <a:ext cx="822960" cy="82296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Y</a:t>
            </a:r>
          </a:p>
        </p:txBody>
      </p:sp>
      <p:sp>
        <p:nvSpPr>
          <p:cNvPr id="13" name="Oval 12"/>
          <p:cNvSpPr/>
          <p:nvPr/>
        </p:nvSpPr>
        <p:spPr>
          <a:xfrm>
            <a:off x="8549640" y="3246120"/>
            <a:ext cx="822960" cy="8229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3891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4545"/>
                </a:solidFill>
                <a:latin typeface="微软雅黑" panose="020B0503020204020204" charset="-122"/>
              </a:defRPr>
            </a:pPr>
            <a:r>
              <a:t>球从 X 出发，向下到达 Z</a:t>
            </a:r>
            <a:br/>
            <a:r>
              <a:t>Z 已观测 → 规则 3：可向上通行</a:t>
            </a:r>
            <a:br/>
            <a:r>
              <a:t>球从 Z 向上到达 Y</a:t>
            </a:r>
            <a:br/>
            <a:br/>
            <a:r>
              <a:t>X ⩝̸ Y | Z （条件相关！）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486400"/>
            <a:ext cx="11247120" cy="118872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EdgeThemis 提取的 Collider 激活断言：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"[X] 与 [Y] 在无条件下互不影响，但若观测到 [Z]，则二者之间会出现活跃的因果路径。这个对撞因子激活现象在现实中是否成立？"</a:t>
            </a:r>
            <a:br/>
            <a:r>
              <a:t>如果现实中 X 和 Y 确实独立（如两个无关的故障源），但观测到共同后果 Z 后 LLM 声称它们相关 → Reflector REJECT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09  从数学断言到常识审判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228600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8C00"/>
                </a:solidFill>
                <a:latin typeface="微软雅黑" panose="020B0503020204020204" charset="-122"/>
              </a:defRPr>
            </a:pPr>
            <a:r>
              <a:t>Rust 提取断言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若将 [Z] 固定为常量,</a:t>
            </a:r>
            <a:br/>
            <a:r>
              <a:t>则 [X] 的变化不会传导至 [Y]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103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371600"/>
            <a:ext cx="2560320" cy="228600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翻译为自然语言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0116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数学公式 -&gt; 人类可读的</a:t>
            </a:r>
            <a:br/>
            <a:r>
              <a:t>因果推断问句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103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2560320" cy="228600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DA8FF"/>
                </a:solidFill>
                <a:latin typeface="微软雅黑" panose="020B0503020204020204" charset="-122"/>
              </a:defRPr>
            </a:pPr>
            <a:r>
              <a:t>发送给 Reflector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LLM 以严谨审查员人格</a:t>
            </a:r>
            <a:br/>
            <a:r>
              <a:t>逐条审查断言的合理性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103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371600"/>
            <a:ext cx="2560320" cy="228600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PASS / REJECT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0116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PASS: 断言在现实中成立</a:t>
            </a:r>
            <a:br/>
            <a:r>
              <a:t>REJECT: 结构性逻辑错误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REJECT 判决触发纠错循环：将具体断言 + 拒绝理由反馈给 Generator，做增量修复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关键设计：</a:t>
            </a:r>
            <a:br/>
            <a:r>
              <a:t>• Reflector 只拒绝结构性错误（遗漏果关联、错误独立性假设），不拒绝"描述模糊"</a:t>
            </a:r>
            <a:br/>
            <a:r>
              <a:t>• Generator 重试时携带上一轮图谱边列表 + 具体断言，做定向修复而非从头重写</a:t>
            </a:r>
            <a:br/>
            <a:r>
              <a:t>• 熔断上限 5 次，熔断时返回历史最佳图谱（best_graph）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10  自纠错闭环流程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2011680" cy="137160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DA8FF"/>
                </a:solidFill>
                <a:latin typeface="微软雅黑" panose="020B0503020204020204" charset="-122"/>
              </a:defRPr>
            </a:pPr>
            <a:r>
              <a:t>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2860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提取因果图</a:t>
            </a:r>
            <a:br/>
            <a:r>
              <a:t>JSON Schema 约束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828800"/>
            <a:ext cx="2011680" cy="137160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8C00"/>
                </a:solidFill>
                <a:latin typeface="微软雅黑" panose="020B0503020204020204" charset="-122"/>
              </a:defRPr>
            </a:pPr>
            <a:r>
              <a:t>Validator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2860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Kahn 环检</a:t>
            </a:r>
            <a:br/>
            <a:r>
              <a:t>d-分离断言提取</a:t>
            </a:r>
            <a:br/>
            <a:r>
              <a:t>FMEA RPN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828800"/>
            <a:ext cx="2011680" cy="137160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DA8FF"/>
                </a:solidFill>
                <a:latin typeface="微软雅黑" panose="020B0503020204020204" charset="-122"/>
              </a:defRPr>
            </a:pPr>
            <a:r>
              <a:t>Reflector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2860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常识审判</a:t>
            </a:r>
            <a:br/>
            <a:r>
              <a:t>PASS / REJECT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114800"/>
            <a:ext cx="2011680" cy="137160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4206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5720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输出最终图谱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1031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1031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200400"/>
            <a:ext cx="45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4545"/>
                </a:solidFill>
                <a:latin typeface="微软雅黑" panose="020B0503020204020204" charset="-122"/>
              </a:defRPr>
            </a:pPr>
            <a:r>
              <a:t>← REJECT 反馈断言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0" y="3474720"/>
            <a:ext cx="0" cy="457200"/>
          </a:xfrm>
          <a:prstGeom prst="line">
            <a:avLst/>
          </a:prstGeom>
          <a:ln w="25400">
            <a:solidFill>
              <a:srgbClr val="FF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2377440" y="3931920"/>
            <a:ext cx="5394960" cy="0"/>
          </a:xfrm>
          <a:prstGeom prst="line">
            <a:avLst/>
          </a:prstGeom>
          <a:ln w="25400">
            <a:solidFill>
              <a:srgbClr val="FF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377440" y="3200400"/>
            <a:ext cx="0" cy="731520"/>
          </a:xfrm>
          <a:prstGeom prst="line">
            <a:avLst/>
          </a:prstGeom>
          <a:ln w="25400">
            <a:solidFill>
              <a:srgbClr val="FF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关键参数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29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• 截断上限：5 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49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• 断言提取上限：20 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669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• Generator max_tokens：8192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989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• Reflector max_tokens：256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309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• LLM temperature：0.1 / 0.0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11  FMEA 边缘风险评分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RPN = 100 · S + 10 · O + D     (S, O, D ∈ [1, 10])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474720" cy="411480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4545"/>
                </a:solidFill>
                <a:latin typeface="微软雅黑" panose="020B0503020204020204" charset="-122"/>
              </a:defRPr>
            </a:pPr>
            <a:r>
              <a:t>S 严重度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该因果传导步骤的</a:t>
            </a:r>
            <a:br/>
            <a:r>
              <a:t>直接后果有多严重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1-2: 微小偏差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3-4: 局部异常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5-6: 明显受损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7-8: 关键受损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9-10: 灾难性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28800"/>
            <a:ext cx="3474720" cy="411480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O 频度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2860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前置条件满足时</a:t>
            </a:r>
            <a:br/>
            <a:r>
              <a:t>该传导发生的概率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1-2: 极罕见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3-4: 少见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023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5-6: 偶发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7-8: 高频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937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9-10: 确定性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828800"/>
            <a:ext cx="3474720" cy="411480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D 探测度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2860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该传导在后果发生前</a:t>
            </a:r>
            <a:br/>
            <a:r>
              <a:t>被察觉的难度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1-2: 明显异常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3-4: 常规检查可见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023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5-6: 专项排查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7-8: 极难发现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937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9-10: 无法探测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12  消融对比实验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同一场景 × 三种配置 → 展示每一层防御的增量价值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73152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防御能力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560320" cy="73152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39" y="16916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4545"/>
                </a:solidFill>
                <a:latin typeface="微软雅黑" panose="020B0503020204020204" charset="-122"/>
              </a:defRPr>
            </a:pPr>
            <a:r>
              <a:t>配置 A</a:t>
            </a:r>
            <a:br/>
            <a:r>
              <a:t>纯 LLM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560320" cy="73152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6916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微软雅黑" panose="020B0503020204020204" charset="-122"/>
              </a:defRPr>
            </a:pPr>
            <a:r>
              <a:t>配置 B</a:t>
            </a:r>
            <a:br/>
            <a:r>
              <a:t>+ Schema + Rust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560320" cy="73152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6916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配置 C</a:t>
            </a:r>
            <a:br/>
            <a:r>
              <a:t>完整 EdgeThemis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68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结构化因果图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468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4545"/>
                </a:solidFill>
                <a:latin typeface="微软雅黑" panose="020B0503020204020204" charset="-122"/>
              </a:defRPr>
            </a:pPr>
            <a: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2468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468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926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FMEA 风险评分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926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4545"/>
                </a:solidFill>
                <a:latin typeface="微软雅黑" panose="020B0503020204020204" charset="-122"/>
              </a:defRPr>
            </a:pPr>
            <a: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926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926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383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Kahn 环路检测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383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4545"/>
                </a:solidFill>
                <a:latin typeface="微软雅黑" panose="020B0503020204020204" charset="-122"/>
              </a:defRPr>
            </a:pPr>
            <a: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3383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383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840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d-分离断言提取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840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4545"/>
                </a:solidFill>
                <a:latin typeface="微软雅黑" panose="020B0503020204020204" charset="-122"/>
              </a:defRPr>
            </a:pPr>
            <a: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3840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✓ 照单全收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840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✓ 逐条审判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297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Collider 激活检测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297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4545"/>
                </a:solidFill>
                <a:latin typeface="微软雅黑" panose="020B0503020204020204" charset="-122"/>
              </a:defRPr>
            </a:pPr>
            <a: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4297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4297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754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常识审判 (Reflector)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754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4545"/>
                </a:solidFill>
                <a:latin typeface="微软雅黑" panose="020B0503020204020204" charset="-122"/>
              </a:defRPr>
            </a:pPr>
            <a: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59" y="4754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4754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212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自纠错重写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212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4545"/>
                </a:solidFill>
                <a:latin typeface="微软雅黑" panose="020B0503020204020204" charset="-122"/>
              </a:defRPr>
            </a:pPr>
            <a: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59" y="5212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5212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✓ 定向修复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669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可审计 (causal reason)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5669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4545"/>
                </a:solidFill>
                <a:latin typeface="微软雅黑" panose="020B0503020204020204" charset="-122"/>
              </a:defRPr>
            </a:pPr>
            <a:r>
              <a:t>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59" y="5669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5669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结论：每一层防御都带来可测量的增量价值，Reflector 是区分度最大的一层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13  实际输出示例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配置 C 输出（完整 EdgeThemis）：医院手术感染事故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[1]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医院管理层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→ 手术室护士长张姐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S=9 O=10 D=10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[2]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40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医院管理层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→ 消毒外包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S=7 O=8 D=5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[3]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消毒外包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→ 环氧乙烷浓度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S=8 O=9 D=3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46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[5]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护士长张姐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246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→ 新护士长小李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S=3 O=5 D=5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7490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[6]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749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新护士长小李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→ 风险报告提交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749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S=5 O=7 D=5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51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[9]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51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后勤部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→ 手术室空气洁净度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S=8 O=9 D=3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754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[10]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4545"/>
                </a:solidFill>
                <a:latin typeface="微软雅黑" panose="020B0503020204020204" charset="-122"/>
              </a:defRPr>
            </a:pPr>
            <a:r>
              <a:t>手术室空气洁净度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4545"/>
                </a:solidFill>
                <a:latin typeface="微软雅黑" panose="020B0503020204020204" charset="-122"/>
              </a:defRPr>
            </a:pPr>
            <a:r>
              <a:t>→ 败血症患者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S=8 O=9 D=3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257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[11]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257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4545"/>
                </a:solidFill>
                <a:latin typeface="微软雅黑" panose="020B0503020204020204" charset="-122"/>
              </a:defRPr>
            </a:pPr>
            <a:r>
              <a:t>败血症患者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5257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4545"/>
                </a:solidFill>
                <a:latin typeface="微软雅黑" panose="020B0503020204020204" charset="-122"/>
              </a:defRPr>
            </a:pPr>
            <a:r>
              <a:t>→ 死亡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S=9 O=10 D=10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1097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亮点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1645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✓ 评分分化</a:t>
            </a:r>
            <a:br/>
            <a:r>
              <a:t>   S: 3~9</a:t>
            </a:r>
            <a:br/>
            <a:r>
              <a:t>   O: 5~10</a:t>
            </a:r>
            <a:br/>
            <a:r>
              <a:t>   D: 3~10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2743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✓ Collider 激活</a:t>
            </a:r>
            <a:br/>
            <a:r>
              <a:t>   断言提取成功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3840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✓ Reflector 一次 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4937759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76"/>
                </a:solidFill>
                <a:latin typeface="微软雅黑" panose="020B0503020204020204" charset="-122"/>
              </a:defRPr>
            </a:pPr>
            <a:r>
              <a:t>✓ 无死循环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14  已知局限性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515600" cy="109728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微软雅黑" panose="020B0503020204020204" charset="-122"/>
              </a:defRPr>
            </a:pPr>
            <a:r>
              <a:t>O(N³) 计算瓶颈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3258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节点数 N &gt; 50 时，d-分离断言提取耗时显著。</a:t>
            </a:r>
            <a:br/>
            <a:r>
              <a:t>已通过缓存反向邻接表缓解，但核心遍历仍为立方复杂度。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515600" cy="109728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06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微软雅黑" panose="020B0503020204020204" charset="-122"/>
              </a:defRPr>
            </a:pPr>
            <a:r>
              <a:t>小模型评分方差坍塌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606039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3B/8B 量化模型倾向于全局打中庸分数。</a:t>
            </a:r>
            <a:br/>
            <a:r>
              <a:t>已通过 prompt 硬约束缓解，根本解决需更大模型。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79"/>
            <a:ext cx="10515600" cy="109728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1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微软雅黑" panose="020B0503020204020204" charset="-122"/>
              </a:defRPr>
            </a:pPr>
            <a:r>
              <a:t>上下文窗口限制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886199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量化模型 4096 token 上下文，断言提取上限为 20 条。</a:t>
            </a:r>
            <a:br/>
            <a:r>
              <a:t>换用更大上下文模型可相应提升。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20640"/>
            <a:ext cx="10515600" cy="109728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663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微软雅黑" panose="020B0503020204020204" charset="-122"/>
              </a:defRPr>
            </a:pPr>
            <a:r>
              <a:t>FMEA 公式硬编码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5166359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RPN = 100S + 10O + D 当前硬编码。</a:t>
            </a:r>
            <a:br/>
            <a:r>
              <a:t>未来将重构为跨语言动态注入的自适应权重分配器。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EdgeThemis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将形式化验证的确定性，与 LLM 的生成式直觉，在数学层面完成暴力缝合。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未来方向</a:t>
            </a:r>
            <a:br/>
            <a:r>
              <a:t>• 更大参数模型（7B/14B）提升评分方差与图结构质量</a:t>
            </a:r>
            <a:br/>
            <a:r>
              <a:t>• 动态 FMEA 权重注入，适配不同行业场景</a:t>
            </a:r>
            <a:br/>
            <a:r>
              <a:t>• 扩展至多智能体协作因果推理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4405</Words>
  <Application>WPS 演示</Application>
  <PresentationFormat>On-screen Show (4:3)</PresentationFormat>
  <Paragraphs>596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WPS_1601795207</cp:lastModifiedBy>
  <cp:revision>2</cp:revision>
  <dcterms:created xsi:type="dcterms:W3CDTF">2013-01-27T09:14:00Z</dcterms:created>
  <dcterms:modified xsi:type="dcterms:W3CDTF">2026-06-01T09:32:45Z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3DF009DE7AA14E10BE815A016A3E5E6F_12</vt:lpwstr>
  </property>
  <property fmtid="{D5CDD505-2E9C-101B-9397-08002B2CF9AE}" pid="3" name="KSOProductBuildVer">
    <vt:lpwstr>2052-12.1.0.26375</vt:lpwstr>
  </property>
</Properties>
</file>