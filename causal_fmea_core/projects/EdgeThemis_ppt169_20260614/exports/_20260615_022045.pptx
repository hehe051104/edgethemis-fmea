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今天我们来介绍 EdgeThemis——一个基于形式化验证的因果推理引擎。本系统基于微软研究院关于 LLM 因果推理缺陷的发现，以及 Reflexion 框架的自反思思想，首次将工业 FMEA 风险评估与 LLM 因果推理结合，通过 Rust 形式化验证引擎实现微秒级逻辑拦截。目标是在 8GB 显存的边缘硬件上实现工业级因果推理。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我们的工作建立在两篇核心论文之上。第一篇是微软研究院的工作，发表于 ICLR 2024，他们证明了大模型根本不懂因果，只是"因果复读机"——记住训练语料中的词汇共现，遇到抽象变量就彻底瞎蒙。第二篇是 Reflexion，发表于 NeurIPS 2023，提出了 Actor-Evaluator-Reflection 的语言强化学习闭环。但 Reflexion 的 Evaluator 是软性的，无法保证数学绝对正确性。EdgeThemis 的核心创新就是用 Rust 图论算子取代这个软性评估器，将确定性拉满。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因果推理在医疗诊断、工业故障分析等领域至关重要。LLM 虽然能从文本中提取因果关系，但存在三个结构性缺陷。第一是因果幻觉，LLM 可能生成无中生有的因果链。第二是环路隐患，有向图中可能出现循环，违反 DAG 基本约束。第三是风险盲区，提取出的因果边没有量化风险评估。现有方法缺少对 LLM 因果推理输出的形式化验证闭环。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我们的工作有三个核心贡献。第一个是混合架构，LLM 通过 JSON Schema 强制输出结构化因果图，然后交给 Rust 形式化验证引擎进行环路检测和 d-分离验证。第二个是 FMEA 风险量化，将工业工程中的失效模式与影响分析融入因果图的每条边。第三个是自反思纠错闭环，验证失败时拦截报告反馈给 LLM，最多五轮自动修正。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来看系统架构的完整流水线。文本输入首先经过 LLM 生成器，基于 Qwen 2.5 模型和 JSON Schema 约束提取结构化因果图。然后进入 Rust 形式化验证引擎，同时进行 Kahn 环路检测、Bayesian Ball d-分离验证和 FMEA RPN 风险评估。如果检测到违规，拦截报告反馈给 LLM 重新生成；如果通过验证，交给 Reflector LLM 进行常识判断，最终输出经过验证的因果图和 FMEA 报告。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Generator 节点是系统的起点。它接收自然语言文本，通过 JSON Schema 约束 LLM 强制输出结构化的 CausalEdge 数据结构，每条边包含 cause、effect、S、O、D 五个字段和推理过程。我们使用 Qwen 2.5 三 B 参数模型，四比特量化，通过 llama-server 的 OpenAI 兼容 API 调用。Pydantic 模型在 Python 层做最终校验，确保输出格式可被 Rust 引擎直接解析。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字符串驻留池是 Rust 引擎的基础设施。LLM 输出的节点名是字符串，但 Rust 图算法操作的是整数 ID。我们用 IndexSet 配合 Arc 和 Mutex 实现了一个线程安全的驻留池，同一节点名只存一次，查找复杂度 O(1)。Python 通过 FFI 的 inject_edges 方法将边列表传入 Rust，Rust 端自动完成字符串到整数的映射。底层的 CompactCausalGraph 用一维扁平邻接表存储，CPU 缓存友好。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Kahn 算法是第一道防线——检测因果图中是否存在环路。算法流程是：先统计每个节点的入度，将入度为零的节点推入队列，然后像剥洋葱一样层层拆解。如果成功拆解的节点数等于总节点数，说明无环；否则有环，触发熔断。复杂度 O(V+E)，非常高效。此外，在边注入阶段就会拦截自环边，从源头杜绝无意义的因果回路。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Bayesian Ball 算法是 d-分离验证的核心。它的关键创新是给 BFS 搜索的每个状态附加一个"方向"标记——Up 表示逆箭头找原因，Down 表示顺箭头找结果。算法有四条状态转移规则。规则一：向上走到未观测节点时两个方向都允许。规则二：向上走到已观测节点时两个方向都阻断。规则三：向下走到未观测节点时只允许继续向下。规则四：向下走到已观测节点时只允许向上——这是对撞结构的激活条件。如果贝叶斯球成功从起点 X 滚到了终点 Y，说明存在非法连通路径。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第一种情况：链式结构，中间节点 M 已被观测。比如药物导致血压降低，血压降低导致头晕缓解。如果我们已知血压确实降低了，那么在"血压已降"的前提下，用药对头晕缓解无额外预测力。球从用药出发，向上走到血压降低节点，因为 M 已观测，规则二触发，两个方向都被阻断，球卡死在 M。路径被物理切断，X 和 Y 被 d-分离。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第二种情况：链式结构，中间节点 M 未被观测。比如用药导致病情好转，病情好转导致恢复运动。如果我们不知道病情是否好转，球从用药出发，向下走到病情好转，因为 M 未观测，规则三触发，只允许继续向下，球到达恢复运动。这是唯一合法的因果通路——Chain 结构本身就是真实的因果链，连通是正确的。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第三种情况：共因结构，共同原因 M 已被观测。比如暴雨同时导致手术推迟和空气湿度高。如果我们已确认当天确实下暴雨，在"已知暴雨"的前提下，手术推迟和湿度高之间无虚假相关性。球从手术推迟出发，向上走到暴雨节点，因为 M 已观测，规则二触发，球卡死在 M。后门被堵死，这就是后门准则的工程实现。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第四种情况：共因结构，共同原因 M 未被观测。同样的暴雨场景，但这次没记录天气。暴雨同时导致了手术推迟和湿度高，LLM 可能误以为手术推迟导致湿度高。球从手术推迟出发，向上走到暴雨，因为 M 未观测，规则一允许两个方向都走，球向下走到湿度高。球到达 Y，后门大开。这是 LLM 最常见的错误——忘记控制混杂变量。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第五种情况：对撞结构，对撞节点 M 已被观测——这是最反直觉的。比如业务能力和人脉关系都能让人成为合伙人。如果我们已知此人是合伙人，发现他业务能力不行，就能推断他靠关系。这就是 explaining away 效应。球从业务能力出发，向下走到合伙人，因为 M 已观测，规则四触发，只允许向上走，球通过逆箭头摸到了人脉关系。观测对撞节点反而激活了虚假路径。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第六种情况：对撞结构，对撞节点 M 未被观测。同样的合伙人场景，但不知道此人是否是合伙人。业务能力和人脉关系本来就是两码事，互不影响。球从业务能力出发，向下走到合伙人节点，因为 M 未观测，规则三只允许向下，但对撞节点没有向下的边，球卡死在 Z。对撞节点的出厂设置就是天然阻断——不翻垃圾桶就安全。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FMEA 是工业工程中广泛使用的风险评估方法。我们将其引入因果推理，每条因果边携带三个维度的评分：严重度 S、发生概率 O、检测难度 D，取值都是一到十。风险优先数 RPN 等于一百乘 S 加十乘 O 加 D。当 RPN 超过五百或者 S 大于等于九时，系统触发高风险告警。这是 FMEA 工业方法论首次与 LLM 因果推理结合。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自反思闭环是我们的核心创新之一。当 Rust 验证引擎检测到违规时，拦截报告会反馈给 LLM 生成器进行修正。第一轮可能包含环路，第二轮可能有 d-分离违反，第三轮全部验证通过。系统设置了五轮熔断机制，防止无限循环。每次成功生成的图谱被记录为最佳图谱，即使触发熔断也返回历史最佳结果。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实验配置方面，我们使用 Qwen 2.5 三 B 参数模型，四比特量化，通过 llama-server 本地部署，运行在八 GB 显存的 RTX 4060 上。三组消融对比分别是：Config A 纯 LLM 无验证，Config B 加上 Schema 约束和 Rust 验证，Config C 在此基础上加入自反思闭环。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消融实验的结果非常清晰。Config A 纯 LLM 可能产生环路，综合质量最低。Config B 加入 Rust 验证后，环路被拦截，FMEA 标注有了，但 d-分离问题只能检测不能修正。Config C 完整系统不仅检测 d-分离违反，还能通过自反思闭环自动修正，综合评分达到九十五分。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以医院感染场景为例。左边 Config A 的输出存在环路，没有 FMEA 标注。经过三轮自反思修正后，右边 Config C 的输出环路消除，每条边都标注了 FMEA RPN 风险值，高风险边自动告警。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总结来说，EdgeThemis 证明了混合架构在提升因果推理可验证性方面的有效性。我们首次将 FMEA 与 LLM 因果推理结合，Bayesian Ball d-分离和 Kahn 环路检测实现了轻量级形式化验证，自反思闭环显著提升了因果图的逻辑一致性。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感谢大家的聆听，欢迎提问。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619500"/>
          </a:xfrm>
          <a:prstGeom prst="rect">
            <a:avLst/>
          </a:prstGeom>
          <a:gradFill>
            <a:gsLst>
              <a:gs pos="0">
                <a:srgbClr val="1A3C6E"/>
              </a:gs>
              <a:gs pos="100000">
                <a:srgbClr val="0F2445"/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 rot="900000">
            <a:off x="8763000" y="381000"/>
            <a:ext cx="3048000" cy="3048000"/>
          </a:xfrm>
          <a:prstGeom prst="roundRect">
            <a:avLst>
              <a:gd name="adj" fmla="val 1250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 rot="1500000">
            <a:off x="9144000" y="762000"/>
            <a:ext cx="2286000" cy="2286000"/>
          </a:xfrm>
          <a:prstGeom prst="roundRect">
            <a:avLst>
              <a:gd name="adj" fmla="val 1667"/>
            </a:avLst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9525000" y="1143000"/>
            <a:ext cx="1524000" cy="1524000"/>
          </a:xfrm>
          <a:prstGeom prst="ellipse">
            <a:avLst/>
          </a:prstGeom>
          <a:noFill/>
          <a:ln w="9525">
            <a:solidFill>
              <a:srgbClr val="2E86DE">
                <a:alpha val="15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9144000" y="762000"/>
            <a:ext cx="2286000" cy="2286000"/>
          </a:xfrm>
          <a:prstGeom prst="ellipse">
            <a:avLst/>
          </a:prstGeom>
          <a:noFill/>
          <a:ln w="7620">
            <a:solidFill>
              <a:srgbClr val="E8B931">
                <a:alpha val="10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9020175" y="542925"/>
            <a:ext cx="57150" cy="57150"/>
          </a:xfrm>
          <a:prstGeom prst="ellipse">
            <a:avLst/>
          </a:prstGeom>
          <a:solidFill>
            <a:srgbClr val="2E86DE">
              <a:alpha val="40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9696450" y="838200"/>
            <a:ext cx="38100" cy="38100"/>
          </a:xfrm>
          <a:prstGeom prst="ellipse">
            <a:avLst/>
          </a:prstGeom>
          <a:solidFill>
            <a:srgbClr val="E8B931">
              <a:alpha val="30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915650" y="1104900"/>
            <a:ext cx="76200" cy="76200"/>
          </a:xfrm>
          <a:prstGeom prst="ellipse">
            <a:avLst/>
          </a:prstGeom>
          <a:solidFill>
            <a:srgbClr val="2E86DE">
              <a:alpha val="20000"/>
            </a:srgbClr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762000" y="3619500"/>
            <a:ext cx="10668000" cy="38100"/>
          </a:xfrm>
          <a:prstGeom prst="rect">
            <a:avLst/>
          </a:prstGeom>
          <a:gradFill>
            <a:gsLst>
              <a:gs pos="0">
                <a:srgbClr val="2E86DE"/>
              </a:gs>
              <a:gs pos="100000">
                <a:srgbClr val="E8B931"/>
              </a:gs>
            </a:gsLst>
            <a:lin ang="0" scaled="1"/>
          </a:gra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716280" y="1040130"/>
            <a:ext cx="4945380" cy="1531620"/>
            <a:chOff x="716280" y="1040130"/>
            <a:chExt cx="4945380" cy="1531620"/>
          </a:xfrm>
        </p:grpSpPr>
        <p:sp>
          <p:nvSpPr>
            <p:cNvPr id="12" name="TextBox 12"/>
            <p:cNvSpPr txBox="1"/>
            <p:nvPr/>
          </p:nvSpPr>
          <p:spPr>
            <a:xfrm>
              <a:off x="716280" y="1040130"/>
              <a:ext cx="283858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EdgeThemis</a:t>
              </a:r>
              <a:endParaRPr lang="zh-CN" sz="3600" b="1" dirty="0">
                <a:solidFill>
                  <a:srgbClr val="FFFFFF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5330" y="1773555"/>
              <a:ext cx="397383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>
                      <a:alphaMod val="95000"/>
                    </a:srgbClr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基于形式化验证的因果推理引擎</a:t>
              </a:r>
              <a:endParaRPr lang="zh-CN" sz="2100" dirty="0">
                <a:solidFill>
                  <a:srgbClr val="FFFFFF">
                    <a:alphaMod val="95000"/>
                  </a:srgbClr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2950" y="2266950"/>
              <a:ext cx="49187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i="1" dirty="0">
                  <a:solidFill>
                    <a:srgbClr val="FFFFFF">
                      <a:alphaMod val="70000"/>
                    </a:srgbClr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A Causal Reasoning Engine with Formal Verification</a:t>
              </a:r>
              <a:endParaRPr lang="zh-CN" sz="1500" i="1" dirty="0">
                <a:solidFill>
                  <a:srgbClr val="FFFFFF">
                    <a:alphaMod val="70000"/>
                  </a:srgbClr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2857500"/>
            <a:ext cx="6477000" cy="285750"/>
            <a:chOff x="762000" y="2857500"/>
            <a:chExt cx="6477000" cy="285750"/>
          </a:xfrm>
        </p:grpSpPr>
        <p:sp>
          <p:nvSpPr>
            <p:cNvPr id="16" name="Rectangle 16"/>
            <p:cNvSpPr/>
            <p:nvPr/>
          </p:nvSpPr>
          <p:spPr>
            <a:xfrm>
              <a:off x="762000" y="2857500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2E86DE">
                <a:alpha val="25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94839" y="2942749"/>
              <a:ext cx="2773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LLM</a:t>
              </a:r>
              <a:endPara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047875" y="2857500"/>
              <a:ext cx="1524000" cy="285750"/>
            </a:xfrm>
            <a:prstGeom prst="roundRect">
              <a:avLst>
                <a:gd name="adj" fmla="val 50000"/>
              </a:avLst>
            </a:prstGeom>
            <a:solidFill>
              <a:srgbClr val="2E86DE">
                <a:alpha val="2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155862" y="2942749"/>
              <a:ext cx="1308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Formal Verification</a:t>
              </a:r>
              <a:endPara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714750" y="2857500"/>
              <a:ext cx="952500" cy="285750"/>
            </a:xfrm>
            <a:prstGeom prst="roundRect">
              <a:avLst>
                <a:gd name="adj" fmla="val 50000"/>
              </a:avLst>
            </a:prstGeom>
            <a:solidFill>
              <a:srgbClr val="2E86DE">
                <a:alpha val="25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014797" y="2942749"/>
              <a:ext cx="3524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FMEA</a:t>
              </a:r>
              <a:endPara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810125" y="2857500"/>
              <a:ext cx="762000" cy="285750"/>
            </a:xfrm>
            <a:prstGeom prst="roundRect">
              <a:avLst>
                <a:gd name="adj" fmla="val 50000"/>
              </a:avLst>
            </a:prstGeom>
            <a:solidFill>
              <a:srgbClr val="E8B931">
                <a:alpha val="2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066116" y="2942749"/>
              <a:ext cx="2500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DAG</a:t>
              </a:r>
              <a:endPara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715000" y="2857500"/>
              <a:ext cx="1524000" cy="285750"/>
            </a:xfrm>
            <a:prstGeom prst="roundRect">
              <a:avLst>
                <a:gd name="adj" fmla="val 50000"/>
              </a:avLst>
            </a:prstGeom>
            <a:solidFill>
              <a:srgbClr val="E8B931">
                <a:alpha val="25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59504" y="2942749"/>
              <a:ext cx="10349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Neuro-Symbolic</a:t>
              </a:r>
              <a:endPara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49618" y="3895249"/>
            <a:ext cx="5641467" cy="436245"/>
            <a:chOff x="749618" y="3895249"/>
            <a:chExt cx="5641467" cy="436245"/>
          </a:xfrm>
        </p:grpSpPr>
        <p:sp>
          <p:nvSpPr>
            <p:cNvPr id="27" name="TextBox 27"/>
            <p:cNvSpPr txBox="1"/>
            <p:nvPr/>
          </p:nvSpPr>
          <p:spPr>
            <a:xfrm>
              <a:off x="749618" y="3895249"/>
              <a:ext cx="56414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Based on: MSR (2023) Corr2Cause + Reflexion (NeurIPS 2023) + FMEA Industrial Standards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9618" y="4133374"/>
              <a:ext cx="39447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Target: 8GB VRAM Edge Deployment (RTX 4060) · NeurIPS / ICLR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44855" y="4616768"/>
            <a:ext cx="1922145" cy="960120"/>
            <a:chOff x="744855" y="4616768"/>
            <a:chExt cx="1922145" cy="960120"/>
          </a:xfrm>
        </p:grpSpPr>
        <p:sp>
          <p:nvSpPr>
            <p:cNvPr id="30" name="TextBox 30"/>
            <p:cNvSpPr txBox="1"/>
            <p:nvPr/>
          </p:nvSpPr>
          <p:spPr>
            <a:xfrm>
              <a:off x="744855" y="4616768"/>
              <a:ext cx="13763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[Author Name]</a:t>
              </a:r>
              <a:endParaRPr lang="zh-CN" sz="13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6760" y="4899660"/>
              <a:ext cx="14546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[University / Lab]</a:t>
              </a:r>
              <a:endParaRPr lang="zh-CN" sz="12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Line 32"/>
            <p:cNvSpPr/>
            <p:nvPr/>
          </p:nvSpPr>
          <p:spPr>
            <a:xfrm>
              <a:off x="762000" y="52197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8665" y="5363528"/>
              <a:ext cx="3347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2026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8202168" y="6522720"/>
            <a:ext cx="32392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EdgeThemis — Causal Reasoning with Formal Verification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6" grpId="0"/>
      <p:bldP spid="29" grpId="0"/>
      <p:bldP spid="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62902"/>
            <a:ext cx="11049000" cy="518160"/>
            <a:chOff x="571500" y="362902"/>
            <a:chExt cx="11049000" cy="518160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362902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学术背景与动机</a:t>
              </a:r>
              <a:endParaRPr lang="zh-CN" sz="255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985260" y="508635"/>
              <a:ext cx="26708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Academic Background &amp; Motivation</a:t>
              </a:r>
              <a:endParaRPr lang="zh-CN" sz="12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71500" y="1047750"/>
            <a:ext cx="5334000" cy="1719262"/>
            <a:chOff x="571500" y="1047750"/>
            <a:chExt cx="5334000" cy="1719262"/>
          </a:xfrm>
          <a:effectLst>
            <a:outerShdw blurRad="76200" dist="19050" dir="5400000" algn="ctr" rotWithShape="0">
              <a:srgbClr val="000000">
                <a:alpha val="4500"/>
              </a:srgbClr>
            </a:outerShdw>
          </a:effectLst>
        </p:grpSpPr>
        <p:sp>
          <p:nvSpPr>
            <p:cNvPr id="8" name="Rectangle 8"/>
            <p:cNvSpPr/>
            <p:nvPr/>
          </p:nvSpPr>
          <p:spPr>
            <a:xfrm>
              <a:off x="571500" y="1047750"/>
              <a:ext cx="5334000" cy="17145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9" name="Rectangle 9"/>
            <p:cNvSpPr/>
            <p:nvPr/>
          </p:nvSpPr>
          <p:spPr>
            <a:xfrm>
              <a:off x="571500" y="1047750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762000" y="1238250"/>
              <a:ext cx="1333500" cy="247650"/>
            </a:xfrm>
            <a:prstGeom prst="roundRect">
              <a:avLst>
                <a:gd name="adj" fmla="val 50000"/>
              </a:avLst>
            </a:prstGeom>
            <a:solidFill>
              <a:srgbClr val="E74C3C">
                <a:alpha val="15000"/>
              </a:srgbClr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65288" y="1312545"/>
              <a:ext cx="526923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痛点定义</a:t>
              </a:r>
              <a:endParaRPr lang="zh-CN" sz="9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6760" y="1632585"/>
              <a:ext cx="3222879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MSR (2023): "Can LLMs Infer Causation</a:t>
              </a:r>
              <a:endParaRPr lang="zh-CN" sz="12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6760" y="1851660"/>
              <a:ext cx="1601476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from Correlation?"</a:t>
              </a:r>
              <a:endParaRPr lang="zh-CN" sz="12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8665" y="2172652"/>
              <a:ext cx="3324082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微软证明：LLM 是"因果复读机"(Causal Parrots)，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8665" y="2382202"/>
              <a:ext cx="2827020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只能记住语料中的词汇共现，遇到抽象变量就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8665" y="2553652"/>
              <a:ext cx="2231946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彻底瞎蒙，表现等同于随机猜测。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86500" y="1047750"/>
            <a:ext cx="5334000" cy="1719262"/>
            <a:chOff x="6286500" y="1047750"/>
            <a:chExt cx="5334000" cy="1719262"/>
          </a:xfrm>
          <a:effectLst>
            <a:outerShdw blurRad="76200" dist="19050" dir="5400000" algn="ctr" rotWithShape="0">
              <a:srgbClr val="000000">
                <a:alpha val="4500"/>
              </a:srgbClr>
            </a:outerShdw>
          </a:effectLst>
        </p:grpSpPr>
        <p:sp>
          <p:nvSpPr>
            <p:cNvPr id="18" name="Rectangle 18"/>
            <p:cNvSpPr/>
            <p:nvPr/>
          </p:nvSpPr>
          <p:spPr>
            <a:xfrm>
              <a:off x="6286500" y="1047750"/>
              <a:ext cx="5334000" cy="17145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9" name="Rectangle 19"/>
            <p:cNvSpPr/>
            <p:nvPr/>
          </p:nvSpPr>
          <p:spPr>
            <a:xfrm>
              <a:off x="6286500" y="1047750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27AE60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0" name="Rectangle 20"/>
            <p:cNvSpPr/>
            <p:nvPr/>
          </p:nvSpPr>
          <p:spPr>
            <a:xfrm>
              <a:off x="6477000" y="1238250"/>
              <a:ext cx="1333500" cy="247650"/>
            </a:xfrm>
            <a:prstGeom prst="roundRect">
              <a:avLst>
                <a:gd name="adj" fmla="val 50000"/>
              </a:avLst>
            </a:prstGeom>
            <a:solidFill>
              <a:srgbClr val="27AE60">
                <a:alpha val="15000"/>
              </a:srgbClr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1" name="TextBox 21"/>
            <p:cNvSpPr txBox="1"/>
            <p:nvPr/>
          </p:nvSpPr>
          <p:spPr>
            <a:xfrm>
              <a:off x="6880288" y="1312545"/>
              <a:ext cx="526923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解决方案</a:t>
              </a:r>
              <a:endParaRPr lang="zh-CN" sz="90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1760" y="1632585"/>
              <a:ext cx="2130743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Reflexion (NeurIPS 2023):</a:t>
              </a:r>
              <a:endParaRPr lang="zh-CN" sz="12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1760" y="1851660"/>
              <a:ext cx="2769222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"Language Agents with Verbal RL"</a:t>
              </a:r>
              <a:endParaRPr lang="zh-CN" sz="12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3665" y="2172652"/>
              <a:ext cx="2876026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提出 Actor → Evaluator → Reflection 闭环。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3665" y="2382202"/>
              <a:ext cx="2890028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用自然语言给出强化信号，让 LLM 自我纠错。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3665" y="2553652"/>
              <a:ext cx="3319882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但 Evaluator 是"软性的"，无法保证数学正确性。</a:t>
              </a:r>
              <a:endParaRPr lang="zh-CN" sz="105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52500" y="2933700"/>
            <a:ext cx="10287000" cy="1069181"/>
            <a:chOff x="952500" y="2933700"/>
            <a:chExt cx="10287000" cy="1069181"/>
          </a:xfrm>
        </p:grpSpPr>
        <p:sp>
          <p:nvSpPr>
            <p:cNvPr id="28" name="TextBox 28"/>
            <p:cNvSpPr txBox="1"/>
            <p:nvPr/>
          </p:nvSpPr>
          <p:spPr>
            <a:xfrm>
              <a:off x="5131832" y="2933700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因果推理方法进化史</a:t>
              </a:r>
              <a:endParaRPr lang="zh-CN" sz="15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29" name="Line 29"/>
            <p:cNvSpPr/>
            <p:nvPr/>
          </p:nvSpPr>
          <p:spPr>
            <a:xfrm>
              <a:off x="952500" y="3381375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19050">
              <a:solidFill>
                <a:srgbClr val="D5D8DC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11144250" y="3333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D5D8DC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560528" y="3209925"/>
              <a:ext cx="688943" cy="735806"/>
              <a:chOff x="1560528" y="3209925"/>
              <a:chExt cx="688943" cy="735806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1733550" y="3209925"/>
                <a:ext cx="342900" cy="342900"/>
              </a:xfrm>
              <a:prstGeom prst="ellipse">
                <a:avLst/>
              </a:prstGeom>
              <a:solidFill>
                <a:srgbClr val="E74C3C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1809750" y="3286125"/>
                <a:ext cx="190500" cy="190500"/>
              </a:xfrm>
              <a:prstGeom prst="ellipse">
                <a:avLst/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560528" y="3617595"/>
                <a:ext cx="68894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Fine-tuning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674495" y="3778091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死记硬背</a:t>
                </a:r>
                <a:endParaRPr lang="zh-CN" sz="825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3462528" y="3209925"/>
              <a:ext cx="694944" cy="735806"/>
              <a:chOff x="3462528" y="3209925"/>
              <a:chExt cx="694944" cy="735806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3638550" y="3209925"/>
                <a:ext cx="342900" cy="342900"/>
              </a:xfrm>
              <a:prstGeom prst="ellipse">
                <a:avLst/>
              </a:prstGeom>
              <a:solidFill>
                <a:srgbClr val="E8B931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3714750" y="3286125"/>
                <a:ext cx="190500" cy="190500"/>
              </a:xfrm>
              <a:prstGeom prst="ellipse">
                <a:avLst/>
              </a:prstGeom>
              <a:solidFill>
                <a:srgbClr val="E8B93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3462528" y="3617595"/>
                <a:ext cx="69494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Explicit CoT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579495" y="3778091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E8B93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模板背诵</a:t>
                </a:r>
                <a:endParaRPr lang="zh-CN" sz="825" dirty="0">
                  <a:solidFill>
                    <a:srgbClr val="E8B93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358527" y="3209925"/>
              <a:ext cx="712946" cy="735806"/>
              <a:chOff x="5358527" y="3209925"/>
              <a:chExt cx="712946" cy="735806"/>
            </a:xfrm>
          </p:grpSpPr>
          <p:sp>
            <p:nvSpPr>
              <p:cNvPr id="41" name="Ellipse 41"/>
              <p:cNvSpPr/>
              <p:nvPr/>
            </p:nvSpPr>
            <p:spPr>
              <a:xfrm>
                <a:off x="5543550" y="3209925"/>
                <a:ext cx="342900" cy="342900"/>
              </a:xfrm>
              <a:prstGeom prst="ellipse">
                <a:avLst/>
              </a:prstGeom>
              <a:solidFill>
                <a:srgbClr val="E8B931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5619750" y="3286125"/>
                <a:ext cx="190500" cy="190500"/>
              </a:xfrm>
              <a:prstGeom prst="ellipse">
                <a:avLst/>
              </a:prstGeom>
              <a:solidFill>
                <a:srgbClr val="E8B931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5358527" y="3617595"/>
                <a:ext cx="71294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Multi-Agent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429488" y="3778091"/>
                <a:ext cx="57102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E8B93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双模型辩论</a:t>
                </a:r>
                <a:endParaRPr lang="zh-CN" sz="825" dirty="0">
                  <a:solidFill>
                    <a:srgbClr val="E8B93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334488" y="3209925"/>
              <a:ext cx="571024" cy="735806"/>
              <a:chOff x="7334488" y="3209925"/>
              <a:chExt cx="571024" cy="735806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7448550" y="3209925"/>
                <a:ext cx="342900" cy="342900"/>
              </a:xfrm>
              <a:prstGeom prst="ellipse">
                <a:avLst/>
              </a:prstGeom>
              <a:solidFill>
                <a:srgbClr val="2E86DE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7524750" y="3286125"/>
                <a:ext cx="190500" cy="190500"/>
              </a:xfrm>
              <a:prstGeom prst="ellipse">
                <a:avLst/>
              </a:prstGeom>
              <a:solidFill>
                <a:srgbClr val="2E86DE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374541" y="3617595"/>
                <a:ext cx="49091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Tool Use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334488" y="3778091"/>
                <a:ext cx="57102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2E86D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调用外部库</a:t>
                </a:r>
                <a:endParaRPr lang="zh-CN" sz="825" dirty="0">
                  <a:solidFill>
                    <a:srgbClr val="2E86D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9297972" y="3152775"/>
              <a:ext cx="835057" cy="850106"/>
              <a:chOff x="9297972" y="3152775"/>
              <a:chExt cx="835057" cy="850106"/>
            </a:xfrm>
          </p:grpSpPr>
          <p:sp>
            <p:nvSpPr>
              <p:cNvPr id="51" name="Ellipse 51"/>
              <p:cNvSpPr/>
              <p:nvPr/>
            </p:nvSpPr>
            <p:spPr>
              <a:xfrm>
                <a:off x="9486900" y="3152775"/>
                <a:ext cx="457200" cy="457200"/>
              </a:xfrm>
              <a:prstGeom prst="ellipse">
                <a:avLst/>
              </a:prstGeom>
              <a:solidFill>
                <a:srgbClr val="27AE6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9582150" y="3248025"/>
                <a:ext cx="266700" cy="266700"/>
              </a:xfrm>
              <a:prstGeom prst="ellipse">
                <a:avLst/>
              </a:prstGeom>
              <a:solidFill>
                <a:srgbClr val="27AE60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9641490" y="3339941"/>
                <a:ext cx="14802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Us</a:t>
                </a:r>
                <a:endParaRPr lang="zh-CN" sz="8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331109" y="3657124"/>
                <a:ext cx="76878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EdgeThemis</a:t>
                </a:r>
                <a:endParaRPr lang="zh-CN" sz="975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297972" y="3835241"/>
                <a:ext cx="83505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Neuro-Symbolic</a:t>
                </a:r>
                <a:endParaRPr lang="zh-CN" sz="825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77" name="Group 77"/>
          <p:cNvGrpSpPr/>
          <p:nvPr/>
        </p:nvGrpSpPr>
        <p:grpSpPr>
          <a:xfrm>
            <a:off x="571500" y="4191000"/>
            <a:ext cx="11049000" cy="2221706"/>
            <a:chOff x="571500" y="4191000"/>
            <a:chExt cx="11049000" cy="2221706"/>
          </a:xfrm>
          <a:effectLst>
            <a:outerShdw blurRad="76200" dist="19050" dir="5400000" algn="ctr" rotWithShape="0">
              <a:srgbClr val="000000">
                <a:alpha val="4500"/>
              </a:srgbClr>
            </a:outerShdw>
          </a:effectLst>
        </p:grpSpPr>
        <p:sp>
          <p:nvSpPr>
            <p:cNvPr id="58" name="Rectangle 58"/>
            <p:cNvSpPr/>
            <p:nvPr/>
          </p:nvSpPr>
          <p:spPr>
            <a:xfrm>
              <a:off x="571500" y="4191000"/>
              <a:ext cx="11049000" cy="2190750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59" name="Rectangle 59"/>
            <p:cNvSpPr/>
            <p:nvPr/>
          </p:nvSpPr>
          <p:spPr>
            <a:xfrm>
              <a:off x="571500" y="4191000"/>
              <a:ext cx="11049000" cy="57150"/>
            </a:xfrm>
            <a:prstGeom prst="roundRect">
              <a:avLst>
                <a:gd name="adj" fmla="val 50000"/>
              </a:avLst>
            </a:prstGeom>
            <a:solidFill>
              <a:srgbClr val="1A3C6E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60" name="TextBox 60"/>
            <p:cNvSpPr txBox="1"/>
            <p:nvPr/>
          </p:nvSpPr>
          <p:spPr>
            <a:xfrm>
              <a:off x="741045" y="4393882"/>
              <a:ext cx="5297817" cy="3352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EdgeThemis 的破局之道：用数学枷锁取代软性评估</a:t>
              </a:r>
              <a:endParaRPr lang="zh-CN" sz="165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62000" y="4762500"/>
              <a:ext cx="3333750" cy="381000"/>
            </a:xfrm>
            <a:prstGeom prst="roundRect">
              <a:avLst>
                <a:gd name="adj" fmla="val 15000"/>
              </a:avLst>
            </a:prstGeom>
            <a:solidFill>
              <a:srgbClr val="E74C3C">
                <a:alpha val="8000"/>
              </a:srgbClr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62" name="TextBox 62"/>
            <p:cNvSpPr txBox="1"/>
            <p:nvPr/>
          </p:nvSpPr>
          <p:spPr>
            <a:xfrm>
              <a:off x="1533430" y="4896802"/>
              <a:ext cx="1790890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传统方案：软性 Evaluator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286250" y="4762500"/>
              <a:ext cx="285750" cy="3810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64" name="TextBox 64"/>
            <p:cNvSpPr txBox="1"/>
            <p:nvPr/>
          </p:nvSpPr>
          <p:spPr>
            <a:xfrm>
              <a:off x="4362474" y="4864418"/>
              <a:ext cx="133302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</a:t>
              </a:r>
              <a:endParaRPr lang="zh-CN" sz="13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762500" y="4762500"/>
              <a:ext cx="3333750" cy="381000"/>
            </a:xfrm>
            <a:prstGeom prst="roundRect">
              <a:avLst>
                <a:gd name="adj" fmla="val 15000"/>
              </a:avLst>
            </a:prstGeom>
            <a:solidFill>
              <a:srgbClr val="27AE60">
                <a:alpha val="8000"/>
              </a:srgbClr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66" name="TextBox 66"/>
            <p:cNvSpPr txBox="1"/>
            <p:nvPr/>
          </p:nvSpPr>
          <p:spPr>
            <a:xfrm>
              <a:off x="5317078" y="4896802"/>
              <a:ext cx="2224595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EdgeThemis：Rust 确定性测谎仪</a:t>
              </a:r>
              <a:endParaRPr lang="zh-CN" sz="105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39165" y="5173028"/>
              <a:ext cx="2953036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Reflexion 的 Evaluator 用自然语言判断对错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39165" y="5392102"/>
              <a:ext cx="3065050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CRAwDAD 用两个 LLM 互相辩论（Token 浪费）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39165" y="5611178"/>
              <a:ext cx="2988040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Causal Agent 调用 Python 因果库（延迟高）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39165" y="5830252"/>
              <a:ext cx="3100054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本质都是"文科生思维"，无法保证数学绝对正确</a:t>
              </a:r>
              <a:endParaRPr lang="zh-CN" sz="1050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939665" y="5173028"/>
              <a:ext cx="2287953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Kahn 算法：</a:t>
              </a:r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O(V+E)</a:t>
              </a:r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拓扑环路检测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939665" y="5392102"/>
              <a:ext cx="2595991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Bayesian Ball：</a:t>
              </a:r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O(V³)</a:t>
              </a:r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d-分离断言提取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939665" y="5611178"/>
              <a:ext cx="2448973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FMEA RPN：</a:t>
              </a:r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100×S+10×O+D</a:t>
              </a:r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风险量化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939665" y="5830252"/>
              <a:ext cx="2623995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编译期确定性，微秒级拦截，零 GC 开销</a:t>
              </a:r>
              <a:endParaRPr lang="zh-CN" sz="1050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5" name="Line 75"/>
            <p:cNvSpPr/>
            <p:nvPr/>
          </p:nvSpPr>
          <p:spPr>
            <a:xfrm>
              <a:off x="762000" y="61150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3336932" y="6184106"/>
              <a:ext cx="5518136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核心创新：用 Rust 图论算子取代 Reflexion 的软性 Evaluator，将确定性拉满</a:t>
              </a:r>
              <a:endParaRPr lang="zh-CN" sz="1125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60070" y="6522720"/>
            <a:ext cx="11071860" cy="182880"/>
            <a:chOff x="560070" y="6522720"/>
            <a:chExt cx="11071860" cy="182880"/>
          </a:xfrm>
        </p:grpSpPr>
        <p:sp>
          <p:nvSpPr>
            <p:cNvPr id="78" name="TextBox 78"/>
            <p:cNvSpPr txBox="1"/>
            <p:nvPr/>
          </p:nvSpPr>
          <p:spPr>
            <a:xfrm>
              <a:off x="560070" y="652272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954988" y="6522720"/>
              <a:ext cx="6769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EdgeThemis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7" grpId="0"/>
      <p:bldP spid="57" grpId="0"/>
      <p:bldP spid="7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46710"/>
            <a:ext cx="11049000" cy="691515"/>
            <a:chOff x="571500" y="346710"/>
            <a:chExt cx="11049000" cy="69151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8660" y="346710"/>
              <a:ext cx="503990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LLM 因果推理缺乏形式化保障</a:t>
              </a:r>
              <a:endParaRPr lang="zh-CN" sz="27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8662" y="754856"/>
              <a:ext cx="34189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LLM Causal Reasoning Lacks Formal Guarantees</a:t>
              </a:r>
              <a:endParaRPr lang="zh-CN" sz="11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0287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6286500" y="132398"/>
            <a:ext cx="5334000" cy="408146"/>
            <a:chOff x="6286500" y="132398"/>
            <a:chExt cx="5334000" cy="408146"/>
          </a:xfrm>
        </p:grpSpPr>
        <p:sp>
          <p:nvSpPr>
            <p:cNvPr id="8" name="Rectangle 8"/>
            <p:cNvSpPr/>
            <p:nvPr/>
          </p:nvSpPr>
          <p:spPr>
            <a:xfrm>
              <a:off x="6286500" y="133350"/>
              <a:ext cx="5334000" cy="400050"/>
            </a:xfrm>
            <a:prstGeom prst="roundRect">
              <a:avLst>
                <a:gd name="adj" fmla="val 1428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6486525" y="190500"/>
              <a:ext cx="171450" cy="171450"/>
            </a:xfrm>
            <a:prstGeom prst="ellipse">
              <a:avLst/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445538" y="403384"/>
              <a:ext cx="253425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</a:t>
              </a:r>
              <a:endParaRPr lang="zh-CN" sz="675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Ellipse 11"/>
            <p:cNvSpPr/>
            <p:nvPr/>
          </p:nvSpPr>
          <p:spPr>
            <a:xfrm>
              <a:off x="7181850" y="219075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007650" y="403384"/>
              <a:ext cx="46270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Generator</a:t>
              </a:r>
              <a:endParaRPr lang="zh-CN" sz="6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067550" y="142875"/>
              <a:ext cx="342900" cy="47625"/>
            </a:xfrm>
            <a:prstGeom prst="roundRect">
              <a:avLst>
                <a:gd name="adj" fmla="val 40000"/>
              </a:avLst>
            </a:prstGeom>
            <a:solidFill>
              <a:srgbClr val="E8B931">
                <a:alpha val="3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4273" y="132398"/>
              <a:ext cx="209455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" dirty="0">
                  <a:solidFill>
                    <a:srgbClr val="E8B93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450" dirty="0">
                <a:solidFill>
                  <a:srgbClr val="E8B93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96225" y="219075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32288" y="403384"/>
              <a:ext cx="242173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Cycle</a:t>
              </a:r>
              <a:endParaRPr lang="zh-CN" sz="6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820025" y="142875"/>
              <a:ext cx="266700" cy="47625"/>
            </a:xfrm>
            <a:prstGeom prst="roundRect">
              <a:avLst>
                <a:gd name="adj" fmla="val 40000"/>
              </a:avLst>
            </a:prstGeom>
            <a:solidFill>
              <a:srgbClr val="2E86DE">
                <a:alpha val="3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81652" y="132398"/>
              <a:ext cx="143447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" dirty="0">
                  <a:solidFill>
                    <a:srgbClr val="2E86D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450" dirty="0">
                <a:solidFill>
                  <a:srgbClr val="2E86D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8610600" y="219075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35412" y="403384"/>
              <a:ext cx="26467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d-Sep</a:t>
              </a:r>
              <a:endParaRPr lang="zh-CN" sz="6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534400" y="142875"/>
              <a:ext cx="266700" cy="47625"/>
            </a:xfrm>
            <a:prstGeom prst="roundRect">
              <a:avLst>
                <a:gd name="adj" fmla="val 40000"/>
              </a:avLst>
            </a:prstGeom>
            <a:solidFill>
              <a:srgbClr val="2E86DE">
                <a:alpha val="30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96027" y="132398"/>
              <a:ext cx="143447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" dirty="0">
                  <a:solidFill>
                    <a:srgbClr val="2E86D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450" dirty="0">
                <a:solidFill>
                  <a:srgbClr val="2E86D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9324975" y="219075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65539" y="403384"/>
              <a:ext cx="23317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FMEA</a:t>
              </a:r>
              <a:endParaRPr lang="zh-CN" sz="6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248775" y="142875"/>
              <a:ext cx="266700" cy="47625"/>
            </a:xfrm>
            <a:prstGeom prst="roundRect">
              <a:avLst>
                <a:gd name="adj" fmla="val 40000"/>
              </a:avLst>
            </a:prstGeom>
            <a:solidFill>
              <a:srgbClr val="2E86DE">
                <a:alpha val="30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10402" y="132398"/>
              <a:ext cx="143447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" dirty="0">
                  <a:solidFill>
                    <a:srgbClr val="2E86D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450" dirty="0">
                <a:solidFill>
                  <a:srgbClr val="2E86D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Ellipse 27"/>
            <p:cNvSpPr/>
            <p:nvPr/>
          </p:nvSpPr>
          <p:spPr>
            <a:xfrm>
              <a:off x="10039350" y="219075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876401" y="403384"/>
              <a:ext cx="44019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Reflector</a:t>
              </a:r>
              <a:endParaRPr lang="zh-CN" sz="6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925050" y="142875"/>
              <a:ext cx="342900" cy="47625"/>
            </a:xfrm>
            <a:prstGeom prst="roundRect">
              <a:avLst>
                <a:gd name="adj" fmla="val 40000"/>
              </a:avLst>
            </a:prstGeom>
            <a:solidFill>
              <a:srgbClr val="E8B931">
                <a:alpha val="3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991773" y="132398"/>
              <a:ext cx="209455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" dirty="0">
                  <a:solidFill>
                    <a:srgbClr val="E8B93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450" dirty="0">
                <a:solidFill>
                  <a:srgbClr val="E8B93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Ellipse 31"/>
            <p:cNvSpPr/>
            <p:nvPr/>
          </p:nvSpPr>
          <p:spPr>
            <a:xfrm>
              <a:off x="10753725" y="219075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644783" y="403384"/>
              <a:ext cx="33218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Output</a:t>
              </a:r>
              <a:endParaRPr lang="zh-CN" sz="6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Line 33"/>
            <p:cNvSpPr/>
            <p:nvPr/>
          </p:nvSpPr>
          <p:spPr>
            <a:xfrm>
              <a:off x="6629400" y="2762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7296150" y="27622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8010525" y="27622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8724900" y="27622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9439275" y="27622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953750" y="180975"/>
              <a:ext cx="571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D5D8DC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11020425" y="238125"/>
              <a:ext cx="57150" cy="57150"/>
            </a:xfrm>
            <a:prstGeom prst="ellipse">
              <a:avLst/>
            </a:prstGeom>
            <a:solidFill>
              <a:srgbClr val="E8B93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1118532" y="238601"/>
              <a:ext cx="24436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Ellipse 41"/>
            <p:cNvSpPr/>
            <p:nvPr/>
          </p:nvSpPr>
          <p:spPr>
            <a:xfrm>
              <a:off x="11020425" y="352425"/>
              <a:ext cx="57150" cy="57150"/>
            </a:xfrm>
            <a:prstGeom prst="ellipse">
              <a:avLst/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118532" y="352901"/>
              <a:ext cx="16735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52450" y="1266825"/>
            <a:ext cx="4210050" cy="2969419"/>
            <a:chOff x="552450" y="1266825"/>
            <a:chExt cx="4210050" cy="2969419"/>
          </a:xfrm>
        </p:grpSpPr>
        <p:sp>
          <p:nvSpPr>
            <p:cNvPr id="44" name="TextBox 44"/>
            <p:cNvSpPr txBox="1"/>
            <p:nvPr/>
          </p:nvSpPr>
          <p:spPr>
            <a:xfrm>
              <a:off x="552450" y="1266825"/>
              <a:ext cx="384810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因果推理在</a:t>
              </a:r>
              <a:r>
                <a:rPr lang="zh-CN" sz="150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医疗诊断</a:t>
              </a:r>
              <a:r>
                <a:rPr lang="zh-CN" sz="15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、</a:t>
              </a:r>
              <a:r>
                <a:rPr lang="zh-CN" sz="150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工业故障分析</a:t>
              </a:r>
              <a:r>
                <a:rPr lang="zh-CN" sz="15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、</a:t>
              </a:r>
              <a:r>
                <a:rPr lang="zh-CN" sz="150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政策评估</a:t>
              </a:r>
              <a:r>
                <a:rPr lang="zh-CN" sz="15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等领域至关重要。LLM 虽能从</a:t>
              </a:r>
              <a:r>
                <a:rPr lang="zh-CN" sz="15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文本中提取因果关系，但输出</a:t>
              </a:r>
              <a:r>
                <a:rPr lang="zh-CN" sz="15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缺乏可验证性</a:t>
              </a:r>
              <a:r>
                <a:rPr lang="zh-CN" sz="15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</a:t>
              </a:r>
              <a:r>
                <a:rPr lang="zh-CN" sz="15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无法保证逻辑一致性。</a:t>
              </a:r>
              <a:endParaRPr lang="zh-CN" sz="15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71500" y="2762250"/>
              <a:ext cx="4191000" cy="38100"/>
            </a:xfrm>
            <a:prstGeom prst="roundRect">
              <a:avLst>
                <a:gd name="adj" fmla="val 50000"/>
              </a:avLst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11960" y="2982278"/>
              <a:ext cx="331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i="1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现有方法缺少对 LLM 因果推理输出的形式化验证闭环</a:t>
              </a:r>
              <a:endParaRPr lang="zh-CN" sz="1050" i="1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762000" y="3143250"/>
              <a:ext cx="1905000" cy="1092994"/>
              <a:chOff x="762000" y="3143250"/>
              <a:chExt cx="1905000" cy="1092994"/>
            </a:xfrm>
          </p:grpSpPr>
          <p:sp>
            <p:nvSpPr>
              <p:cNvPr id="47" name="Ellipse 47"/>
              <p:cNvSpPr/>
              <p:nvPr/>
            </p:nvSpPr>
            <p:spPr>
              <a:xfrm>
                <a:off x="762000" y="3429000"/>
                <a:ext cx="381000" cy="381000"/>
              </a:xfrm>
              <a:prstGeom prst="ellipse">
                <a:avLst/>
              </a:prstGeom>
              <a:noFill/>
              <a:ln w="19050">
                <a:solidFill>
                  <a:srgbClr val="E74C3C"/>
                </a:solidFill>
                <a:custDash>
                  <a:ds d="200000" sp="150000"/>
                </a:custDash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908066" y="3569970"/>
                <a:ext cx="888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</a:t>
                </a:r>
                <a:endParaRPr lang="zh-CN" sz="900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9" name="Line 49"/>
              <p:cNvSpPr/>
              <p:nvPr/>
            </p:nvSpPr>
            <p:spPr>
              <a:xfrm>
                <a:off x="1143000" y="3333750"/>
                <a:ext cx="381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90500">
                    <a:moveTo>
                      <a:pt x="0" y="19050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E74C3C"/>
                </a:solidFill>
              </a:ln>
            </p:spPr>
          </p:sp>
          <p:sp>
            <p:nvSpPr>
              <p:cNvPr id="50" name="Polygon 50"/>
              <p:cNvSpPr/>
              <p:nvPr/>
            </p:nvSpPr>
            <p:spPr>
              <a:xfrm>
                <a:off x="1457325" y="3314700"/>
                <a:ext cx="6667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76200">
                    <a:moveTo>
                      <a:pt x="66675" y="19050"/>
                    </a:moveTo>
                    <a:lnTo>
                      <a:pt x="0" y="76200"/>
                    </a:lnTo>
                    <a:lnTo>
                      <a:pt x="28575" y="0"/>
                    </a:lnTo>
                    <a:close/>
                  </a:path>
                </a:pathLst>
              </a:cu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1524000" y="3143250"/>
                <a:ext cx="381000" cy="381000"/>
              </a:xfrm>
              <a:prstGeom prst="ellipse">
                <a:avLst/>
              </a:prstGeom>
              <a:noFill/>
              <a:ln w="19050">
                <a:solidFill>
                  <a:srgbClr val="E74C3C"/>
                </a:solidFill>
                <a:custDash>
                  <a:ds d="200000" sp="150000"/>
                </a:custDash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670066" y="3284220"/>
                <a:ext cx="888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B</a:t>
                </a:r>
                <a:endParaRPr lang="zh-CN" sz="900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3" name="Line 53"/>
              <p:cNvSpPr/>
              <p:nvPr/>
            </p:nvSpPr>
            <p:spPr>
              <a:xfrm>
                <a:off x="1905000" y="3429000"/>
                <a:ext cx="381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90500">
                    <a:moveTo>
                      <a:pt x="0" y="0"/>
                    </a:moveTo>
                    <a:lnTo>
                      <a:pt x="381000" y="190500"/>
                    </a:lnTo>
                  </a:path>
                </a:pathLst>
              </a:custGeom>
              <a:noFill/>
              <a:ln w="19050">
                <a:solidFill>
                  <a:srgbClr val="E74C3C"/>
                </a:solidFill>
              </a:ln>
            </p:spPr>
          </p:sp>
          <p:sp>
            <p:nvSpPr>
              <p:cNvPr id="54" name="Polygon 54"/>
              <p:cNvSpPr/>
              <p:nvPr/>
            </p:nvSpPr>
            <p:spPr>
              <a:xfrm>
                <a:off x="2228850" y="3571875"/>
                <a:ext cx="571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14300">
                    <a:moveTo>
                      <a:pt x="57150" y="47625"/>
                    </a:moveTo>
                    <a:lnTo>
                      <a:pt x="0" y="0"/>
                    </a:lnTo>
                    <a:lnTo>
                      <a:pt x="28575" y="114300"/>
                    </a:lnTo>
                    <a:close/>
                  </a:path>
                </a:pathLst>
              </a:cu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2286000" y="3429000"/>
                <a:ext cx="381000" cy="381000"/>
              </a:xfrm>
              <a:prstGeom prst="ellipse">
                <a:avLst/>
              </a:prstGeom>
              <a:noFill/>
              <a:ln w="19050">
                <a:solidFill>
                  <a:srgbClr val="E74C3C"/>
                </a:solidFill>
                <a:custDash>
                  <a:ds d="200000" sp="150000"/>
                </a:custDash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2432066" y="3569970"/>
                <a:ext cx="888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</a:t>
                </a:r>
                <a:endParaRPr lang="zh-CN" sz="900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1143000" y="3762375"/>
                <a:ext cx="114300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222250">
                    <a:moveTo>
                      <a:pt x="1143000" y="0"/>
                    </a:moveTo>
                    <a:cubicBezTo>
                      <a:pt x="762000" y="222250"/>
                      <a:pt x="381000" y="222250"/>
                      <a:pt x="0" y="0"/>
                    </a:cubicBezTo>
                  </a:path>
                </a:pathLst>
              </a:custGeom>
              <a:noFill/>
              <a:ln w="23812">
                <a:solidFill>
                  <a:srgbClr val="E74C3C"/>
                </a:solidFill>
                <a:prstDash val="dash"/>
              </a:ln>
            </p:spPr>
          </p:sp>
          <p:sp>
            <p:nvSpPr>
              <p:cNvPr id="58" name="Polygon 58"/>
              <p:cNvSpPr/>
              <p:nvPr/>
            </p:nvSpPr>
            <p:spPr>
              <a:xfrm>
                <a:off x="1104900" y="3752850"/>
                <a:ext cx="952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57150">
                    <a:moveTo>
                      <a:pt x="57150" y="0"/>
                    </a:moveTo>
                    <a:lnTo>
                      <a:pt x="0" y="57150"/>
                    </a:lnTo>
                    <a:lnTo>
                      <a:pt x="95250" y="57150"/>
                    </a:lnTo>
                    <a:close/>
                  </a:path>
                </a:pathLst>
              </a:cu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1545123" y="4038124"/>
                <a:ext cx="3387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环路!</a:t>
                </a:r>
                <a:endParaRPr lang="zh-CN" sz="97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00" name="Group 100"/>
          <p:cNvGrpSpPr/>
          <p:nvPr/>
        </p:nvGrpSpPr>
        <p:grpSpPr>
          <a:xfrm>
            <a:off x="5334000" y="1238250"/>
            <a:ext cx="6286500" cy="4441031"/>
            <a:chOff x="5334000" y="1238250"/>
            <a:chExt cx="6286500" cy="4441031"/>
          </a:xfrm>
        </p:grpSpPr>
        <p:grpSp>
          <p:nvGrpSpPr>
            <p:cNvPr id="76" name="Group 76"/>
            <p:cNvGrpSpPr/>
            <p:nvPr/>
          </p:nvGrpSpPr>
          <p:grpSpPr>
            <a:xfrm>
              <a:off x="5334000" y="1238250"/>
              <a:ext cx="6286500" cy="1393031"/>
              <a:chOff x="5334000" y="1238250"/>
              <a:chExt cx="6286500" cy="1393031"/>
            </a:xfrm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grpSpPr>
          <p:sp>
            <p:nvSpPr>
              <p:cNvPr id="62" name="Rectangle 62"/>
              <p:cNvSpPr/>
              <p:nvPr/>
            </p:nvSpPr>
            <p:spPr>
              <a:xfrm>
                <a:off x="5334000" y="1238250"/>
                <a:ext cx="6286500" cy="13335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63" name="Rectangle 63"/>
              <p:cNvSpPr/>
              <p:nvPr/>
            </p:nvSpPr>
            <p:spPr>
              <a:xfrm>
                <a:off x="5334000" y="1238250"/>
                <a:ext cx="57150" cy="1333500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64" name="Ellipse 64"/>
              <p:cNvSpPr/>
              <p:nvPr/>
            </p:nvSpPr>
            <p:spPr>
              <a:xfrm>
                <a:off x="5581650" y="1438275"/>
                <a:ext cx="457200" cy="457200"/>
              </a:xfrm>
              <a:prstGeom prst="ellipse">
                <a:avLst/>
              </a:prstGeom>
              <a:solidFill>
                <a:srgbClr val="E74C3C">
                  <a:alpha val="10000"/>
                </a:srgbClr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grpSp>
            <p:nvGrpSpPr>
              <p:cNvPr id="71" name="Group 71"/>
              <p:cNvGrpSpPr/>
              <p:nvPr/>
            </p:nvGrpSpPr>
            <p:grpSpPr>
              <a:xfrm>
                <a:off x="5695950" y="1552575"/>
                <a:ext cx="228600" cy="228600"/>
                <a:chOff x="5695950" y="1552575"/>
                <a:chExt cx="228600" cy="228600"/>
              </a:xfrm>
            </p:grpSpPr>
            <p:sp>
              <p:nvSpPr>
                <p:cNvPr id="65" name="Freeform 65"/>
                <p:cNvSpPr/>
                <p:nvPr/>
              </p:nvSpPr>
              <p:spPr>
                <a:xfrm>
                  <a:off x="5810250" y="1679575"/>
                  <a:ext cx="889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01600">
                      <a:moveTo>
                        <a:pt x="44450" y="0"/>
                      </a:moveTo>
                      <a:cubicBezTo>
                        <a:pt x="19901" y="0"/>
                        <a:pt x="0" y="19901"/>
                        <a:pt x="0" y="44450"/>
                      </a:cubicBezTo>
                      <a:lnTo>
                        <a:pt x="0" y="57150"/>
                      </a:lnTo>
                      <a:cubicBezTo>
                        <a:pt x="0" y="81699"/>
                        <a:pt x="19901" y="101600"/>
                        <a:pt x="44450" y="101600"/>
                      </a:cubicBezTo>
                      <a:cubicBezTo>
                        <a:pt x="68999" y="101600"/>
                        <a:pt x="88900" y="81699"/>
                        <a:pt x="88900" y="57150"/>
                      </a:cubicBezTo>
                      <a:lnTo>
                        <a:pt x="88900" y="3429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5721350" y="1679575"/>
                  <a:ext cx="889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01600">
                      <a:moveTo>
                        <a:pt x="44450" y="0"/>
                      </a:moveTo>
                      <a:cubicBezTo>
                        <a:pt x="68999" y="0"/>
                        <a:pt x="88900" y="19901"/>
                        <a:pt x="88900" y="44450"/>
                      </a:cubicBezTo>
                      <a:lnTo>
                        <a:pt x="88900" y="57150"/>
                      </a:lnTo>
                      <a:cubicBezTo>
                        <a:pt x="88900" y="81699"/>
                        <a:pt x="68999" y="101600"/>
                        <a:pt x="44450" y="101600"/>
                      </a:cubicBezTo>
                      <a:cubicBezTo>
                        <a:pt x="19901" y="101600"/>
                        <a:pt x="0" y="81699"/>
                        <a:pt x="0" y="57150"/>
                      </a:cubicBezTo>
                      <a:lnTo>
                        <a:pt x="0" y="3429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5873750" y="1628775"/>
                  <a:ext cx="508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88900">
                      <a:moveTo>
                        <a:pt x="6350" y="88900"/>
                      </a:moveTo>
                      <a:cubicBezTo>
                        <a:pt x="30899" y="88900"/>
                        <a:pt x="50800" y="68999"/>
                        <a:pt x="50800" y="44450"/>
                      </a:cubicBezTo>
                      <a:cubicBezTo>
                        <a:pt x="50800" y="19901"/>
                        <a:pt x="30899" y="0"/>
                        <a:pt x="6350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5810250" y="1552575"/>
                  <a:ext cx="88900" cy="80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0010">
                      <a:moveTo>
                        <a:pt x="88900" y="80010"/>
                      </a:moveTo>
                      <a:lnTo>
                        <a:pt x="88900" y="44450"/>
                      </a:ln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5695950" y="1628775"/>
                  <a:ext cx="508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88900">
                      <a:moveTo>
                        <a:pt x="44450" y="88900"/>
                      </a:moveTo>
                      <a:cubicBezTo>
                        <a:pt x="19901" y="88900"/>
                        <a:pt x="0" y="68999"/>
                        <a:pt x="0" y="44450"/>
                      </a:cubicBez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50800" y="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5721350" y="1552575"/>
                  <a:ext cx="8890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71450">
                      <a:moveTo>
                        <a:pt x="0" y="80010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cubicBezTo>
                        <a:pt x="68999" y="0"/>
                        <a:pt x="88900" y="19901"/>
                        <a:pt x="88900" y="44450"/>
                      </a:cubicBezTo>
                      <a:lnTo>
                        <a:pt x="88900" y="17145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</p:grpSp>
          <p:sp>
            <p:nvSpPr>
              <p:cNvPr id="72" name="TextBox 72"/>
              <p:cNvSpPr txBox="1"/>
              <p:nvPr/>
            </p:nvSpPr>
            <p:spPr>
              <a:xfrm>
                <a:off x="6170295" y="1488758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C3E50"/>
                    </a:solidFill>
                    <a:latin typeface="Georgia" panose="02040502050405020303"/>
                    <a:ea typeface="黑体" panose="02010609060101010101" charset="-122"/>
                    <a:cs typeface="Georgia" panose="02040502050405020303"/>
                  </a:rPr>
                  <a:t>因果幻觉</a:t>
                </a:r>
                <a:endParaRPr lang="zh-CN" sz="1650" b="1" dirty="0">
                  <a:solidFill>
                    <a:srgbClr val="2C3E50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endParaRP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6176010" y="1823085"/>
                <a:ext cx="1550670" cy="2438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Causal Hallucination</a:t>
                </a:r>
                <a:endParaRPr lang="zh-CN" sz="12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5700712" y="2212181"/>
                <a:ext cx="2601397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LLM 生成的因果关系缺乏逻辑一致性，</a:t>
                </a:r>
                <a:endPara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5700712" y="2402681"/>
                <a:ext cx="1828800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可能包含</a:t>
                </a:r>
                <a:r>
                  <a:rPr lang="zh-CN" sz="1125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无中生有</a:t>
                </a:r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的因果链</a:t>
                </a:r>
                <a:endPara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5334000" y="2762250"/>
              <a:ext cx="6286500" cy="1393031"/>
              <a:chOff x="5334000" y="2762250"/>
              <a:chExt cx="6286500" cy="1393031"/>
            </a:xfrm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grpSpPr>
          <p:sp>
            <p:nvSpPr>
              <p:cNvPr id="77" name="Rectangle 77"/>
              <p:cNvSpPr/>
              <p:nvPr/>
            </p:nvSpPr>
            <p:spPr>
              <a:xfrm>
                <a:off x="5334000" y="2762250"/>
                <a:ext cx="6286500" cy="13335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5334000" y="2762250"/>
                <a:ext cx="57150" cy="1333500"/>
              </a:xfrm>
              <a:prstGeom prst="roundRect">
                <a:avLst>
                  <a:gd name="adj" fmla="val 50000"/>
                </a:avLst>
              </a:prstGeom>
              <a:solidFill>
                <a:srgbClr val="E8B931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79" name="Ellipse 79"/>
              <p:cNvSpPr/>
              <p:nvPr/>
            </p:nvSpPr>
            <p:spPr>
              <a:xfrm>
                <a:off x="5581650" y="2962275"/>
                <a:ext cx="457200" cy="457200"/>
              </a:xfrm>
              <a:prstGeom prst="ellipse">
                <a:avLst/>
              </a:prstGeom>
              <a:solidFill>
                <a:srgbClr val="E8B931">
                  <a:alpha val="10000"/>
                </a:srgbClr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grpSp>
            <p:nvGrpSpPr>
              <p:cNvPr id="82" name="Group 82"/>
              <p:cNvGrpSpPr/>
              <p:nvPr/>
            </p:nvGrpSpPr>
            <p:grpSpPr>
              <a:xfrm>
                <a:off x="5708650" y="3084375"/>
                <a:ext cx="203200" cy="213000"/>
                <a:chOff x="5708650" y="3084375"/>
                <a:chExt cx="203200" cy="213000"/>
              </a:xfrm>
            </p:grpSpPr>
            <p:sp>
              <p:nvSpPr>
                <p:cNvPr id="80" name="Freeform 80"/>
                <p:cNvSpPr/>
                <p:nvPr/>
              </p:nvSpPr>
              <p:spPr>
                <a:xfrm>
                  <a:off x="5708650" y="3084375"/>
                  <a:ext cx="203200" cy="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" h="93800">
                      <a:moveTo>
                        <a:pt x="203200" y="93800"/>
                      </a:moveTo>
                      <a:cubicBezTo>
                        <a:pt x="196815" y="47858"/>
                        <a:pt x="160476" y="11871"/>
                        <a:pt x="114474" y="5936"/>
                      </a:cubicBezTo>
                      <a:cubicBezTo>
                        <a:pt x="68472" y="0"/>
                        <a:pt x="24187" y="25584"/>
                        <a:pt x="6350" y="68400"/>
                      </a:cubicBezTo>
                      <a:moveTo>
                        <a:pt x="0" y="17600"/>
                      </a:moveTo>
                      <a:lnTo>
                        <a:pt x="0" y="68400"/>
                      </a:lnTo>
                      <a:lnTo>
                        <a:pt x="50800" y="68400"/>
                      </a:lnTo>
                    </a:path>
                  </a:pathLst>
                </a:custGeom>
                <a:noFill/>
                <a:ln w="19050">
                  <a:solidFill>
                    <a:srgbClr val="E8B931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81" name="Freeform 81"/>
                <p:cNvSpPr/>
                <p:nvPr/>
              </p:nvSpPr>
              <p:spPr>
                <a:xfrm>
                  <a:off x="5708650" y="3203575"/>
                  <a:ext cx="203200" cy="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" h="93800">
                      <a:moveTo>
                        <a:pt x="0" y="0"/>
                      </a:moveTo>
                      <a:cubicBezTo>
                        <a:pt x="6385" y="45942"/>
                        <a:pt x="42724" y="81929"/>
                        <a:pt x="88726" y="87864"/>
                      </a:cubicBezTo>
                      <a:cubicBezTo>
                        <a:pt x="134728" y="93800"/>
                        <a:pt x="179013" y="68216"/>
                        <a:pt x="196850" y="25400"/>
                      </a:cubicBezTo>
                      <a:moveTo>
                        <a:pt x="203200" y="76200"/>
                      </a:moveTo>
                      <a:lnTo>
                        <a:pt x="203200" y="25400"/>
                      </a:lnTo>
                      <a:lnTo>
                        <a:pt x="152400" y="25400"/>
                      </a:lnTo>
                    </a:path>
                  </a:pathLst>
                </a:custGeom>
                <a:noFill/>
                <a:ln w="19050">
                  <a:solidFill>
                    <a:srgbClr val="E8B931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</p:grpSp>
          <p:sp>
            <p:nvSpPr>
              <p:cNvPr id="83" name="TextBox 83"/>
              <p:cNvSpPr txBox="1"/>
              <p:nvPr/>
            </p:nvSpPr>
            <p:spPr>
              <a:xfrm>
                <a:off x="6170295" y="3012758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C3E50"/>
                    </a:solidFill>
                    <a:latin typeface="Georgia" panose="02040502050405020303"/>
                    <a:ea typeface="黑体" panose="02010609060101010101" charset="-122"/>
                    <a:cs typeface="Georgia" panose="02040502050405020303"/>
                  </a:rPr>
                  <a:t>环路隐患</a:t>
                </a:r>
                <a:endParaRPr lang="zh-CN" sz="1650" b="1" dirty="0">
                  <a:solidFill>
                    <a:srgbClr val="2C3E50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endParaRP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6176010" y="3347085"/>
                <a:ext cx="1006602" cy="2438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Cycle Hazard</a:t>
                </a:r>
                <a:endParaRPr lang="zh-CN" sz="12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5700712" y="3736181"/>
                <a:ext cx="2046327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有向图中出现 A→B→C→A 循环，</a:t>
                </a:r>
                <a:endPara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5700712" y="3926681"/>
                <a:ext cx="2271355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违反</a:t>
                </a:r>
                <a:r>
                  <a:rPr lang="zh-CN" sz="1125" b="1" dirty="0">
                    <a:solidFill>
                      <a:srgbClr val="E8B93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DAG 基本约束</a:t>
                </a:r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，导致推理失效</a:t>
                </a:r>
                <a:endPara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>
              <a:off x="5334000" y="4286250"/>
              <a:ext cx="6286500" cy="1393031"/>
              <a:chOff x="5334000" y="4286250"/>
              <a:chExt cx="6286500" cy="1393031"/>
            </a:xfrm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grpSpPr>
          <p:sp>
            <p:nvSpPr>
              <p:cNvPr id="88" name="Rectangle 88"/>
              <p:cNvSpPr/>
              <p:nvPr/>
            </p:nvSpPr>
            <p:spPr>
              <a:xfrm>
                <a:off x="5334000" y="4286250"/>
                <a:ext cx="6286500" cy="13335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89" name="Rectangle 89"/>
              <p:cNvSpPr/>
              <p:nvPr/>
            </p:nvSpPr>
            <p:spPr>
              <a:xfrm>
                <a:off x="5334000" y="4286250"/>
                <a:ext cx="57150" cy="1333500"/>
              </a:xfrm>
              <a:prstGeom prst="roundRect">
                <a:avLst>
                  <a:gd name="adj" fmla="val 50000"/>
                </a:avLst>
              </a:prstGeom>
              <a:solidFill>
                <a:srgbClr val="2E86DE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90" name="Ellipse 90"/>
              <p:cNvSpPr/>
              <p:nvPr/>
            </p:nvSpPr>
            <p:spPr>
              <a:xfrm>
                <a:off x="5581650" y="4486275"/>
                <a:ext cx="457200" cy="457200"/>
              </a:xfrm>
              <a:prstGeom prst="ellipse">
                <a:avLst/>
              </a:prstGeom>
              <a:solidFill>
                <a:srgbClr val="2E86DE">
                  <a:alpha val="10000"/>
                </a:srgbClr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grpSp>
            <p:nvGrpSpPr>
              <p:cNvPr id="94" name="Group 94"/>
              <p:cNvGrpSpPr/>
              <p:nvPr/>
            </p:nvGrpSpPr>
            <p:grpSpPr>
              <a:xfrm>
                <a:off x="5682169" y="4596356"/>
                <a:ext cx="256152" cy="220068"/>
                <a:chOff x="5682169" y="4596356"/>
                <a:chExt cx="256152" cy="220068"/>
              </a:xfrm>
            </p:grpSpPr>
            <p:sp>
              <p:nvSpPr>
                <p:cNvPr id="91" name="Freeform 91"/>
                <p:cNvSpPr/>
                <p:nvPr/>
              </p:nvSpPr>
              <p:spPr>
                <a:xfrm>
                  <a:off x="5810250" y="4676775"/>
                  <a:ext cx="952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19050">
                  <a:solidFill>
                    <a:srgbClr val="2E86DE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92" name="Freeform 92"/>
                <p:cNvSpPr/>
                <p:nvPr/>
              </p:nvSpPr>
              <p:spPr>
                <a:xfrm>
                  <a:off x="5682169" y="4596356"/>
                  <a:ext cx="256152" cy="2200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152" h="220068">
                      <a:moveTo>
                        <a:pt x="107291" y="11725"/>
                      </a:moveTo>
                      <a:lnTo>
                        <a:pt x="4345" y="183607"/>
                      </a:lnTo>
                      <a:cubicBezTo>
                        <a:pt x="26" y="191085"/>
                        <a:pt x="0" y="200294"/>
                        <a:pt x="4276" y="207797"/>
                      </a:cubicBezTo>
                      <a:cubicBezTo>
                        <a:pt x="8551" y="215300"/>
                        <a:pt x="16487" y="219971"/>
                        <a:pt x="25122" y="220068"/>
                      </a:cubicBezTo>
                      <a:lnTo>
                        <a:pt x="231040" y="220068"/>
                      </a:lnTo>
                      <a:cubicBezTo>
                        <a:pt x="239671" y="219969"/>
                        <a:pt x="247602" y="215299"/>
                        <a:pt x="251877" y="207800"/>
                      </a:cubicBezTo>
                      <a:cubicBezTo>
                        <a:pt x="256152" y="200301"/>
                        <a:pt x="256129" y="191097"/>
                        <a:pt x="251817" y="183619"/>
                      </a:cubicBezTo>
                      <a:lnTo>
                        <a:pt x="148871" y="11712"/>
                      </a:lnTo>
                      <a:cubicBezTo>
                        <a:pt x="144466" y="4441"/>
                        <a:pt x="136582" y="0"/>
                        <a:pt x="128081" y="0"/>
                      </a:cubicBezTo>
                      <a:cubicBezTo>
                        <a:pt x="119580" y="0"/>
                        <a:pt x="111696" y="4441"/>
                        <a:pt x="107291" y="11712"/>
                      </a:cubicBezTo>
                    </a:path>
                  </a:pathLst>
                </a:custGeom>
                <a:noFill/>
                <a:ln w="19050">
                  <a:solidFill>
                    <a:srgbClr val="2E86DE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93" name="Freeform 93"/>
                <p:cNvSpPr/>
                <p:nvPr/>
              </p:nvSpPr>
              <p:spPr>
                <a:xfrm>
                  <a:off x="5810250" y="47656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27" y="0"/>
                      </a:lnTo>
                    </a:path>
                  </a:pathLst>
                </a:custGeom>
                <a:noFill/>
                <a:ln w="19050">
                  <a:solidFill>
                    <a:srgbClr val="2E86DE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</p:grpSp>
          <p:sp>
            <p:nvSpPr>
              <p:cNvPr id="95" name="TextBox 95"/>
              <p:cNvSpPr txBox="1"/>
              <p:nvPr/>
            </p:nvSpPr>
            <p:spPr>
              <a:xfrm>
                <a:off x="6170295" y="4536758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C3E50"/>
                    </a:solidFill>
                    <a:latin typeface="Georgia" panose="02040502050405020303"/>
                    <a:ea typeface="黑体" panose="02010609060101010101" charset="-122"/>
                    <a:cs typeface="Georgia" panose="02040502050405020303"/>
                  </a:rPr>
                  <a:t>风险盲区</a:t>
                </a:r>
                <a:endParaRPr lang="zh-CN" sz="1650" b="1" dirty="0">
                  <a:solidFill>
                    <a:srgbClr val="2C3E50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endParaRP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6176010" y="4871085"/>
                <a:ext cx="1150620" cy="2438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Risk Blind Spot</a:t>
                </a:r>
                <a:endParaRPr lang="zh-CN" sz="12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5700712" y="5260181"/>
                <a:ext cx="2278856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提取出的因果边</a:t>
                </a:r>
                <a:r>
                  <a:rPr lang="zh-CN" sz="1125" b="1" dirty="0">
                    <a:solidFill>
                      <a:srgbClr val="2E86D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无量化风险评估</a:t>
                </a:r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，</a:t>
                </a:r>
                <a:endPara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5700712" y="5450681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无法区分高危与低危路径</a:t>
                </a:r>
                <a:endPara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03" name="Group 103"/>
          <p:cNvGrpSpPr/>
          <p:nvPr/>
        </p:nvGrpSpPr>
        <p:grpSpPr>
          <a:xfrm>
            <a:off x="560070" y="6522720"/>
            <a:ext cx="11071860" cy="182880"/>
            <a:chOff x="560070" y="6522720"/>
            <a:chExt cx="11071860" cy="182880"/>
          </a:xfrm>
        </p:grpSpPr>
        <p:sp>
          <p:nvSpPr>
            <p:cNvPr id="101" name="TextBox 101"/>
            <p:cNvSpPr txBox="1"/>
            <p:nvPr/>
          </p:nvSpPr>
          <p:spPr>
            <a:xfrm>
              <a:off x="560070" y="652272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954988" y="6522720"/>
              <a:ext cx="6769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EdgeThemis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61" grpId="0"/>
      <p:bldP spid="10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346710"/>
            <a:ext cx="11049000" cy="691515"/>
            <a:chOff x="571500" y="346710"/>
            <a:chExt cx="11049000" cy="69151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8660" y="346710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本文贡献</a:t>
              </a:r>
              <a:endParaRPr lang="zh-CN" sz="27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554605" y="492442"/>
              <a:ext cx="31486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：混合架构 + 形式化验证 + 自反思闭环</a:t>
              </a:r>
              <a:endParaRPr lang="zh-CN" sz="13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28662" y="754856"/>
              <a:ext cx="54892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Contributions: Hybrid Architecture + Formal Verification + Self-Reflection</a:t>
              </a:r>
              <a:endParaRPr lang="zh-CN" sz="11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0287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286500" y="132398"/>
            <a:ext cx="5334000" cy="408146"/>
            <a:chOff x="6286500" y="132398"/>
            <a:chExt cx="5334000" cy="408146"/>
          </a:xfrm>
        </p:grpSpPr>
        <p:sp>
          <p:nvSpPr>
            <p:cNvPr id="9" name="Rectangle 9"/>
            <p:cNvSpPr/>
            <p:nvPr/>
          </p:nvSpPr>
          <p:spPr>
            <a:xfrm>
              <a:off x="6286500" y="133350"/>
              <a:ext cx="5334000" cy="400050"/>
            </a:xfrm>
            <a:prstGeom prst="roundRect">
              <a:avLst>
                <a:gd name="adj" fmla="val 1428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6515100" y="219075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451163" y="403384"/>
              <a:ext cx="242173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</a:t>
              </a:r>
              <a:endParaRPr lang="zh-CN" sz="6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Ellipse 12"/>
            <p:cNvSpPr/>
            <p:nvPr/>
          </p:nvSpPr>
          <p:spPr>
            <a:xfrm>
              <a:off x="7153275" y="190500"/>
              <a:ext cx="171450" cy="171450"/>
            </a:xfrm>
            <a:prstGeom prst="ellipse">
              <a:avLst/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96511" y="403384"/>
              <a:ext cx="48497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Generator</a:t>
              </a:r>
              <a:endParaRPr lang="zh-CN" sz="675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067550" y="142875"/>
              <a:ext cx="342900" cy="47625"/>
            </a:xfrm>
            <a:prstGeom prst="roundRect">
              <a:avLst>
                <a:gd name="adj" fmla="val 40000"/>
              </a:avLst>
            </a:prstGeom>
            <a:solidFill>
              <a:srgbClr val="E8B931">
                <a:alpha val="70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29322" y="132398"/>
              <a:ext cx="219356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" b="1" dirty="0">
                  <a:solidFill>
                    <a:srgbClr val="E8B93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450" b="1" dirty="0">
                <a:solidFill>
                  <a:srgbClr val="E8B93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96225" y="219075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32288" y="403384"/>
              <a:ext cx="242173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Cycle</a:t>
              </a:r>
              <a:endParaRPr lang="zh-CN" sz="6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820025" y="142875"/>
              <a:ext cx="266700" cy="47625"/>
            </a:xfrm>
            <a:prstGeom prst="roundRect">
              <a:avLst>
                <a:gd name="adj" fmla="val 40000"/>
              </a:avLst>
            </a:prstGeom>
            <a:solidFill>
              <a:srgbClr val="2E86DE">
                <a:alpha val="30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81652" y="132398"/>
              <a:ext cx="143447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" dirty="0">
                  <a:solidFill>
                    <a:srgbClr val="2E86D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450" dirty="0">
                <a:solidFill>
                  <a:srgbClr val="2E86D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Ellipse 20"/>
            <p:cNvSpPr/>
            <p:nvPr/>
          </p:nvSpPr>
          <p:spPr>
            <a:xfrm>
              <a:off x="8610600" y="219075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35412" y="403384"/>
              <a:ext cx="26467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d-Sep</a:t>
              </a:r>
              <a:endParaRPr lang="zh-CN" sz="6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534400" y="142875"/>
              <a:ext cx="266700" cy="47625"/>
            </a:xfrm>
            <a:prstGeom prst="roundRect">
              <a:avLst>
                <a:gd name="adj" fmla="val 40000"/>
              </a:avLst>
            </a:prstGeom>
            <a:solidFill>
              <a:srgbClr val="2E86DE">
                <a:alpha val="3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96027" y="132398"/>
              <a:ext cx="143447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" dirty="0">
                  <a:solidFill>
                    <a:srgbClr val="2E86D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450" dirty="0">
                <a:solidFill>
                  <a:srgbClr val="2E86D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Ellipse 24"/>
            <p:cNvSpPr/>
            <p:nvPr/>
          </p:nvSpPr>
          <p:spPr>
            <a:xfrm>
              <a:off x="9324975" y="219075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65539" y="403384"/>
              <a:ext cx="23317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FMEA</a:t>
              </a:r>
              <a:endParaRPr lang="zh-CN" sz="6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248775" y="142875"/>
              <a:ext cx="266700" cy="47625"/>
            </a:xfrm>
            <a:prstGeom prst="roundRect">
              <a:avLst>
                <a:gd name="adj" fmla="val 40000"/>
              </a:avLst>
            </a:prstGeom>
            <a:solidFill>
              <a:srgbClr val="2E86DE">
                <a:alpha val="30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10402" y="132398"/>
              <a:ext cx="143447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" dirty="0">
                  <a:solidFill>
                    <a:srgbClr val="2E86D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450" dirty="0">
                <a:solidFill>
                  <a:srgbClr val="2E86D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Ellipse 28"/>
            <p:cNvSpPr/>
            <p:nvPr/>
          </p:nvSpPr>
          <p:spPr>
            <a:xfrm>
              <a:off x="10039350" y="219075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876401" y="403384"/>
              <a:ext cx="44019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Reflector</a:t>
              </a:r>
              <a:endParaRPr lang="zh-CN" sz="6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925050" y="142875"/>
              <a:ext cx="342900" cy="47625"/>
            </a:xfrm>
            <a:prstGeom prst="roundRect">
              <a:avLst>
                <a:gd name="adj" fmla="val 40000"/>
              </a:avLst>
            </a:prstGeom>
            <a:solidFill>
              <a:srgbClr val="E8B931">
                <a:alpha val="3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991773" y="132398"/>
              <a:ext cx="209455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" dirty="0">
                  <a:solidFill>
                    <a:srgbClr val="E8B93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450" dirty="0">
                <a:solidFill>
                  <a:srgbClr val="E8B93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Ellipse 32"/>
            <p:cNvSpPr/>
            <p:nvPr/>
          </p:nvSpPr>
          <p:spPr>
            <a:xfrm>
              <a:off x="10753725" y="219075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644783" y="403384"/>
              <a:ext cx="33218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Output</a:t>
              </a:r>
              <a:endParaRPr lang="zh-CN" sz="6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6629400" y="2762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7296150" y="27622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8010525" y="27622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8724900" y="27622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9439275" y="27622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953750" y="180975"/>
              <a:ext cx="571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D5D8DC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1020425" y="238125"/>
              <a:ext cx="57150" cy="57150"/>
            </a:xfrm>
            <a:prstGeom prst="ellipse">
              <a:avLst/>
            </a:prstGeom>
            <a:solidFill>
              <a:srgbClr val="E8B93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118532" y="238601"/>
              <a:ext cx="24436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Ellipse 42"/>
            <p:cNvSpPr/>
            <p:nvPr/>
          </p:nvSpPr>
          <p:spPr>
            <a:xfrm>
              <a:off x="11020425" y="352425"/>
              <a:ext cx="57150" cy="57150"/>
            </a:xfrm>
            <a:prstGeom prst="ellipse">
              <a:avLst/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118532" y="352901"/>
              <a:ext cx="16735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571500" y="1333500"/>
            <a:ext cx="11049000" cy="4572000"/>
            <a:chOff x="571500" y="1333500"/>
            <a:chExt cx="11049000" cy="4572000"/>
          </a:xfrm>
        </p:grpSpPr>
        <p:grpSp>
          <p:nvGrpSpPr>
            <p:cNvPr id="60" name="Group 60"/>
            <p:cNvGrpSpPr/>
            <p:nvPr/>
          </p:nvGrpSpPr>
          <p:grpSpPr>
            <a:xfrm>
              <a:off x="571500" y="1333500"/>
              <a:ext cx="3524250" cy="4572000"/>
              <a:chOff x="571500" y="1333500"/>
              <a:chExt cx="3524250" cy="4572000"/>
            </a:xfrm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grpSpPr>
          <p:sp>
            <p:nvSpPr>
              <p:cNvPr id="45" name="Rectangle 45"/>
              <p:cNvSpPr/>
              <p:nvPr/>
            </p:nvSpPr>
            <p:spPr>
              <a:xfrm>
                <a:off x="571500" y="1333500"/>
                <a:ext cx="3524250" cy="4572000"/>
              </a:xfrm>
              <a:prstGeom prst="roundRect">
                <a:avLst>
                  <a:gd name="adj" fmla="val 3243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571500" y="1333500"/>
                <a:ext cx="3524250" cy="76200"/>
              </a:xfrm>
              <a:prstGeom prst="roundRect">
                <a:avLst>
                  <a:gd name="adj" fmla="val 50000"/>
                </a:avLst>
              </a:prstGeom>
              <a:solidFill>
                <a:srgbClr val="1A3C6E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47" name="Ellipse 47"/>
              <p:cNvSpPr/>
              <p:nvPr/>
            </p:nvSpPr>
            <p:spPr>
              <a:xfrm>
                <a:off x="1990725" y="1657350"/>
                <a:ext cx="685800" cy="685800"/>
              </a:xfrm>
              <a:prstGeom prst="ellipse">
                <a:avLst/>
              </a:prstGeom>
              <a:solidFill>
                <a:srgbClr val="1A3C6E">
                  <a:alpha val="10000"/>
                </a:srgbClr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2210733" y="1836420"/>
                <a:ext cx="245783" cy="4876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1A3C6E"/>
                    </a:solidFill>
                    <a:latin typeface="Georgia" panose="02040502050405020303"/>
                    <a:ea typeface="黑体" panose="02010609060101010101" charset="-122"/>
                    <a:cs typeface="Georgia" panose="02040502050405020303"/>
                  </a:rPr>
                  <a:t>1</a:t>
                </a:r>
                <a:endParaRPr lang="zh-CN" sz="24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endParaRPr>
              </a:p>
            </p:txBody>
          </p:sp>
          <p:grpSp>
            <p:nvGrpSpPr>
              <p:cNvPr id="55" name="Group 55"/>
              <p:cNvGrpSpPr/>
              <p:nvPr/>
            </p:nvGrpSpPr>
            <p:grpSpPr>
              <a:xfrm>
                <a:off x="2174875" y="2603500"/>
                <a:ext cx="317500" cy="317500"/>
                <a:chOff x="2174875" y="2603500"/>
                <a:chExt cx="317500" cy="317500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2213193" y="2661761"/>
                  <a:ext cx="220920" cy="220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920" h="220920">
                      <a:moveTo>
                        <a:pt x="0" y="0"/>
                      </a:moveTo>
                      <a:lnTo>
                        <a:pt x="25301" y="84316"/>
                      </a:lnTo>
                      <a:moveTo>
                        <a:pt x="136565" y="195620"/>
                      </a:moveTo>
                      <a:lnTo>
                        <a:pt x="220920" y="220920"/>
                      </a:lnTo>
                    </a:path>
                  </a:pathLst>
                </a:custGeom>
                <a:noFill/>
                <a:ln w="19050">
                  <a:solidFill>
                    <a:srgbClr val="1A3C6E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2327335" y="2654260"/>
                  <a:ext cx="114280" cy="114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280" h="114280">
                      <a:moveTo>
                        <a:pt x="0" y="114280"/>
                      </a:moveTo>
                      <a:lnTo>
                        <a:pt x="114280" y="0"/>
                      </a:lnTo>
                    </a:path>
                  </a:pathLst>
                </a:custGeom>
                <a:noFill/>
                <a:ln w="19050">
                  <a:solidFill>
                    <a:srgbClr val="1A3C6E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2174875" y="2603500"/>
                  <a:ext cx="59531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59531">
                      <a:moveTo>
                        <a:pt x="0" y="29766"/>
                      </a:moveTo>
                      <a:cubicBezTo>
                        <a:pt x="0" y="46205"/>
                        <a:pt x="13327" y="59531"/>
                        <a:pt x="29766" y="59531"/>
                      </a:cubicBezTo>
                      <a:cubicBezTo>
                        <a:pt x="46205" y="59531"/>
                        <a:pt x="59531" y="46205"/>
                        <a:pt x="59531" y="29766"/>
                      </a:cubicBezTo>
                      <a:cubicBezTo>
                        <a:pt x="59531" y="13327"/>
                        <a:pt x="46205" y="0"/>
                        <a:pt x="29766" y="0"/>
                      </a:cubicBezTo>
                      <a:cubicBezTo>
                        <a:pt x="13327" y="0"/>
                        <a:pt x="0" y="13327"/>
                        <a:pt x="0" y="29766"/>
                      </a:cubicBezTo>
                    </a:path>
                  </a:pathLst>
                </a:custGeom>
                <a:noFill/>
                <a:ln w="19050">
                  <a:solidFill>
                    <a:srgbClr val="1A3C6E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2432844" y="2603500"/>
                  <a:ext cx="59531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59531">
                      <a:moveTo>
                        <a:pt x="0" y="29766"/>
                      </a:moveTo>
                      <a:cubicBezTo>
                        <a:pt x="0" y="46205"/>
                        <a:pt x="13327" y="59531"/>
                        <a:pt x="29766" y="59531"/>
                      </a:cubicBezTo>
                      <a:cubicBezTo>
                        <a:pt x="46205" y="59531"/>
                        <a:pt x="59531" y="46205"/>
                        <a:pt x="59531" y="29766"/>
                      </a:cubicBezTo>
                      <a:cubicBezTo>
                        <a:pt x="59531" y="13327"/>
                        <a:pt x="46205" y="0"/>
                        <a:pt x="29766" y="0"/>
                      </a:cubicBezTo>
                      <a:cubicBezTo>
                        <a:pt x="13327" y="0"/>
                        <a:pt x="0" y="13327"/>
                        <a:pt x="0" y="29766"/>
                      </a:cubicBezTo>
                    </a:path>
                  </a:pathLst>
                </a:custGeom>
                <a:noFill/>
                <a:ln w="19050">
                  <a:solidFill>
                    <a:srgbClr val="1A3C6E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2432844" y="2861469"/>
                  <a:ext cx="59531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59531">
                      <a:moveTo>
                        <a:pt x="0" y="29766"/>
                      </a:moveTo>
                      <a:cubicBezTo>
                        <a:pt x="0" y="46205"/>
                        <a:pt x="13327" y="59531"/>
                        <a:pt x="29766" y="59531"/>
                      </a:cubicBezTo>
                      <a:cubicBezTo>
                        <a:pt x="46205" y="59531"/>
                        <a:pt x="59531" y="46205"/>
                        <a:pt x="59531" y="29766"/>
                      </a:cubicBezTo>
                      <a:cubicBezTo>
                        <a:pt x="59531" y="13327"/>
                        <a:pt x="46205" y="0"/>
                        <a:pt x="29766" y="0"/>
                      </a:cubicBezTo>
                      <a:cubicBezTo>
                        <a:pt x="13327" y="0"/>
                        <a:pt x="0" y="13327"/>
                        <a:pt x="0" y="29766"/>
                      </a:cubicBezTo>
                    </a:path>
                  </a:pathLst>
                </a:custGeom>
                <a:noFill/>
                <a:ln w="19050">
                  <a:solidFill>
                    <a:srgbClr val="1A3C6E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2174875" y="2742406"/>
                  <a:ext cx="178594" cy="178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594" h="178594">
                      <a:moveTo>
                        <a:pt x="0" y="89297"/>
                      </a:moveTo>
                      <a:cubicBezTo>
                        <a:pt x="0" y="138614"/>
                        <a:pt x="39980" y="178594"/>
                        <a:pt x="89297" y="178594"/>
                      </a:cubicBezTo>
                      <a:cubicBezTo>
                        <a:pt x="138614" y="178594"/>
                        <a:pt x="178594" y="138614"/>
                        <a:pt x="178594" y="89297"/>
                      </a:cubicBezTo>
                      <a:cubicBezTo>
                        <a:pt x="178594" y="39980"/>
                        <a:pt x="138614" y="0"/>
                        <a:pt x="89297" y="0"/>
                      </a:cubicBezTo>
                      <a:cubicBezTo>
                        <a:pt x="39980" y="0"/>
                        <a:pt x="0" y="39980"/>
                        <a:pt x="0" y="89297"/>
                      </a:cubicBezTo>
                    </a:path>
                  </a:pathLst>
                </a:custGeom>
                <a:noFill/>
                <a:ln w="19050">
                  <a:solidFill>
                    <a:srgbClr val="1A3C6E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1850612" y="3108008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C3E50"/>
                    </a:solidFill>
                    <a:latin typeface="Georgia" panose="02040502050405020303"/>
                    <a:ea typeface="黑体" panose="02010609060101010101" charset="-122"/>
                    <a:cs typeface="Georgia" panose="02040502050405020303"/>
                  </a:rPr>
                  <a:t>混合架构</a:t>
                </a:r>
                <a:endParaRPr lang="zh-CN" sz="1650" b="1" dirty="0">
                  <a:solidFill>
                    <a:srgbClr val="2C3E50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641205" y="3410902"/>
                <a:ext cx="138484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Hybrid Architecture</a:t>
                </a:r>
                <a:endPara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8" name="Line 58"/>
              <p:cNvSpPr/>
              <p:nvPr/>
            </p:nvSpPr>
            <p:spPr>
              <a:xfrm>
                <a:off x="952500" y="3714750"/>
                <a:ext cx="2762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762250" h="9525">
                    <a:moveTo>
                      <a:pt x="0" y="0"/>
                    </a:moveTo>
                    <a:lnTo>
                      <a:pt x="2762250" y="0"/>
                    </a:lnTo>
                  </a:path>
                </a:pathLst>
              </a:custGeom>
              <a:noFill/>
              <a:ln w="9525">
                <a:solidFill>
                  <a:srgbClr val="D5D8DC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937895" y="3879215"/>
                <a:ext cx="2776855" cy="15621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800"/>
                  </a:lnSpc>
                </a:pPr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LLM 结构化提取</a:t>
                </a:r>
                <a:endPara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>
                  <a:lnSpc>
                    <a:spcPts val="1800"/>
                  </a:lnSpc>
                  <a:spcBef>
                    <a:spcPts val="150"/>
                  </a:spcBef>
                </a:pPr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（JSON Schema 强制输出）</a:t>
                </a:r>
                <a:endPara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>
                  <a:lnSpc>
                    <a:spcPts val="1800"/>
                  </a:lnSpc>
                  <a:spcBef>
                    <a:spcPts val="600"/>
                  </a:spcBef>
                </a:pPr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+</a:t>
                </a:r>
                <a:endPara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>
                  <a:lnSpc>
                    <a:spcPts val="1800"/>
                  </a:lnSpc>
                  <a:spcBef>
                    <a:spcPts val="600"/>
                  </a:spcBef>
                </a:pPr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Rust 形式化验证引擎</a:t>
                </a:r>
                <a:endPara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>
                  <a:lnSpc>
                    <a:spcPts val="1800"/>
                  </a:lnSpc>
                  <a:spcBef>
                    <a:spcPts val="150"/>
                  </a:spcBef>
                </a:pPr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（Kahn 环路检测</a:t>
                </a:r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+ Bayesian Ball d-分离）</a:t>
                </a:r>
                <a:endPara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4333875" y="1333500"/>
              <a:ext cx="3524250" cy="4572000"/>
              <a:chOff x="4333875" y="1333500"/>
              <a:chExt cx="3524250" cy="4572000"/>
            </a:xfrm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grpSpPr>
          <p:sp>
            <p:nvSpPr>
              <p:cNvPr id="61" name="Rectangle 61"/>
              <p:cNvSpPr/>
              <p:nvPr/>
            </p:nvSpPr>
            <p:spPr>
              <a:xfrm>
                <a:off x="4333875" y="1333500"/>
                <a:ext cx="3524250" cy="4572000"/>
              </a:xfrm>
              <a:prstGeom prst="roundRect">
                <a:avLst>
                  <a:gd name="adj" fmla="val 3243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4333875" y="1333500"/>
                <a:ext cx="3524250" cy="76200"/>
              </a:xfrm>
              <a:prstGeom prst="roundRect">
                <a:avLst>
                  <a:gd name="adj" fmla="val 50000"/>
                </a:avLst>
              </a:prstGeom>
              <a:solidFill>
                <a:srgbClr val="2E86DE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63" name="Ellipse 63"/>
              <p:cNvSpPr/>
              <p:nvPr/>
            </p:nvSpPr>
            <p:spPr>
              <a:xfrm>
                <a:off x="5753100" y="1657350"/>
                <a:ext cx="685800" cy="685800"/>
              </a:xfrm>
              <a:prstGeom prst="ellipse">
                <a:avLst/>
              </a:prstGeom>
              <a:solidFill>
                <a:srgbClr val="2E86DE">
                  <a:alpha val="10000"/>
                </a:srgbClr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5973108" y="1836420"/>
                <a:ext cx="245783" cy="4876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2E86DE"/>
                    </a:solidFill>
                    <a:latin typeface="Georgia" panose="02040502050405020303"/>
                    <a:ea typeface="黑体" panose="02010609060101010101" charset="-122"/>
                    <a:cs typeface="Georgia" panose="02040502050405020303"/>
                  </a:rPr>
                  <a:t>2</a:t>
                </a:r>
                <a:endParaRPr lang="zh-CN" sz="2400" b="1" dirty="0">
                  <a:solidFill>
                    <a:srgbClr val="2E86D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endParaRPr>
              </a:p>
            </p:txBody>
          </p:sp>
          <p:grpSp>
            <p:nvGrpSpPr>
              <p:cNvPr id="67" name="Group 67"/>
              <p:cNvGrpSpPr/>
              <p:nvPr/>
            </p:nvGrpSpPr>
            <p:grpSpPr>
              <a:xfrm>
                <a:off x="5890626" y="2583656"/>
                <a:ext cx="387513" cy="357188"/>
                <a:chOff x="5890626" y="2583656"/>
                <a:chExt cx="387513" cy="357188"/>
              </a:xfrm>
            </p:grpSpPr>
            <p:sp>
              <p:nvSpPr>
                <p:cNvPr id="65" name="Freeform 65"/>
                <p:cNvSpPr/>
                <p:nvPr/>
              </p:nvSpPr>
              <p:spPr>
                <a:xfrm>
                  <a:off x="5890626" y="2583656"/>
                  <a:ext cx="387513" cy="354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7513" h="354132">
                      <a:moveTo>
                        <a:pt x="194658" y="354132"/>
                      </a:moveTo>
                      <a:cubicBezTo>
                        <a:pt x="70346" y="315597"/>
                        <a:pt x="0" y="184396"/>
                        <a:pt x="36702" y="59531"/>
                      </a:cubicBezTo>
                      <a:cubicBezTo>
                        <a:pt x="98526" y="62360"/>
                        <a:pt x="159022" y="41009"/>
                        <a:pt x="205374" y="0"/>
                      </a:cubicBezTo>
                      <a:cubicBezTo>
                        <a:pt x="251726" y="41009"/>
                        <a:pt x="312222" y="62360"/>
                        <a:pt x="374046" y="59531"/>
                      </a:cubicBezTo>
                      <a:cubicBezTo>
                        <a:pt x="387513" y="105353"/>
                        <a:pt x="386891" y="154165"/>
                        <a:pt x="372260" y="199628"/>
                      </a:cubicBezTo>
                    </a:path>
                  </a:pathLst>
                </a:custGeom>
                <a:noFill/>
                <a:ln w="19050">
                  <a:solidFill>
                    <a:srgbClr val="2E86DE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6155531" y="2861469"/>
                  <a:ext cx="119062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79375">
                      <a:moveTo>
                        <a:pt x="0" y="39687"/>
                      </a:moveTo>
                      <a:lnTo>
                        <a:pt x="39687" y="79375"/>
                      </a:lnTo>
                      <a:lnTo>
                        <a:pt x="119062" y="0"/>
                      </a:lnTo>
                    </a:path>
                  </a:pathLst>
                </a:custGeom>
                <a:noFill/>
                <a:ln w="19050">
                  <a:solidFill>
                    <a:srgbClr val="2E86DE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</p:grpSp>
          <p:sp>
            <p:nvSpPr>
              <p:cNvPr id="68" name="TextBox 68"/>
              <p:cNvSpPr txBox="1"/>
              <p:nvPr/>
            </p:nvSpPr>
            <p:spPr>
              <a:xfrm>
                <a:off x="5301098" y="3108008"/>
                <a:ext cx="1589803" cy="3352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C3E50"/>
                    </a:solidFill>
                    <a:latin typeface="Georgia" panose="02040502050405020303"/>
                    <a:ea typeface="黑体" panose="02010609060101010101" charset="-122"/>
                    <a:cs typeface="Georgia" panose="02040502050405020303"/>
                  </a:rPr>
                  <a:t>FMEA 风险量化</a:t>
                </a:r>
                <a:endParaRPr lang="zh-CN" sz="1650" b="1" dirty="0">
                  <a:solidFill>
                    <a:srgbClr val="2C3E50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endParaRP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5484090" y="3410902"/>
                <a:ext cx="122382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FMEA Risk Scoring</a:t>
                </a:r>
                <a:endPara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0" name="Line 70"/>
              <p:cNvSpPr/>
              <p:nvPr/>
            </p:nvSpPr>
            <p:spPr>
              <a:xfrm>
                <a:off x="4714875" y="3714750"/>
                <a:ext cx="2762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762250" h="9525">
                    <a:moveTo>
                      <a:pt x="0" y="0"/>
                    </a:moveTo>
                    <a:lnTo>
                      <a:pt x="2762250" y="0"/>
                    </a:lnTo>
                  </a:path>
                </a:pathLst>
              </a:custGeom>
              <a:noFill/>
              <a:ln w="9525">
                <a:solidFill>
                  <a:srgbClr val="D5D8DC"/>
                </a:solidFill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4700905" y="3879215"/>
                <a:ext cx="1814195" cy="128714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800"/>
                  </a:lnSpc>
                </a:pPr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将工业工程的</a:t>
                </a:r>
                <a:endPara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>
                  <a:lnSpc>
                    <a:spcPts val="1800"/>
                  </a:lnSpc>
                  <a:spcBef>
                    <a:spcPts val="150"/>
                  </a:spcBef>
                </a:pPr>
                <a:r>
                  <a:rPr lang="zh-CN" sz="1125" b="1" dirty="0">
                    <a:solidFill>
                      <a:srgbClr val="2E86D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Failure Mode and </a:t>
                </a:r>
                <a:r>
                  <a:rPr lang="zh-CN" sz="1125" b="1" dirty="0">
                    <a:solidFill>
                      <a:srgbClr val="2E86D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Effects Analysis</a:t>
                </a:r>
                <a:endParaRPr lang="zh-CN" sz="1125" b="1" dirty="0">
                  <a:solidFill>
                    <a:srgbClr val="2E86D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>
                  <a:lnSpc>
                    <a:spcPts val="1800"/>
                  </a:lnSpc>
                  <a:spcBef>
                    <a:spcPts val="300"/>
                  </a:spcBef>
                </a:pPr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融入因果图每条边</a:t>
                </a:r>
                <a:endPara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>
                  <a:lnSpc>
                    <a:spcPts val="1800"/>
                  </a:lnSpc>
                  <a:spcBef>
                    <a:spcPts val="300"/>
                  </a:spcBef>
                </a:pPr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RPN = 100×S + 10×O </a:t>
                </a:r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  <a:sym typeface="+mn-ea"/>
                  </a:rPr>
                  <a:t>+ D</a:t>
                </a:r>
                <a:endPara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>
                  <a:lnSpc>
                    <a:spcPts val="1800"/>
                  </a:lnSpc>
                  <a:spcBef>
                    <a:spcPts val="300"/>
                  </a:spcBef>
                </a:pPr>
                <a:endPara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8096250" y="1333500"/>
              <a:ext cx="3524250" cy="4572000"/>
              <a:chOff x="8096250" y="1333500"/>
              <a:chExt cx="3524250" cy="4572000"/>
            </a:xfrm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grpSpPr>
          <p:sp>
            <p:nvSpPr>
              <p:cNvPr id="73" name="Rectangle 73"/>
              <p:cNvSpPr/>
              <p:nvPr/>
            </p:nvSpPr>
            <p:spPr>
              <a:xfrm>
                <a:off x="8096250" y="1333500"/>
                <a:ext cx="3524250" cy="4572000"/>
              </a:xfrm>
              <a:prstGeom prst="roundRect">
                <a:avLst>
                  <a:gd name="adj" fmla="val 3243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8096250" y="1333500"/>
                <a:ext cx="352425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8B931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75" name="Ellipse 75"/>
              <p:cNvSpPr/>
              <p:nvPr/>
            </p:nvSpPr>
            <p:spPr>
              <a:xfrm>
                <a:off x="9515475" y="1657350"/>
                <a:ext cx="685800" cy="685800"/>
              </a:xfrm>
              <a:prstGeom prst="ellipse">
                <a:avLst/>
              </a:prstGeom>
              <a:solidFill>
                <a:srgbClr val="E8B931">
                  <a:alpha val="10000"/>
                </a:srgbClr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9735483" y="1836420"/>
                <a:ext cx="245783" cy="4876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E8B931"/>
                    </a:solidFill>
                    <a:latin typeface="Georgia" panose="02040502050405020303"/>
                    <a:ea typeface="黑体" panose="02010609060101010101" charset="-122"/>
                    <a:cs typeface="Georgia" panose="02040502050405020303"/>
                  </a:rPr>
                  <a:t>3</a:t>
                </a:r>
                <a:endParaRPr lang="zh-CN" sz="2400" b="1" dirty="0">
                  <a:solidFill>
                    <a:srgbClr val="E8B931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endParaRPr>
              </a:p>
            </p:txBody>
          </p:sp>
          <p:grpSp>
            <p:nvGrpSpPr>
              <p:cNvPr id="79" name="Group 79"/>
              <p:cNvGrpSpPr/>
              <p:nvPr/>
            </p:nvGrpSpPr>
            <p:grpSpPr>
              <a:xfrm>
                <a:off x="9699625" y="2595844"/>
                <a:ext cx="317500" cy="332813"/>
                <a:chOff x="9699625" y="2595844"/>
                <a:chExt cx="317500" cy="332813"/>
              </a:xfrm>
            </p:grpSpPr>
            <p:sp>
              <p:nvSpPr>
                <p:cNvPr id="77" name="Freeform 77"/>
                <p:cNvSpPr/>
                <p:nvPr/>
              </p:nvSpPr>
              <p:spPr>
                <a:xfrm>
                  <a:off x="9699625" y="2595844"/>
                  <a:ext cx="317500" cy="146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0" h="146563">
                      <a:moveTo>
                        <a:pt x="317500" y="146563"/>
                      </a:moveTo>
                      <a:cubicBezTo>
                        <a:pt x="307524" y="74778"/>
                        <a:pt x="250743" y="18549"/>
                        <a:pt x="178865" y="9275"/>
                      </a:cubicBezTo>
                      <a:cubicBezTo>
                        <a:pt x="106987" y="0"/>
                        <a:pt x="37793" y="39974"/>
                        <a:pt x="9922" y="106875"/>
                      </a:cubicBezTo>
                      <a:moveTo>
                        <a:pt x="0" y="27500"/>
                      </a:moveTo>
                      <a:lnTo>
                        <a:pt x="0" y="106875"/>
                      </a:lnTo>
                      <a:lnTo>
                        <a:pt x="79375" y="106875"/>
                      </a:lnTo>
                    </a:path>
                  </a:pathLst>
                </a:custGeom>
                <a:noFill/>
                <a:ln w="19050">
                  <a:solidFill>
                    <a:srgbClr val="E8B931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9699625" y="2782094"/>
                  <a:ext cx="317500" cy="146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0" h="146563">
                      <a:moveTo>
                        <a:pt x="0" y="0"/>
                      </a:moveTo>
                      <a:cubicBezTo>
                        <a:pt x="9976" y="71784"/>
                        <a:pt x="66757" y="128013"/>
                        <a:pt x="138635" y="137288"/>
                      </a:cubicBezTo>
                      <a:cubicBezTo>
                        <a:pt x="210513" y="146563"/>
                        <a:pt x="279707" y="106588"/>
                        <a:pt x="307578" y="39688"/>
                      </a:cubicBezTo>
                      <a:moveTo>
                        <a:pt x="317500" y="119062"/>
                      </a:moveTo>
                      <a:lnTo>
                        <a:pt x="317500" y="39688"/>
                      </a:lnTo>
                      <a:lnTo>
                        <a:pt x="238125" y="39688"/>
                      </a:lnTo>
                    </a:path>
                  </a:pathLst>
                </a:custGeom>
                <a:noFill/>
                <a:ln w="19050">
                  <a:solidFill>
                    <a:srgbClr val="E8B931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</p:grpSp>
          <p:sp>
            <p:nvSpPr>
              <p:cNvPr id="80" name="TextBox 80"/>
              <p:cNvSpPr txBox="1"/>
              <p:nvPr/>
            </p:nvSpPr>
            <p:spPr>
              <a:xfrm>
                <a:off x="9028819" y="3108008"/>
                <a:ext cx="1659112" cy="3352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C3E50"/>
                    </a:solidFill>
                    <a:latin typeface="Georgia" panose="02040502050405020303"/>
                    <a:ea typeface="黑体" panose="02010609060101010101" charset="-122"/>
                    <a:cs typeface="Georgia" panose="02040502050405020303"/>
                  </a:rPr>
                  <a:t>自反思纠错闭环</a:t>
                </a:r>
                <a:endParaRPr lang="zh-CN" sz="1650" b="1" dirty="0">
                  <a:solidFill>
                    <a:srgbClr val="2C3E50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endParaRP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9144952" y="34109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Self-Reflection Loop</a:t>
                </a:r>
                <a:endPara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2" name="Line 82"/>
              <p:cNvSpPr/>
              <p:nvPr/>
            </p:nvSpPr>
            <p:spPr>
              <a:xfrm>
                <a:off x="8477250" y="3714750"/>
                <a:ext cx="2762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762250" h="9525">
                    <a:moveTo>
                      <a:pt x="0" y="0"/>
                    </a:moveTo>
                    <a:lnTo>
                      <a:pt x="2762250" y="0"/>
                    </a:lnTo>
                  </a:path>
                </a:pathLst>
              </a:custGeom>
              <a:noFill/>
              <a:ln w="9525">
                <a:solidFill>
                  <a:srgbClr val="D5D8DC"/>
                </a:solidFill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8462962" y="3879056"/>
                <a:ext cx="1457325" cy="104775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950"/>
                  </a:lnSpc>
                </a:pPr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验证失败 →</a:t>
                </a:r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拦截报告反馈 LLM</a:t>
                </a:r>
                <a:endPara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>
                  <a:lnSpc>
                    <a:spcPts val="1950"/>
                  </a:lnSpc>
                  <a:spcBef>
                    <a:spcPts val="450"/>
                  </a:spcBef>
                </a:pPr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→ 最多</a:t>
                </a:r>
                <a:r>
                  <a:rPr lang="zh-CN" sz="1125" b="1" dirty="0">
                    <a:solidFill>
                      <a:srgbClr val="E8B93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5 轮</a:t>
                </a:r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自动修正</a:t>
                </a:r>
                <a:endPara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>
                  <a:lnSpc>
                    <a:spcPts val="1950"/>
                  </a:lnSpc>
                  <a:spcBef>
                    <a:spcPts val="150"/>
                  </a:spcBef>
                </a:pPr>
                <a:r>
                  <a:rPr lang="zh-CN" sz="112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熔断机制防止无限循环</a:t>
                </a:r>
                <a:endPara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88" name="Group 88"/>
          <p:cNvGrpSpPr/>
          <p:nvPr/>
        </p:nvGrpSpPr>
        <p:grpSpPr>
          <a:xfrm>
            <a:off x="560070" y="6522720"/>
            <a:ext cx="11071860" cy="182880"/>
            <a:chOff x="560070" y="6522720"/>
            <a:chExt cx="11071860" cy="182880"/>
          </a:xfrm>
        </p:grpSpPr>
        <p:sp>
          <p:nvSpPr>
            <p:cNvPr id="86" name="TextBox 86"/>
            <p:cNvSpPr txBox="1"/>
            <p:nvPr/>
          </p:nvSpPr>
          <p:spPr>
            <a:xfrm>
              <a:off x="560070" y="652272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954988" y="6522720"/>
              <a:ext cx="6769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EdgeThemis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346710"/>
            <a:ext cx="11049000" cy="691515"/>
            <a:chOff x="571500" y="346710"/>
            <a:chExt cx="11049000" cy="69151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8660" y="346710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系统架构</a:t>
              </a:r>
              <a:endParaRPr lang="zh-CN" sz="27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745105" y="492442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：从文本到验证因果图的完整流水线</a:t>
              </a:r>
              <a:endParaRPr lang="zh-CN" sz="13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28662" y="754856"/>
              <a:ext cx="42140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System Architecture: From Text to Verified Causal Graph</a:t>
              </a:r>
              <a:endParaRPr lang="zh-CN" sz="11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0287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286500" y="132398"/>
            <a:ext cx="5334000" cy="408146"/>
            <a:chOff x="6286500" y="132398"/>
            <a:chExt cx="5334000" cy="408146"/>
          </a:xfrm>
        </p:grpSpPr>
        <p:sp>
          <p:nvSpPr>
            <p:cNvPr id="9" name="Rectangle 9"/>
            <p:cNvSpPr/>
            <p:nvPr/>
          </p:nvSpPr>
          <p:spPr>
            <a:xfrm>
              <a:off x="6286500" y="133350"/>
              <a:ext cx="5334000" cy="400050"/>
            </a:xfrm>
            <a:prstGeom prst="roundRect">
              <a:avLst>
                <a:gd name="adj" fmla="val 1428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6515100" y="219075"/>
              <a:ext cx="114300" cy="114300"/>
            </a:xfrm>
            <a:prstGeom prst="ellipse">
              <a:avLst/>
            </a:prstGeom>
            <a:solidFill>
              <a:srgbClr val="2E86DE">
                <a:alpha val="30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451163" y="403384"/>
              <a:ext cx="242173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</a:t>
              </a:r>
              <a:endParaRPr lang="zh-CN" sz="6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Ellipse 12"/>
            <p:cNvSpPr/>
            <p:nvPr/>
          </p:nvSpPr>
          <p:spPr>
            <a:xfrm>
              <a:off x="7181850" y="219075"/>
              <a:ext cx="114300" cy="114300"/>
            </a:xfrm>
            <a:prstGeom prst="ellipse">
              <a:avLst/>
            </a:prstGeom>
            <a:solidFill>
              <a:srgbClr val="2E86DE">
                <a:alpha val="30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07650" y="403384"/>
              <a:ext cx="46270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Generator</a:t>
              </a:r>
              <a:endParaRPr lang="zh-CN" sz="6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067550" y="142875"/>
              <a:ext cx="342900" cy="47625"/>
            </a:xfrm>
            <a:prstGeom prst="roundRect">
              <a:avLst>
                <a:gd name="adj" fmla="val 40000"/>
              </a:avLst>
            </a:prstGeom>
            <a:solidFill>
              <a:srgbClr val="E8B931">
                <a:alpha val="30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34273" y="132398"/>
              <a:ext cx="209455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" dirty="0">
                  <a:solidFill>
                    <a:srgbClr val="E8B93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450" dirty="0">
                <a:solidFill>
                  <a:srgbClr val="E8B93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96225" y="219075"/>
              <a:ext cx="114300" cy="114300"/>
            </a:xfrm>
            <a:prstGeom prst="ellipse">
              <a:avLst/>
            </a:prstGeom>
            <a:solidFill>
              <a:srgbClr val="2E86DE">
                <a:alpha val="3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32288" y="403384"/>
              <a:ext cx="242173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Cycle</a:t>
              </a:r>
              <a:endParaRPr lang="zh-CN" sz="6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820025" y="142875"/>
              <a:ext cx="266700" cy="47625"/>
            </a:xfrm>
            <a:prstGeom prst="roundRect">
              <a:avLst>
                <a:gd name="adj" fmla="val 40000"/>
              </a:avLst>
            </a:prstGeom>
            <a:solidFill>
              <a:srgbClr val="2E86DE">
                <a:alpha val="30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81652" y="132398"/>
              <a:ext cx="143447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" dirty="0">
                  <a:solidFill>
                    <a:srgbClr val="2E86D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450" dirty="0">
                <a:solidFill>
                  <a:srgbClr val="2E86D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Ellipse 20"/>
            <p:cNvSpPr/>
            <p:nvPr/>
          </p:nvSpPr>
          <p:spPr>
            <a:xfrm>
              <a:off x="8610600" y="219075"/>
              <a:ext cx="114300" cy="114300"/>
            </a:xfrm>
            <a:prstGeom prst="ellipse">
              <a:avLst/>
            </a:prstGeom>
            <a:solidFill>
              <a:srgbClr val="2E86DE">
                <a:alpha val="30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35412" y="403384"/>
              <a:ext cx="26467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d-Sep</a:t>
              </a:r>
              <a:endParaRPr lang="zh-CN" sz="6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534400" y="142875"/>
              <a:ext cx="266700" cy="47625"/>
            </a:xfrm>
            <a:prstGeom prst="roundRect">
              <a:avLst>
                <a:gd name="adj" fmla="val 40000"/>
              </a:avLst>
            </a:prstGeom>
            <a:solidFill>
              <a:srgbClr val="2E86DE">
                <a:alpha val="3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96027" y="132398"/>
              <a:ext cx="143447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" dirty="0">
                  <a:solidFill>
                    <a:srgbClr val="2E86D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450" dirty="0">
                <a:solidFill>
                  <a:srgbClr val="2E86D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Ellipse 24"/>
            <p:cNvSpPr/>
            <p:nvPr/>
          </p:nvSpPr>
          <p:spPr>
            <a:xfrm>
              <a:off x="9324975" y="219075"/>
              <a:ext cx="114300" cy="114300"/>
            </a:xfrm>
            <a:prstGeom prst="ellipse">
              <a:avLst/>
            </a:prstGeom>
            <a:solidFill>
              <a:srgbClr val="2E86DE">
                <a:alpha val="30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65539" y="403384"/>
              <a:ext cx="23317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FMEA</a:t>
              </a:r>
              <a:endParaRPr lang="zh-CN" sz="6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248775" y="142875"/>
              <a:ext cx="266700" cy="47625"/>
            </a:xfrm>
            <a:prstGeom prst="roundRect">
              <a:avLst>
                <a:gd name="adj" fmla="val 40000"/>
              </a:avLst>
            </a:prstGeom>
            <a:solidFill>
              <a:srgbClr val="2E86DE">
                <a:alpha val="30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10402" y="132398"/>
              <a:ext cx="143447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" dirty="0">
                  <a:solidFill>
                    <a:srgbClr val="2E86D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450" dirty="0">
                <a:solidFill>
                  <a:srgbClr val="2E86D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Ellipse 28"/>
            <p:cNvSpPr/>
            <p:nvPr/>
          </p:nvSpPr>
          <p:spPr>
            <a:xfrm>
              <a:off x="10039350" y="219075"/>
              <a:ext cx="114300" cy="114300"/>
            </a:xfrm>
            <a:prstGeom prst="ellipse">
              <a:avLst/>
            </a:prstGeom>
            <a:solidFill>
              <a:srgbClr val="2E86DE">
                <a:alpha val="30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876401" y="403384"/>
              <a:ext cx="44019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Reflector</a:t>
              </a:r>
              <a:endParaRPr lang="zh-CN" sz="6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925050" y="142875"/>
              <a:ext cx="342900" cy="47625"/>
            </a:xfrm>
            <a:prstGeom prst="roundRect">
              <a:avLst>
                <a:gd name="adj" fmla="val 40000"/>
              </a:avLst>
            </a:prstGeom>
            <a:solidFill>
              <a:srgbClr val="E8B931">
                <a:alpha val="3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991773" y="132398"/>
              <a:ext cx="209455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" dirty="0">
                  <a:solidFill>
                    <a:srgbClr val="E8B93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450" dirty="0">
                <a:solidFill>
                  <a:srgbClr val="E8B93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Ellipse 32"/>
            <p:cNvSpPr/>
            <p:nvPr/>
          </p:nvSpPr>
          <p:spPr>
            <a:xfrm>
              <a:off x="10753725" y="219075"/>
              <a:ext cx="114300" cy="114300"/>
            </a:xfrm>
            <a:prstGeom prst="ellipse">
              <a:avLst/>
            </a:prstGeom>
            <a:solidFill>
              <a:srgbClr val="2E86DE">
                <a:alpha val="3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644783" y="403384"/>
              <a:ext cx="33218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Output</a:t>
              </a:r>
              <a:endParaRPr lang="zh-CN" sz="6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6629400" y="2762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7296150" y="27622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8010525" y="27622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8724900" y="27622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9439275" y="27622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953750" y="180975"/>
              <a:ext cx="571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D5D8DC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1020425" y="238125"/>
              <a:ext cx="57150" cy="57150"/>
            </a:xfrm>
            <a:prstGeom prst="ellipse">
              <a:avLst/>
            </a:prstGeom>
            <a:solidFill>
              <a:srgbClr val="E8B93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118532" y="238601"/>
              <a:ext cx="24436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Ellipse 42"/>
            <p:cNvSpPr/>
            <p:nvPr/>
          </p:nvSpPr>
          <p:spPr>
            <a:xfrm>
              <a:off x="11020425" y="352425"/>
              <a:ext cx="57150" cy="57150"/>
            </a:xfrm>
            <a:prstGeom prst="ellipse">
              <a:avLst/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118532" y="352901"/>
              <a:ext cx="16735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1500" y="1238250"/>
            <a:ext cx="5334000" cy="247650"/>
            <a:chOff x="571500" y="1238250"/>
            <a:chExt cx="5334000" cy="247650"/>
          </a:xfrm>
        </p:grpSpPr>
        <p:sp>
          <p:nvSpPr>
            <p:cNvPr id="45" name="Rectangle 45"/>
            <p:cNvSpPr/>
            <p:nvPr/>
          </p:nvSpPr>
          <p:spPr>
            <a:xfrm>
              <a:off x="571500" y="1238250"/>
              <a:ext cx="762000" cy="228600"/>
            </a:xfrm>
            <a:prstGeom prst="roundRect">
              <a:avLst>
                <a:gd name="adj" fmla="val 50000"/>
              </a:avLst>
            </a:prstGeom>
            <a:solidFill>
              <a:srgbClr val="E8B931">
                <a:alpha val="20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3144" y="1303020"/>
              <a:ext cx="4387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B93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900" b="1" dirty="0">
                <a:solidFill>
                  <a:srgbClr val="E8B93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0" y="1238250"/>
              <a:ext cx="571500" cy="228600"/>
            </a:xfrm>
            <a:prstGeom prst="roundRect">
              <a:avLst>
                <a:gd name="adj" fmla="val 50000"/>
              </a:avLst>
            </a:prstGeom>
            <a:solidFill>
              <a:srgbClr val="2E86DE">
                <a:alpha val="20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469703" y="1303020"/>
              <a:ext cx="3000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86D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900" b="1" dirty="0">
                <a:solidFill>
                  <a:srgbClr val="2E86D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2190750" y="1409700"/>
            <a:ext cx="8334375" cy="2400301"/>
            <a:chOff x="2190750" y="1409700"/>
            <a:chExt cx="8334375" cy="2400301"/>
          </a:xfrm>
        </p:grpSpPr>
        <p:sp>
          <p:nvSpPr>
            <p:cNvPr id="50" name="Line 50"/>
            <p:cNvSpPr/>
            <p:nvPr/>
          </p:nvSpPr>
          <p:spPr>
            <a:xfrm>
              <a:off x="2190750" y="2381250"/>
              <a:ext cx="523875" cy="1"/>
            </a:xfrm>
            <a:prstGeom prst="line">
              <a:avLst/>
            </a:prstGeom>
            <a:noFill/>
            <a:ln w="28575">
              <a:solidFill>
                <a:srgbClr val="2E86DE"/>
              </a:solidFill>
              <a:tailEnd type="triangle" w="lg" len="lg"/>
            </a:ln>
          </p:spPr>
        </p:sp>
        <p:sp>
          <p:nvSpPr>
            <p:cNvPr id="51" name="Line 51"/>
            <p:cNvSpPr/>
            <p:nvPr/>
          </p:nvSpPr>
          <p:spPr>
            <a:xfrm>
              <a:off x="4762500" y="2381250"/>
              <a:ext cx="714375" cy="1"/>
            </a:xfrm>
            <a:prstGeom prst="line">
              <a:avLst/>
            </a:prstGeom>
            <a:noFill/>
            <a:ln w="28575">
              <a:solidFill>
                <a:srgbClr val="2E86DE"/>
              </a:solidFill>
              <a:tailEnd type="triangle" w="lg" len="lg"/>
            </a:ln>
          </p:spPr>
        </p:sp>
        <p:sp>
          <p:nvSpPr>
            <p:cNvPr id="52" name="Line 52"/>
            <p:cNvSpPr/>
            <p:nvPr/>
          </p:nvSpPr>
          <p:spPr>
            <a:xfrm>
              <a:off x="7715250" y="2381250"/>
              <a:ext cx="523875" cy="1"/>
            </a:xfrm>
            <a:prstGeom prst="line">
              <a:avLst/>
            </a:prstGeom>
            <a:noFill/>
            <a:ln w="28575">
              <a:solidFill>
                <a:srgbClr val="2E86DE"/>
              </a:solidFill>
              <a:tailEnd type="triangle" w="lg" len="lg"/>
            </a:ln>
          </p:spPr>
        </p:sp>
        <p:sp>
          <p:nvSpPr>
            <p:cNvPr id="53" name="Line 53"/>
            <p:cNvSpPr/>
            <p:nvPr/>
          </p:nvSpPr>
          <p:spPr>
            <a:xfrm>
              <a:off x="9144000" y="2762250"/>
              <a:ext cx="1" cy="809625"/>
            </a:xfrm>
            <a:prstGeom prst="line">
              <a:avLst/>
            </a:prstGeom>
            <a:noFill/>
            <a:ln w="28575">
              <a:solidFill>
                <a:srgbClr val="27AE60"/>
              </a:solidFill>
              <a:tailEnd type="triangle" w="lg" len="lg"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953500" y="2952750"/>
              <a:ext cx="381000" cy="20955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056533" y="29998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No</a:t>
              </a:r>
              <a:endParaRPr lang="zh-CN" sz="975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Line 56"/>
            <p:cNvSpPr/>
            <p:nvPr/>
          </p:nvSpPr>
          <p:spPr>
            <a:xfrm>
              <a:off x="10096500" y="3810000"/>
              <a:ext cx="428625" cy="1"/>
            </a:xfrm>
            <a:prstGeom prst="line">
              <a:avLst/>
            </a:prstGeom>
            <a:noFill/>
            <a:ln w="28575">
              <a:solidFill>
                <a:srgbClr val="2E86DE"/>
              </a:solidFill>
              <a:tailEnd type="triangle" w="lg" len="lg"/>
            </a:ln>
          </p:spPr>
        </p:sp>
        <p:sp>
          <p:nvSpPr>
            <p:cNvPr id="57" name="Line 57"/>
            <p:cNvSpPr/>
            <p:nvPr/>
          </p:nvSpPr>
          <p:spPr>
            <a:xfrm>
              <a:off x="8667750" y="161925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E8B931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3714750" y="1619250"/>
              <a:ext cx="4953000" cy="381000"/>
            </a:xfrm>
            <a:custGeom>
              <a:avLst/>
              <a:gdLst/>
              <a:ahLst/>
              <a:cxnLst/>
              <a:rect l="l" t="t" r="r" b="b"/>
              <a:pathLst>
                <a:path w="4953000" h="381000">
                  <a:moveTo>
                    <a:pt x="4953000" y="0"/>
                  </a:moveTo>
                  <a:lnTo>
                    <a:pt x="0" y="0"/>
                  </a:lnTo>
                  <a:lnTo>
                    <a:pt x="0" y="381000"/>
                  </a:lnTo>
                </a:path>
              </a:pathLst>
            </a:custGeom>
            <a:noFill/>
            <a:ln w="28575">
              <a:solidFill>
                <a:srgbClr val="E8B931"/>
              </a:solidFill>
              <a:prstDash val="lgDash"/>
              <a:tailEnd type="triangle" w="lg" len="lg"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905500" y="1409700"/>
              <a:ext cx="381000" cy="20955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70991" y="1456849"/>
              <a:ext cx="2500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B93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Yes</a:t>
              </a:r>
              <a:endParaRPr lang="zh-CN" sz="975" b="1" dirty="0">
                <a:solidFill>
                  <a:srgbClr val="E8B93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71500" y="2000250"/>
            <a:ext cx="1619250" cy="762000"/>
            <a:chOff x="571500" y="2000250"/>
            <a:chExt cx="1619250" cy="762000"/>
          </a:xfrm>
        </p:grpSpPr>
        <p:sp>
          <p:nvSpPr>
            <p:cNvPr id="62" name="Rectangle 62"/>
            <p:cNvSpPr/>
            <p:nvPr/>
          </p:nvSpPr>
          <p:spPr>
            <a:xfrm>
              <a:off x="571500" y="2000250"/>
              <a:ext cx="1619250" cy="762000"/>
            </a:xfrm>
            <a:prstGeom prst="roundRect">
              <a:avLst>
                <a:gd name="adj" fmla="val 50000"/>
              </a:avLst>
            </a:prstGeom>
            <a:solidFill>
              <a:srgbClr val="1A3C6E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63" name="TextBox 63"/>
            <p:cNvSpPr txBox="1"/>
            <p:nvPr/>
          </p:nvSpPr>
          <p:spPr>
            <a:xfrm>
              <a:off x="1155859" y="2232660"/>
              <a:ext cx="4505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09650" y="24745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自然语言文本</a:t>
              </a:r>
              <a:endParaRPr lang="zh-CN" sz="900" dirty="0">
                <a:solidFill>
                  <a:srgbClr val="FFFFFF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2762250" y="1905000"/>
            <a:ext cx="2000250" cy="952500"/>
            <a:chOff x="2762250" y="1905000"/>
            <a:chExt cx="2000250" cy="952500"/>
          </a:xfrm>
        </p:grpSpPr>
        <p:sp>
          <p:nvSpPr>
            <p:cNvPr id="66" name="Rectangle 66"/>
            <p:cNvSpPr/>
            <p:nvPr/>
          </p:nvSpPr>
          <p:spPr>
            <a:xfrm>
              <a:off x="2762250" y="1905000"/>
              <a:ext cx="2000250" cy="952500"/>
            </a:xfrm>
            <a:prstGeom prst="roundRect">
              <a:avLst>
                <a:gd name="adj" fmla="val 10000"/>
              </a:avLst>
            </a:prstGeom>
            <a:solidFill>
              <a:srgbClr val="E8B931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67" name="Rectangle 67"/>
            <p:cNvSpPr/>
            <p:nvPr/>
          </p:nvSpPr>
          <p:spPr>
            <a:xfrm>
              <a:off x="2762250" y="1905000"/>
              <a:ext cx="2000250" cy="57150"/>
            </a:xfrm>
            <a:prstGeom prst="roundRect">
              <a:avLst>
                <a:gd name="adj" fmla="val 50000"/>
              </a:avLst>
            </a:prstGeom>
            <a:solidFill>
              <a:srgbClr val="D4A017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112428" y="2148364"/>
              <a:ext cx="129989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LLM Generator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976396" y="2390299"/>
              <a:ext cx="15719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Qwen 2.5 · JSON Schema</a:t>
              </a:r>
              <a:endParaRPr lang="zh-CN" sz="975" dirty="0">
                <a:solidFill>
                  <a:srgbClr val="FFFFFF">
                    <a:alphaMod val="8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270885" y="25888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结构化因果图提取</a:t>
              </a:r>
              <a:endParaRPr lang="zh-CN" sz="900" dirty="0">
                <a:solidFill>
                  <a:srgbClr val="FFFFFF">
                    <a:alphaMod val="7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524500" y="1809750"/>
            <a:ext cx="2190750" cy="1143000"/>
            <a:chOff x="5524500" y="1809750"/>
            <a:chExt cx="2190750" cy="1143000"/>
          </a:xfrm>
        </p:grpSpPr>
        <p:sp>
          <p:nvSpPr>
            <p:cNvPr id="72" name="Rectangle 72"/>
            <p:cNvSpPr/>
            <p:nvPr/>
          </p:nvSpPr>
          <p:spPr>
            <a:xfrm>
              <a:off x="5524500" y="1809750"/>
              <a:ext cx="2190750" cy="1143000"/>
            </a:xfrm>
            <a:prstGeom prst="roundRect">
              <a:avLst>
                <a:gd name="adj" fmla="val 8333"/>
              </a:avLst>
            </a:prstGeom>
            <a:solidFill>
              <a:srgbClr val="2E86DE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73" name="Rectangle 73"/>
            <p:cNvSpPr/>
            <p:nvPr/>
          </p:nvSpPr>
          <p:spPr>
            <a:xfrm>
              <a:off x="5524500" y="1809750"/>
              <a:ext cx="2190750" cy="57150"/>
            </a:xfrm>
            <a:prstGeom prst="roundRect">
              <a:avLst>
                <a:gd name="adj" fmla="val 50000"/>
              </a:avLst>
            </a:prstGeom>
            <a:solidFill>
              <a:srgbClr val="1A6BC4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791406" y="2034064"/>
              <a:ext cx="165693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 Formal Engine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048423" y="2295049"/>
              <a:ext cx="11429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Kahn Cycle Detect</a:t>
              </a:r>
              <a:endParaRPr lang="zh-CN" sz="975" dirty="0">
                <a:solidFill>
                  <a:srgbClr val="FFFFFF">
                    <a:alphaMod val="8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009418" y="2466499"/>
              <a:ext cx="12209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Bayesian Ball d-Sep</a:t>
              </a:r>
              <a:endParaRPr lang="zh-CN" sz="975" dirty="0">
                <a:solidFill>
                  <a:srgbClr val="FFFFFF">
                    <a:alphaMod val="8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142684" y="263794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FMEA RPN Alert</a:t>
              </a:r>
              <a:endParaRPr lang="zh-CN" sz="975" dirty="0">
                <a:solidFill>
                  <a:srgbClr val="FFFFFF">
                    <a:alphaMod val="8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667750" y="2000250"/>
            <a:ext cx="952500" cy="762000"/>
            <a:chOff x="8667750" y="2000250"/>
            <a:chExt cx="952500" cy="762000"/>
          </a:xfrm>
        </p:grpSpPr>
        <p:sp>
          <p:nvSpPr>
            <p:cNvPr id="79" name="Freeform 79"/>
            <p:cNvSpPr/>
            <p:nvPr/>
          </p:nvSpPr>
          <p:spPr>
            <a:xfrm>
              <a:off x="8667750" y="2000250"/>
              <a:ext cx="952500" cy="762000"/>
            </a:xfrm>
            <a:custGeom>
              <a:avLst/>
              <a:gdLst/>
              <a:ahLst/>
              <a:cxnLst/>
              <a:rect l="l" t="t" r="r" b="b"/>
              <a:pathLst>
                <a:path w="952500" h="762000">
                  <a:moveTo>
                    <a:pt x="476250" y="0"/>
                  </a:moveTo>
                  <a:lnTo>
                    <a:pt x="952500" y="381000"/>
                  </a:lnTo>
                  <a:lnTo>
                    <a:pt x="476250" y="762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E74C3C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80" name="TextBox 80"/>
            <p:cNvSpPr txBox="1"/>
            <p:nvPr/>
          </p:nvSpPr>
          <p:spPr>
            <a:xfrm>
              <a:off x="8821926" y="2239328"/>
              <a:ext cx="6441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Violation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099566" y="2407920"/>
              <a:ext cx="888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?</a:t>
              </a:r>
              <a:endParaRPr lang="zh-CN" sz="900" dirty="0">
                <a:solidFill>
                  <a:srgbClr val="FFFFFF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477250" y="3619500"/>
            <a:ext cx="1619250" cy="762000"/>
            <a:chOff x="8477250" y="3619500"/>
            <a:chExt cx="1619250" cy="762000"/>
          </a:xfrm>
        </p:grpSpPr>
        <p:sp>
          <p:nvSpPr>
            <p:cNvPr id="83" name="Rectangle 83"/>
            <p:cNvSpPr/>
            <p:nvPr/>
          </p:nvSpPr>
          <p:spPr>
            <a:xfrm>
              <a:off x="8477250" y="3619500"/>
              <a:ext cx="1619250" cy="762000"/>
            </a:xfrm>
            <a:prstGeom prst="roundRect">
              <a:avLst>
                <a:gd name="adj" fmla="val 12500"/>
              </a:avLst>
            </a:prstGeom>
            <a:solidFill>
              <a:srgbClr val="27AE60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84" name="Rectangle 84"/>
            <p:cNvSpPr/>
            <p:nvPr/>
          </p:nvSpPr>
          <p:spPr>
            <a:xfrm>
              <a:off x="8477250" y="3619500"/>
              <a:ext cx="1619250" cy="57150"/>
            </a:xfrm>
            <a:prstGeom prst="roundRect">
              <a:avLst>
                <a:gd name="adj" fmla="val 50000"/>
              </a:avLst>
            </a:prstGeom>
            <a:solidFill>
              <a:srgbClr val="1E8C4E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902416" y="3860006"/>
              <a:ext cx="7689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Reflector</a:t>
              </a:r>
              <a:endParaRPr lang="zh-CN" sz="1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906399" y="4093845"/>
              <a:ext cx="7609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LLM 常识判断</a:t>
              </a:r>
              <a:endParaRPr lang="zh-CN" sz="900" dirty="0">
                <a:solidFill>
                  <a:srgbClr val="FFFFFF">
                    <a:alphaMod val="8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0572750" y="3429000"/>
            <a:ext cx="1428750" cy="1143000"/>
            <a:chOff x="10572750" y="3429000"/>
            <a:chExt cx="1428750" cy="1143000"/>
          </a:xfrm>
        </p:grpSpPr>
        <p:sp>
          <p:nvSpPr>
            <p:cNvPr id="88" name="Rectangle 88"/>
            <p:cNvSpPr/>
            <p:nvPr/>
          </p:nvSpPr>
          <p:spPr>
            <a:xfrm>
              <a:off x="10572750" y="3429000"/>
              <a:ext cx="1428750" cy="1143000"/>
            </a:xfrm>
            <a:prstGeom prst="roundRect">
              <a:avLst>
                <a:gd name="adj" fmla="val 8333"/>
              </a:avLst>
            </a:prstGeom>
            <a:solidFill>
              <a:srgbClr val="1A3C6E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89" name="Rectangle 89"/>
            <p:cNvSpPr/>
            <p:nvPr/>
          </p:nvSpPr>
          <p:spPr>
            <a:xfrm>
              <a:off x="10572750" y="3429000"/>
              <a:ext cx="1428750" cy="57150"/>
            </a:xfrm>
            <a:prstGeom prst="roundRect">
              <a:avLst>
                <a:gd name="adj" fmla="val 50000"/>
              </a:avLst>
            </a:prstGeom>
            <a:solidFill>
              <a:srgbClr val="0F2445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0997178" y="3736181"/>
              <a:ext cx="5798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Output</a:t>
              </a:r>
              <a:endParaRPr lang="zh-CN" sz="1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909649" y="3979545"/>
              <a:ext cx="7549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Causal Graph</a:t>
              </a:r>
              <a:endParaRPr lang="zh-CN" sz="900" dirty="0">
                <a:solidFill>
                  <a:srgbClr val="FFFFFF">
                    <a:alphaMod val="8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864644" y="4170045"/>
              <a:ext cx="844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+ FMEA Report</a:t>
              </a:r>
              <a:endParaRPr lang="zh-CN" sz="900" dirty="0">
                <a:solidFill>
                  <a:srgbClr val="FFFFFF">
                    <a:alphaMod val="8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954857" y="4368641"/>
              <a:ext cx="6645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>
                      <a:alphaMod val="6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Verified DAG</a:t>
              </a:r>
              <a:endParaRPr lang="zh-CN" sz="825" dirty="0">
                <a:solidFill>
                  <a:srgbClr val="FFFFFF">
                    <a:alphaMod val="6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3714750" y="1295400"/>
            <a:ext cx="1905000" cy="273844"/>
            <a:chOff x="3714750" y="1295400"/>
            <a:chExt cx="1905000" cy="273844"/>
          </a:xfrm>
        </p:grpSpPr>
        <p:sp>
          <p:nvSpPr>
            <p:cNvPr id="95" name="Rectangle 95"/>
            <p:cNvSpPr/>
            <p:nvPr/>
          </p:nvSpPr>
          <p:spPr>
            <a:xfrm>
              <a:off x="3714750" y="1295400"/>
              <a:ext cx="1905000" cy="266700"/>
            </a:xfrm>
            <a:prstGeom prst="roundRect">
              <a:avLst>
                <a:gd name="adj" fmla="val 50000"/>
              </a:avLst>
            </a:prstGeom>
            <a:solidFill>
              <a:srgbClr val="E8B931">
                <a:alpha val="15000"/>
              </a:srgbClr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3962043" y="1371124"/>
              <a:ext cx="14104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B93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反思循环（最多 5 轮）</a:t>
              </a:r>
              <a:endParaRPr lang="zh-CN" sz="975" b="1" dirty="0">
                <a:solidFill>
                  <a:srgbClr val="E8B93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5524500" y="3238500"/>
            <a:ext cx="2190750" cy="666750"/>
            <a:chOff x="5524500" y="3238500"/>
            <a:chExt cx="2190750" cy="666750"/>
          </a:xfrm>
        </p:grpSpPr>
        <p:sp>
          <p:nvSpPr>
            <p:cNvPr id="98" name="Rectangle 98"/>
            <p:cNvSpPr/>
            <p:nvPr/>
          </p:nvSpPr>
          <p:spPr>
            <a:xfrm>
              <a:off x="5524500" y="3238500"/>
              <a:ext cx="2190750" cy="666750"/>
            </a:xfrm>
            <a:prstGeom prst="roundRect">
              <a:avLst>
                <a:gd name="adj" fmla="val 11429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266200" y="3371374"/>
              <a:ext cx="7073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CausalEdge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5864352" y="3598545"/>
              <a:ext cx="15110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3C6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{cause, effect, S, O, D}</a:t>
              </a:r>
              <a:endParaRPr lang="zh-CN" sz="900" dirty="0">
                <a:solidFill>
                  <a:srgbClr val="1A3C6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560070" y="6522720"/>
            <a:ext cx="11071860" cy="182880"/>
            <a:chOff x="560070" y="6522720"/>
            <a:chExt cx="11071860" cy="182880"/>
          </a:xfrm>
        </p:grpSpPr>
        <p:sp>
          <p:nvSpPr>
            <p:cNvPr id="102" name="TextBox 102"/>
            <p:cNvSpPr txBox="1"/>
            <p:nvPr/>
          </p:nvSpPr>
          <p:spPr>
            <a:xfrm>
              <a:off x="560070" y="652272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05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0954988" y="6522720"/>
              <a:ext cx="6769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EdgeThemis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9" grpId="0"/>
      <p:bldP spid="61" grpId="0"/>
      <p:bldP spid="65" grpId="0"/>
      <p:bldP spid="71" grpId="0"/>
      <p:bldP spid="78" grpId="0"/>
      <p:bldP spid="82" grpId="0"/>
      <p:bldP spid="87" grpId="0"/>
      <p:bldP spid="94" grpId="0"/>
      <p:bldP spid="97" grpId="0"/>
      <p:bldP spid="10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85750"/>
            <a:ext cx="11049000" cy="561975"/>
            <a:chOff x="571500" y="285750"/>
            <a:chExt cx="11049000" cy="561975"/>
          </a:xfrm>
        </p:grpSpPr>
        <p:sp>
          <p:nvSpPr>
            <p:cNvPr id="3" name="Rectangle 3"/>
            <p:cNvSpPr/>
            <p:nvPr/>
          </p:nvSpPr>
          <p:spPr>
            <a:xfrm>
              <a:off x="571500" y="285750"/>
              <a:ext cx="47625" cy="304800"/>
            </a:xfrm>
            <a:prstGeom prst="roundRect">
              <a:avLst>
                <a:gd name="adj" fmla="val 4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6280" y="306705"/>
              <a:ext cx="458150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Generator 节点：LLM 结构化提取</a:t>
              </a:r>
              <a:endParaRPr lang="zh-CN" sz="21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610552"/>
              <a:ext cx="36181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Structured Causal Graph Extraction via JSON Schema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38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619750" y="133350"/>
            <a:ext cx="6572250" cy="433388"/>
            <a:chOff x="5619750" y="133350"/>
            <a:chExt cx="6572250" cy="433388"/>
          </a:xfrm>
        </p:grpSpPr>
        <p:sp>
          <p:nvSpPr>
            <p:cNvPr id="8" name="Rectangle 8"/>
            <p:cNvSpPr/>
            <p:nvPr/>
          </p:nvSpPr>
          <p:spPr>
            <a:xfrm>
              <a:off x="5619750" y="133350"/>
              <a:ext cx="6096000" cy="400050"/>
            </a:xfrm>
            <a:prstGeom prst="roundRect">
              <a:avLst>
                <a:gd name="adj" fmla="val 1428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5848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11322" y="438626"/>
              <a:ext cx="188357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Ellipse 11"/>
            <p:cNvSpPr/>
            <p:nvPr/>
          </p:nvSpPr>
          <p:spPr>
            <a:xfrm>
              <a:off x="6572250" y="171450"/>
              <a:ext cx="190500" cy="190500"/>
            </a:xfrm>
            <a:prstGeom prst="ellipse">
              <a:avLst/>
            </a:prstGeom>
            <a:solidFill>
              <a:srgbClr val="E8B93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98068" y="414338"/>
              <a:ext cx="53886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E8B93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Generator</a:t>
              </a:r>
              <a:endParaRPr lang="zh-CN" sz="750" b="1" dirty="0">
                <a:solidFill>
                  <a:srgbClr val="E8B93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Ellipse 13"/>
            <p:cNvSpPr/>
            <p:nvPr/>
          </p:nvSpPr>
          <p:spPr>
            <a:xfrm>
              <a:off x="7372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67063" y="438626"/>
              <a:ext cx="32487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Interning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818197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57436" y="438626"/>
              <a:ext cx="363379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Kahn Cycle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903922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67430" y="438626"/>
              <a:ext cx="457891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d-Separation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9848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47063" y="438626"/>
              <a:ext cx="317873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FMEA RPN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Ellipse 21"/>
            <p:cNvSpPr/>
            <p:nvPr/>
          </p:nvSpPr>
          <p:spPr>
            <a:xfrm>
              <a:off x="10610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96812" y="438626"/>
              <a:ext cx="34237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Reflector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1132522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53192" y="438626"/>
              <a:ext cx="25836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Output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6000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762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524750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334375" y="2667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91625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00012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0763250" y="26670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1620500" y="180975"/>
              <a:ext cx="571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D5D8DC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1687175" y="238125"/>
              <a:ext cx="57150" cy="57150"/>
            </a:xfrm>
            <a:prstGeom prst="ellipse">
              <a:avLst/>
            </a:prstGeom>
            <a:solidFill>
              <a:srgbClr val="E8B93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785282" y="238601"/>
              <a:ext cx="24436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Ellipse 35"/>
            <p:cNvSpPr/>
            <p:nvPr/>
          </p:nvSpPr>
          <p:spPr>
            <a:xfrm>
              <a:off x="11687175" y="352425"/>
              <a:ext cx="57150" cy="57150"/>
            </a:xfrm>
            <a:prstGeom prst="ellipse">
              <a:avLst/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785282" y="352901"/>
              <a:ext cx="16735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71500" y="1000125"/>
            <a:ext cx="5334000" cy="2857500"/>
            <a:chOff x="571500" y="1000125"/>
            <a:chExt cx="5334000" cy="2857500"/>
          </a:xfrm>
          <a:effectLst>
            <a:outerShdw blurRad="76200" dist="19050" dir="5400000" algn="ctr" rotWithShape="0">
              <a:srgbClr val="000000">
                <a:alpha val="4500"/>
              </a:srgbClr>
            </a:outerShdw>
          </a:effectLst>
        </p:grpSpPr>
        <p:sp>
          <p:nvSpPr>
            <p:cNvPr id="38" name="Rectangle 38"/>
            <p:cNvSpPr/>
            <p:nvPr/>
          </p:nvSpPr>
          <p:spPr>
            <a:xfrm>
              <a:off x="571500" y="1000125"/>
              <a:ext cx="5334000" cy="2857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9" name="Rectangle 39"/>
            <p:cNvSpPr/>
            <p:nvPr/>
          </p:nvSpPr>
          <p:spPr>
            <a:xfrm>
              <a:off x="571500" y="1000125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E8B931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40" name="TextBox 40"/>
            <p:cNvSpPr txBox="1"/>
            <p:nvPr/>
          </p:nvSpPr>
          <p:spPr>
            <a:xfrm>
              <a:off x="744855" y="1187768"/>
              <a:ext cx="790384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工作流程</a:t>
              </a:r>
              <a:endParaRPr lang="zh-CN" sz="135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8665" y="1505902"/>
              <a:ext cx="1622870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1. 接收自然语言文本输入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8665" y="1753552"/>
              <a:ext cx="2553986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2. 通过</a:t>
              </a:r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JSON Schema</a:t>
              </a:r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约束 LLM 输出格式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8665" y="2001202"/>
              <a:ext cx="1937909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3. 强制输出</a:t>
              </a:r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CausalEdge</a:t>
              </a:r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结构：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0118" y="2256949"/>
              <a:ext cx="235855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E86D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{cause, effect, S, O, D, reasoning}</a:t>
              </a:r>
              <a:endParaRPr lang="zh-CN" sz="975" dirty="0">
                <a:solidFill>
                  <a:srgbClr val="2E86D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8665" y="2534602"/>
              <a:ext cx="3030045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4. 同时输出</a:t>
              </a:r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reasoning_process</a:t>
              </a:r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（CoT 推理链）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8665" y="2782252"/>
              <a:ext cx="2623995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5. Pydantic 模型校验：ExtractedGraph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8665" y="3029902"/>
              <a:ext cx="3142059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6. 模型：</a:t>
              </a:r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Qwen 2.5-3B</a:t>
              </a:r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(Q4 量化, 4096 tokens)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9618" y="3323749"/>
              <a:ext cx="3470196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OpenAI-compatible API · llama-server · localhost:8080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9618" y="3590449"/>
              <a:ext cx="2995636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 层 · nodes.py → generate_graph_node()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096000" y="1000125"/>
            <a:ext cx="5524500" cy="2857500"/>
            <a:chOff x="6096000" y="1000125"/>
            <a:chExt cx="5524500" cy="2857500"/>
          </a:xfrm>
          <a:effectLst>
            <a:outerShdw blurRad="76200" dist="19050" dir="5400000" algn="ctr" rotWithShape="0">
              <a:srgbClr val="000000">
                <a:alpha val="4500"/>
              </a:srgbClr>
            </a:outerShdw>
          </a:effectLst>
        </p:grpSpPr>
        <p:sp>
          <p:nvSpPr>
            <p:cNvPr id="51" name="Rectangle 51"/>
            <p:cNvSpPr/>
            <p:nvPr/>
          </p:nvSpPr>
          <p:spPr>
            <a:xfrm>
              <a:off x="6096000" y="1000125"/>
              <a:ext cx="5524500" cy="2857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52" name="Rectangle 52"/>
            <p:cNvSpPr/>
            <p:nvPr/>
          </p:nvSpPr>
          <p:spPr>
            <a:xfrm>
              <a:off x="6096000" y="1000125"/>
              <a:ext cx="5524500" cy="57150"/>
            </a:xfrm>
            <a:prstGeom prst="roundRect">
              <a:avLst>
                <a:gd name="adj" fmla="val 50000"/>
              </a:avLst>
            </a:prstGeom>
            <a:solidFill>
              <a:srgbClr val="2E86DE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53" name="TextBox 53"/>
            <p:cNvSpPr txBox="1"/>
            <p:nvPr/>
          </p:nvSpPr>
          <p:spPr>
            <a:xfrm>
              <a:off x="6269355" y="1187768"/>
              <a:ext cx="1357455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输出 JSON 示例</a:t>
              </a:r>
              <a:endParaRPr lang="zh-CN" sz="135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75070" y="1522095"/>
              <a:ext cx="88868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{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65570" y="1712595"/>
              <a:ext cx="652939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"edges": [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56070" y="1903095"/>
              <a:ext cx="88868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{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46570" y="2093595"/>
              <a:ext cx="1199007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86D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"cause": "消毒外包"</a:t>
              </a:r>
              <a:endParaRPr lang="zh-CN" sz="900" dirty="0">
                <a:solidFill>
                  <a:srgbClr val="2E86D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46570" y="2284095"/>
              <a:ext cx="1265015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86D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"effect": "术后感染"</a:t>
              </a:r>
              <a:endParaRPr lang="zh-CN" sz="900" dirty="0">
                <a:solidFill>
                  <a:srgbClr val="2E86D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846570" y="2474595"/>
              <a:ext cx="1349026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B93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"S": 9, "O": 4, "D": 6</a:t>
              </a:r>
              <a:endParaRPr lang="zh-CN" sz="900" dirty="0">
                <a:solidFill>
                  <a:srgbClr val="E8B93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46570" y="2665095"/>
              <a:ext cx="1151001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"reasoning": "..."</a:t>
              </a:r>
              <a:endParaRPr lang="zh-CN" sz="900" dirty="0">
                <a:solidFill>
                  <a:srgbClr val="7F8C8D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56070" y="2855595"/>
              <a:ext cx="154877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}]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65570" y="3046095"/>
              <a:ext cx="1745075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"reasoning_process": "...",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65570" y="3236595"/>
              <a:ext cx="916972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"nodes": [...]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75070" y="3522345"/>
              <a:ext cx="88868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}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71500" y="4000500"/>
            <a:ext cx="11049000" cy="550069"/>
            <a:chOff x="571500" y="4000500"/>
            <a:chExt cx="11049000" cy="550069"/>
          </a:xfrm>
        </p:grpSpPr>
        <p:sp>
          <p:nvSpPr>
            <p:cNvPr id="66" name="Rectangle 66"/>
            <p:cNvSpPr/>
            <p:nvPr/>
          </p:nvSpPr>
          <p:spPr>
            <a:xfrm>
              <a:off x="571500" y="4000500"/>
              <a:ext cx="11049000" cy="523875"/>
            </a:xfrm>
            <a:prstGeom prst="roundRect">
              <a:avLst>
                <a:gd name="adj" fmla="val 14545"/>
              </a:avLst>
            </a:prstGeom>
            <a:solidFill>
              <a:srgbClr val="E8B931">
                <a:alpha val="8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48665" y="4153852"/>
              <a:ext cx="74615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关键设计：</a:t>
              </a:r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JSON Schema 约束确保 LLM 输出可被 Rust 引擎直接解析，无需后处理。Pydantic 校验在 Python 层兜底。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49618" y="4352449"/>
              <a:ext cx="62525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agent_state_machine.py 定义 CausalEdge / ExtractedGraph / ReflectorVerdict / CausalAgentState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560070" y="6522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06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10954988" y="6522720"/>
            <a:ext cx="676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EdgeThemis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50" grpId="0"/>
      <p:bldP spid="65" grpId="0"/>
      <p:bldP spid="6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85750"/>
            <a:ext cx="11049000" cy="561975"/>
            <a:chOff x="571500" y="285750"/>
            <a:chExt cx="11049000" cy="561975"/>
          </a:xfrm>
        </p:grpSpPr>
        <p:sp>
          <p:nvSpPr>
            <p:cNvPr id="3" name="Rectangle 3"/>
            <p:cNvSpPr/>
            <p:nvPr/>
          </p:nvSpPr>
          <p:spPr>
            <a:xfrm>
              <a:off x="571500" y="285750"/>
              <a:ext cx="47625" cy="304800"/>
            </a:xfrm>
            <a:prstGeom prst="roundRect">
              <a:avLst>
                <a:gd name="adj" fmla="val 4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6280" y="306705"/>
              <a:ext cx="446389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字符串驻留池：名称→整数 ID 映射</a:t>
              </a:r>
              <a:endParaRPr lang="zh-CN" sz="21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610552"/>
              <a:ext cx="25889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String Interning: O(1) Node ID Lookup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38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619750" y="133350"/>
            <a:ext cx="6572250" cy="433388"/>
            <a:chOff x="5619750" y="133350"/>
            <a:chExt cx="6572250" cy="433388"/>
          </a:xfrm>
        </p:grpSpPr>
        <p:sp>
          <p:nvSpPr>
            <p:cNvPr id="8" name="Rectangle 8"/>
            <p:cNvSpPr/>
            <p:nvPr/>
          </p:nvSpPr>
          <p:spPr>
            <a:xfrm>
              <a:off x="5619750" y="133350"/>
              <a:ext cx="6096000" cy="400050"/>
            </a:xfrm>
            <a:prstGeom prst="roundRect">
              <a:avLst>
                <a:gd name="adj" fmla="val 1428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5848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11322" y="438626"/>
              <a:ext cx="188357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Ellipse 11"/>
            <p:cNvSpPr/>
            <p:nvPr/>
          </p:nvSpPr>
          <p:spPr>
            <a:xfrm>
              <a:off x="6610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87561" y="438626"/>
              <a:ext cx="359878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Generator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Ellipse 13"/>
            <p:cNvSpPr/>
            <p:nvPr/>
          </p:nvSpPr>
          <p:spPr>
            <a:xfrm>
              <a:off x="7334250" y="171450"/>
              <a:ext cx="190500" cy="190500"/>
            </a:xfrm>
            <a:prstGeom prst="ellipse">
              <a:avLst/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86321" y="414338"/>
              <a:ext cx="48635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2E86D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Interning</a:t>
              </a:r>
              <a:endParaRPr lang="zh-CN" sz="750" b="1" dirty="0">
                <a:solidFill>
                  <a:srgbClr val="2E86D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818197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57436" y="438626"/>
              <a:ext cx="363379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Kahn Cycle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903922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67430" y="438626"/>
              <a:ext cx="457891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d-Separation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9848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47063" y="438626"/>
              <a:ext cx="317873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FMEA RPN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Ellipse 21"/>
            <p:cNvSpPr/>
            <p:nvPr/>
          </p:nvSpPr>
          <p:spPr>
            <a:xfrm>
              <a:off x="10610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96812" y="438626"/>
              <a:ext cx="34237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Reflector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1132522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53192" y="438626"/>
              <a:ext cx="25836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Output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6000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762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524750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334375" y="2667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91625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00012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0763250" y="26670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1620500" y="180975"/>
              <a:ext cx="571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D5D8DC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1687175" y="238125"/>
              <a:ext cx="57150" cy="57150"/>
            </a:xfrm>
            <a:prstGeom prst="ellipse">
              <a:avLst/>
            </a:prstGeom>
            <a:solidFill>
              <a:srgbClr val="E8B93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785282" y="238601"/>
              <a:ext cx="24436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Ellipse 35"/>
            <p:cNvSpPr/>
            <p:nvPr/>
          </p:nvSpPr>
          <p:spPr>
            <a:xfrm>
              <a:off x="11687175" y="352425"/>
              <a:ext cx="57150" cy="57150"/>
            </a:xfrm>
            <a:prstGeom prst="ellipse">
              <a:avLst/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785282" y="352901"/>
              <a:ext cx="16735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1000125"/>
            <a:ext cx="5334000" cy="2381250"/>
            <a:chOff x="571500" y="1000125"/>
            <a:chExt cx="5334000" cy="2381250"/>
          </a:xfrm>
          <a:effectLst>
            <a:outerShdw blurRad="76200" dist="19050" dir="5400000" algn="ctr" rotWithShape="0">
              <a:srgbClr val="000000">
                <a:alpha val="4500"/>
              </a:srgbClr>
            </a:outerShdw>
          </a:effectLst>
        </p:grpSpPr>
        <p:sp>
          <p:nvSpPr>
            <p:cNvPr id="38" name="Rectangle 38"/>
            <p:cNvSpPr/>
            <p:nvPr/>
          </p:nvSpPr>
          <p:spPr>
            <a:xfrm>
              <a:off x="571500" y="1000125"/>
              <a:ext cx="5334000" cy="2381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9" name="Rectangle 39"/>
            <p:cNvSpPr/>
            <p:nvPr/>
          </p:nvSpPr>
          <p:spPr>
            <a:xfrm>
              <a:off x="571500" y="1000125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2E86DE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40" name="TextBox 40"/>
            <p:cNvSpPr txBox="1"/>
            <p:nvPr/>
          </p:nvSpPr>
          <p:spPr>
            <a:xfrm>
              <a:off x="744855" y="1187768"/>
              <a:ext cx="2113550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为什么需要字符串驻留？</a:t>
              </a:r>
              <a:endParaRPr lang="zh-CN" sz="135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8665" y="1505902"/>
              <a:ext cx="2862024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LLM 输出的节点名是</a:t>
              </a:r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字符串</a:t>
              </a:r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（如"术后感染"）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8665" y="1753552"/>
              <a:ext cx="2960037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 图算法操作的是</a:t>
              </a:r>
              <a:r>
                <a:rPr lang="zh-CN" sz="105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整数 ID</a:t>
              </a:r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（如 0, 1, 2...）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8665" y="2039302"/>
              <a:ext cx="3499104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字符串驻留池 = </a:t>
              </a:r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IndexSet&lt;String&gt;</a:t>
              </a:r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behind </a:t>
              </a:r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Arc&lt;Mutex&gt;</a:t>
              </a:r>
              <a:endParaRPr lang="zh-CN" sz="1050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8665" y="2325052"/>
              <a:ext cx="1825895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去重：同一节点名只存一次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8665" y="2553652"/>
              <a:ext cx="2021919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O(1) 查找：名称→ID 瞬时完成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8665" y="2782252"/>
              <a:ext cx="2497979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跨语言：Python FFI 零拷贝传入 Rust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9618" y="3076099"/>
              <a:ext cx="395775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lib.rs → CausalParadigmEngine · string_pool: IndexSet&lt;String&gt;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096000" y="1000125"/>
            <a:ext cx="5524500" cy="2466975"/>
            <a:chOff x="6096000" y="1000125"/>
            <a:chExt cx="5524500" cy="2466975"/>
          </a:xfrm>
          <a:effectLst>
            <a:outerShdw blurRad="76200" dist="19050" dir="5400000" algn="ctr" rotWithShape="0">
              <a:srgbClr val="000000">
                <a:alpha val="4500"/>
              </a:srgbClr>
            </a:outerShdw>
          </a:effectLst>
        </p:grpSpPr>
        <p:sp>
          <p:nvSpPr>
            <p:cNvPr id="49" name="Rectangle 49"/>
            <p:cNvSpPr/>
            <p:nvPr/>
          </p:nvSpPr>
          <p:spPr>
            <a:xfrm>
              <a:off x="6096000" y="1000125"/>
              <a:ext cx="5524500" cy="2381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50" name="Rectangle 50"/>
            <p:cNvSpPr/>
            <p:nvPr/>
          </p:nvSpPr>
          <p:spPr>
            <a:xfrm>
              <a:off x="6096000" y="1000125"/>
              <a:ext cx="5524500" cy="57150"/>
            </a:xfrm>
            <a:prstGeom prst="roundRect">
              <a:avLst>
                <a:gd name="adj" fmla="val 50000"/>
              </a:avLst>
            </a:prstGeom>
            <a:solidFill>
              <a:srgbClr val="2E86DE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51" name="TextBox 51"/>
            <p:cNvSpPr txBox="1"/>
            <p:nvPr/>
          </p:nvSpPr>
          <p:spPr>
            <a:xfrm>
              <a:off x="6269355" y="1187768"/>
              <a:ext cx="601361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数据流</a:t>
              </a:r>
              <a:endParaRPr lang="zh-CN" sz="135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77000" y="1524000"/>
              <a:ext cx="1524000" cy="381000"/>
            </a:xfrm>
            <a:prstGeom prst="roundRect">
              <a:avLst>
                <a:gd name="adj" fmla="val 20000"/>
              </a:avLst>
            </a:prstGeom>
            <a:solidFill>
              <a:srgbClr val="E8B931">
                <a:alpha val="15000"/>
              </a:srgbClr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53" name="TextBox 53"/>
            <p:cNvSpPr txBox="1"/>
            <p:nvPr/>
          </p:nvSpPr>
          <p:spPr>
            <a:xfrm>
              <a:off x="6595226" y="1656874"/>
              <a:ext cx="1287548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B93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Python: "术后感染"</a:t>
              </a:r>
              <a:endParaRPr lang="zh-CN" sz="975" b="1" dirty="0">
                <a:solidFill>
                  <a:srgbClr val="E8B93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43662" y="1918335"/>
              <a:ext cx="1590675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↓ FFI inject_edges()</a:t>
              </a:r>
              <a:endParaRPr lang="zh-CN" sz="12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77000" y="2190750"/>
              <a:ext cx="1524000" cy="381000"/>
            </a:xfrm>
            <a:prstGeom prst="roundRect">
              <a:avLst>
                <a:gd name="adj" fmla="val 20000"/>
              </a:avLst>
            </a:prstGeom>
            <a:solidFill>
              <a:srgbClr val="2E86DE">
                <a:alpha val="15000"/>
              </a:srgbClr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56" name="TextBox 56"/>
            <p:cNvSpPr txBox="1"/>
            <p:nvPr/>
          </p:nvSpPr>
          <p:spPr>
            <a:xfrm>
              <a:off x="6844370" y="2323624"/>
              <a:ext cx="789261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86D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Rust: ID = 3</a:t>
              </a:r>
              <a:endParaRPr lang="zh-CN" sz="975" b="1" dirty="0">
                <a:solidFill>
                  <a:srgbClr val="2E86D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179754" y="2585085"/>
              <a:ext cx="118491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↓</a:t>
              </a:r>
              <a:endParaRPr lang="zh-CN" sz="12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77000" y="2857500"/>
              <a:ext cx="2286000" cy="381000"/>
            </a:xfrm>
            <a:prstGeom prst="roundRect">
              <a:avLst>
                <a:gd name="adj" fmla="val 20000"/>
              </a:avLst>
            </a:prstGeom>
            <a:solidFill>
              <a:srgbClr val="1A3C6E">
                <a:alpha val="10000"/>
              </a:srgbClr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59" name="TextBox 59"/>
            <p:cNvSpPr txBox="1"/>
            <p:nvPr/>
          </p:nvSpPr>
          <p:spPr>
            <a:xfrm>
              <a:off x="6563262" y="2990374"/>
              <a:ext cx="2113476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A3C6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adjacency_list[3] = vec![7, 12]</a:t>
              </a:r>
              <a:endParaRPr lang="zh-CN" sz="975" b="1" dirty="0">
                <a:solidFill>
                  <a:srgbClr val="1A3C6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31618" y="1418749"/>
              <a:ext cx="707350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内存布局：</a:t>
              </a:r>
              <a:endParaRPr lang="zh-CN" sz="975" b="1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32570" y="1664970"/>
              <a:ext cx="586930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IndexSet: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132570" y="1855470"/>
              <a:ext cx="802958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86D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0: "消毒外包"</a:t>
              </a:r>
              <a:endParaRPr lang="zh-CN" sz="900" dirty="0">
                <a:solidFill>
                  <a:srgbClr val="2E86D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132570" y="2045970"/>
              <a:ext cx="802958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86D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1: "灭菌浓度"</a:t>
              </a:r>
              <a:endParaRPr lang="zh-CN" sz="900" dirty="0">
                <a:solidFill>
                  <a:srgbClr val="2E86D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132570" y="2236470"/>
              <a:ext cx="922972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86D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2: "空气洁净度"</a:t>
              </a:r>
              <a:endParaRPr lang="zh-CN" sz="900" dirty="0">
                <a:solidFill>
                  <a:srgbClr val="2E86D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132570" y="2426970"/>
              <a:ext cx="802958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86D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3: "术后感染"</a:t>
              </a:r>
              <a:endParaRPr lang="zh-CN" sz="900" dirty="0">
                <a:solidFill>
                  <a:srgbClr val="2E86D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132570" y="2712720"/>
              <a:ext cx="922972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adjacency_list:</a:t>
              </a:r>
              <a:endParaRPr lang="zh-CN" sz="900" dirty="0">
                <a:solidFill>
                  <a:srgbClr val="7F8C8D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132570" y="2903220"/>
              <a:ext cx="724948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[0] → [1, 2]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132570" y="3093720"/>
              <a:ext cx="556927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[1] → [3]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132570" y="3284220"/>
              <a:ext cx="556927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[2] → [3]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71500" y="3524250"/>
            <a:ext cx="11049000" cy="531019"/>
            <a:chOff x="571500" y="3524250"/>
            <a:chExt cx="11049000" cy="531019"/>
          </a:xfrm>
        </p:grpSpPr>
        <p:sp>
          <p:nvSpPr>
            <p:cNvPr id="71" name="Rectangle 71"/>
            <p:cNvSpPr/>
            <p:nvPr/>
          </p:nvSpPr>
          <p:spPr>
            <a:xfrm>
              <a:off x="571500" y="3524250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2E86DE">
                <a:alpha val="6000"/>
              </a:srgbClr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48665" y="3677602"/>
              <a:ext cx="49202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CompactCausalGraph</a:t>
              </a:r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：邻接表 + 反向邻接表，一维扁平数组，CPU 缓存友好。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49618" y="3857149"/>
              <a:ext cx="70196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dag.rs · adjacency_list: Vec&lt;Vec&lt;usize&gt;&gt; · rev_adjacency_list: Vec&lt;Vec&lt;usize&gt;&gt; · dynamic capacity expansion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560070" y="6522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07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10954988" y="6522720"/>
            <a:ext cx="676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EdgeThemis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8" grpId="0"/>
      <p:bldP spid="70" grpId="0"/>
      <p:bldP spid="7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85750"/>
            <a:ext cx="11049000" cy="561975"/>
            <a:chOff x="571500" y="285750"/>
            <a:chExt cx="11049000" cy="561975"/>
          </a:xfrm>
        </p:grpSpPr>
        <p:sp>
          <p:nvSpPr>
            <p:cNvPr id="3" name="Rectangle 3"/>
            <p:cNvSpPr/>
            <p:nvPr/>
          </p:nvSpPr>
          <p:spPr>
            <a:xfrm>
              <a:off x="571500" y="285750"/>
              <a:ext cx="47625" cy="304800"/>
            </a:xfrm>
            <a:prstGeom prst="roundRect">
              <a:avLst>
                <a:gd name="adj" fmla="val 4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6280" y="306705"/>
              <a:ext cx="549302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Kahn 环路检测：拓扑排序拦截逻辑死循环</a:t>
              </a:r>
              <a:endParaRPr lang="zh-CN" sz="21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610552"/>
              <a:ext cx="31700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Kahn Cycle Detection: O(V+E) Topological Sort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38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619750" y="133350"/>
            <a:ext cx="6572250" cy="433388"/>
            <a:chOff x="5619750" y="133350"/>
            <a:chExt cx="6572250" cy="433388"/>
          </a:xfrm>
        </p:grpSpPr>
        <p:sp>
          <p:nvSpPr>
            <p:cNvPr id="8" name="Rectangle 8"/>
            <p:cNvSpPr/>
            <p:nvPr/>
          </p:nvSpPr>
          <p:spPr>
            <a:xfrm>
              <a:off x="5619750" y="133350"/>
              <a:ext cx="6096000" cy="400050"/>
            </a:xfrm>
            <a:prstGeom prst="roundRect">
              <a:avLst>
                <a:gd name="adj" fmla="val 1428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5848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11322" y="438626"/>
              <a:ext cx="188357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Ellipse 11"/>
            <p:cNvSpPr/>
            <p:nvPr/>
          </p:nvSpPr>
          <p:spPr>
            <a:xfrm>
              <a:off x="6610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87561" y="438626"/>
              <a:ext cx="359878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Generator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Ellipse 13"/>
            <p:cNvSpPr/>
            <p:nvPr/>
          </p:nvSpPr>
          <p:spPr>
            <a:xfrm>
              <a:off x="7372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67063" y="438626"/>
              <a:ext cx="32487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Interning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8143875" y="171450"/>
              <a:ext cx="190500" cy="190500"/>
            </a:xfrm>
            <a:prstGeom prst="ellipse">
              <a:avLst/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67067" y="414338"/>
              <a:ext cx="54411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2E86D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Kahn Cycle</a:t>
              </a:r>
              <a:endParaRPr lang="zh-CN" sz="750" b="1" dirty="0">
                <a:solidFill>
                  <a:srgbClr val="2E86D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903922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67430" y="438626"/>
              <a:ext cx="457891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d-Separation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9848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47063" y="438626"/>
              <a:ext cx="317873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FMEA RPN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Ellipse 21"/>
            <p:cNvSpPr/>
            <p:nvPr/>
          </p:nvSpPr>
          <p:spPr>
            <a:xfrm>
              <a:off x="10610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96812" y="438626"/>
              <a:ext cx="34237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Reflector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1132522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53192" y="438626"/>
              <a:ext cx="25836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Output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6000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762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524750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334375" y="2667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91625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00012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0763250" y="26670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1620500" y="180975"/>
              <a:ext cx="571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D5D8DC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1687175" y="238125"/>
              <a:ext cx="57150" cy="57150"/>
            </a:xfrm>
            <a:prstGeom prst="ellipse">
              <a:avLst/>
            </a:prstGeom>
            <a:solidFill>
              <a:srgbClr val="E8B93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785282" y="238601"/>
              <a:ext cx="24436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Ellipse 35"/>
            <p:cNvSpPr/>
            <p:nvPr/>
          </p:nvSpPr>
          <p:spPr>
            <a:xfrm>
              <a:off x="11687175" y="352425"/>
              <a:ext cx="57150" cy="57150"/>
            </a:xfrm>
            <a:prstGeom prst="ellipse">
              <a:avLst/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785282" y="352901"/>
              <a:ext cx="16735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1000125"/>
            <a:ext cx="5334000" cy="3048000"/>
            <a:chOff x="571500" y="1000125"/>
            <a:chExt cx="5334000" cy="3048000"/>
          </a:xfrm>
          <a:effectLst>
            <a:outerShdw blurRad="76200" dist="19050" dir="5400000" algn="ctr" rotWithShape="0">
              <a:srgbClr val="000000">
                <a:alpha val="4500"/>
              </a:srgbClr>
            </a:outerShdw>
          </a:effectLst>
        </p:grpSpPr>
        <p:sp>
          <p:nvSpPr>
            <p:cNvPr id="38" name="Rectangle 38"/>
            <p:cNvSpPr/>
            <p:nvPr/>
          </p:nvSpPr>
          <p:spPr>
            <a:xfrm>
              <a:off x="571500" y="1000125"/>
              <a:ext cx="5334000" cy="3048000"/>
            </a:xfrm>
            <a:prstGeom prst="roundRect">
              <a:avLst>
                <a:gd name="adj" fmla="val 3125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9" name="Rectangle 39"/>
            <p:cNvSpPr/>
            <p:nvPr/>
          </p:nvSpPr>
          <p:spPr>
            <a:xfrm>
              <a:off x="571500" y="1000125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2E86DE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40" name="TextBox 40"/>
            <p:cNvSpPr txBox="1"/>
            <p:nvPr/>
          </p:nvSpPr>
          <p:spPr>
            <a:xfrm>
              <a:off x="744855" y="1187768"/>
              <a:ext cx="790384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算法流程</a:t>
              </a:r>
              <a:endParaRPr lang="zh-CN" sz="135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8665" y="1505902"/>
              <a:ext cx="2602992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1. 统计每个节点的</a:t>
              </a:r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入度</a:t>
              </a:r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（被指向的次数）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8665" y="1753552"/>
              <a:ext cx="2532983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2. 将所有入度=0 的"自由节点"推入队列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8665" y="2001202"/>
              <a:ext cx="1762887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3. 像</a:t>
              </a:r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剥洋葱</a:t>
              </a:r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一样层层拆解：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9165" y="2248852"/>
              <a:ext cx="1972913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出队一个节点，processed++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9165" y="2496502"/>
              <a:ext cx="1559862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将其所有邻居的入度-1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9165" y="2744152"/>
              <a:ext cx="1321832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入度=0 的邻居入队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8665" y="3029902"/>
              <a:ext cx="2855023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4. 终极审判：processed == n ? </a:t>
              </a:r>
              <a:r>
                <a:rPr lang="zh-CN" sz="105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无环</a:t>
              </a:r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: </a:t>
              </a:r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有环!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9618" y="3323749"/>
              <a:ext cx="1851493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复杂度：O(V+E) · 空间：O(V)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9618" y="3514249"/>
              <a:ext cx="3223165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algorithms.rs → kahn_cycle_detect(graph) -&gt; bool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9618" y="3704749"/>
              <a:ext cx="283961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注入阶段即拦截自环边 v→v（add_edge 时检查）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096000" y="1000125"/>
            <a:ext cx="5524500" cy="3048000"/>
            <a:chOff x="6096000" y="1000125"/>
            <a:chExt cx="5524500" cy="3048000"/>
          </a:xfrm>
          <a:effectLst>
            <a:outerShdw blurRad="76200" dist="19050" dir="5400000" algn="ctr" rotWithShape="0">
              <a:srgbClr val="000000">
                <a:alpha val="4500"/>
              </a:srgbClr>
            </a:outerShdw>
          </a:effectLst>
        </p:grpSpPr>
        <p:sp>
          <p:nvSpPr>
            <p:cNvPr id="52" name="Rectangle 52"/>
            <p:cNvSpPr/>
            <p:nvPr/>
          </p:nvSpPr>
          <p:spPr>
            <a:xfrm>
              <a:off x="6096000" y="1000125"/>
              <a:ext cx="5524500" cy="3048000"/>
            </a:xfrm>
            <a:prstGeom prst="roundRect">
              <a:avLst>
                <a:gd name="adj" fmla="val 3125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53" name="Rectangle 53"/>
            <p:cNvSpPr/>
            <p:nvPr/>
          </p:nvSpPr>
          <p:spPr>
            <a:xfrm>
              <a:off x="6096000" y="1000125"/>
              <a:ext cx="5524500" cy="57150"/>
            </a:xfrm>
            <a:prstGeom prst="roundRect">
              <a:avLst>
                <a:gd name="adj" fmla="val 50000"/>
              </a:avLst>
            </a:prstGeom>
            <a:solidFill>
              <a:srgbClr val="2E86DE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54" name="TextBox 54"/>
            <p:cNvSpPr txBox="1"/>
            <p:nvPr/>
          </p:nvSpPr>
          <p:spPr>
            <a:xfrm>
              <a:off x="6269355" y="1187768"/>
              <a:ext cx="1546479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示例：检测到环路</a:t>
              </a:r>
              <a:endParaRPr lang="zh-CN" sz="135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6438900" y="1333500"/>
              <a:ext cx="2362200" cy="1003300"/>
              <a:chOff x="6438900" y="1333500"/>
              <a:chExt cx="2362200" cy="1003300"/>
            </a:xfrm>
          </p:grpSpPr>
          <p:sp>
            <p:nvSpPr>
              <p:cNvPr id="55" name="Ellipse 55"/>
              <p:cNvSpPr/>
              <p:nvPr/>
            </p:nvSpPr>
            <p:spPr>
              <a:xfrm>
                <a:off x="6438900" y="1676400"/>
                <a:ext cx="457200" cy="457200"/>
              </a:xfrm>
              <a:prstGeom prst="ellipse">
                <a:avLst/>
              </a:prstGeom>
              <a:noFill/>
              <a:ln w="23812">
                <a:solidFill>
                  <a:srgbClr val="E74C3C"/>
                </a:solidFill>
                <a:custDash>
                  <a:ds d="200000" sp="120000"/>
                </a:custDash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6613735" y="18488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</a:t>
                </a:r>
                <a:endPara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7" name="Line 57"/>
              <p:cNvSpPr/>
              <p:nvPr/>
            </p:nvSpPr>
            <p:spPr>
              <a:xfrm>
                <a:off x="6896100" y="1562100"/>
                <a:ext cx="4953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228600">
                    <a:moveTo>
                      <a:pt x="0" y="228600"/>
                    </a:moveTo>
                    <a:lnTo>
                      <a:pt x="495300" y="0"/>
                    </a:lnTo>
                  </a:path>
                </a:pathLst>
              </a:custGeom>
              <a:noFill/>
              <a:ln w="23812">
                <a:solidFill>
                  <a:srgbClr val="2E86DE"/>
                </a:solidFill>
              </a:ln>
            </p:spPr>
          </p:sp>
          <p:sp>
            <p:nvSpPr>
              <p:cNvPr id="58" name="Polygon 58"/>
              <p:cNvSpPr/>
              <p:nvPr/>
            </p:nvSpPr>
            <p:spPr>
              <a:xfrm>
                <a:off x="7315200" y="1524000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38100"/>
                    </a:moveTo>
                    <a:lnTo>
                      <a:pt x="0" y="952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E86DE"/>
              </a:solidFill>
              <a:ln>
                <a:noFill/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7391400" y="1333500"/>
                <a:ext cx="457200" cy="457200"/>
              </a:xfrm>
              <a:prstGeom prst="ellipse">
                <a:avLst/>
              </a:prstGeom>
              <a:noFill/>
              <a:ln w="23812">
                <a:solidFill>
                  <a:srgbClr val="E74C3C"/>
                </a:solidFill>
                <a:custDash>
                  <a:ds d="200000" sp="120000"/>
                </a:custDash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7566235" y="15059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B</a:t>
                </a:r>
                <a:endPara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1" name="Line 61"/>
              <p:cNvSpPr/>
              <p:nvPr/>
            </p:nvSpPr>
            <p:spPr>
              <a:xfrm>
                <a:off x="7848600" y="1676400"/>
                <a:ext cx="4953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228600">
                    <a:moveTo>
                      <a:pt x="0" y="0"/>
                    </a:moveTo>
                    <a:lnTo>
                      <a:pt x="495300" y="228600"/>
                    </a:lnTo>
                  </a:path>
                </a:pathLst>
              </a:custGeom>
              <a:noFill/>
              <a:ln w="23812">
                <a:solidFill>
                  <a:srgbClr val="2E86DE"/>
                </a:solidFill>
              </a:ln>
            </p:spPr>
          </p:sp>
          <p:sp>
            <p:nvSpPr>
              <p:cNvPr id="62" name="Polygon 62"/>
              <p:cNvSpPr/>
              <p:nvPr/>
            </p:nvSpPr>
            <p:spPr>
              <a:xfrm>
                <a:off x="8267700" y="1847850"/>
                <a:ext cx="762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33350">
                    <a:moveTo>
                      <a:pt x="76200" y="57150"/>
                    </a:moveTo>
                    <a:lnTo>
                      <a:pt x="0" y="0"/>
                    </a:lnTo>
                    <a:lnTo>
                      <a:pt x="38100" y="133350"/>
                    </a:lnTo>
                    <a:close/>
                  </a:path>
                </a:pathLst>
              </a:custGeom>
              <a:solidFill>
                <a:srgbClr val="2E86DE"/>
              </a:solidFill>
              <a:ln>
                <a:noFill/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8343900" y="1676400"/>
                <a:ext cx="457200" cy="457200"/>
              </a:xfrm>
              <a:prstGeom prst="ellipse">
                <a:avLst/>
              </a:prstGeom>
              <a:noFill/>
              <a:ln w="23812">
                <a:solidFill>
                  <a:srgbClr val="E74C3C"/>
                </a:solidFill>
                <a:custDash>
                  <a:ds d="200000" sp="120000"/>
                </a:custDash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8518735" y="18488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</a:t>
                </a:r>
                <a:endPara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5" name="Freeform 65"/>
              <p:cNvSpPr/>
              <p:nvPr/>
            </p:nvSpPr>
            <p:spPr>
              <a:xfrm>
                <a:off x="6896100" y="2057400"/>
                <a:ext cx="14478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1447800" h="279400">
                    <a:moveTo>
                      <a:pt x="1447800" y="0"/>
                    </a:moveTo>
                    <a:cubicBezTo>
                      <a:pt x="965200" y="279400"/>
                      <a:pt x="482600" y="279400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E74C3C"/>
                </a:solidFill>
                <a:prstDash val="lgDash"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66" name="Polygon 66"/>
              <p:cNvSpPr/>
              <p:nvPr/>
            </p:nvSpPr>
            <p:spPr>
              <a:xfrm>
                <a:off x="6838950" y="20383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76200" y="0"/>
                    </a:moveTo>
                    <a:lnTo>
                      <a:pt x="0" y="76200"/>
                    </a:lnTo>
                    <a:lnTo>
                      <a:pt x="114300" y="76200"/>
                    </a:lnTo>
                    <a:close/>
                  </a:path>
                </a:pathLst>
              </a:custGeom>
              <a:solidFill>
                <a:srgbClr val="E74C3C"/>
              </a:solidFill>
              <a:ln>
                <a:noFill/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7062892" y="2823210"/>
              <a:ext cx="1114215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A→B→C→A 环路!</a:t>
              </a:r>
              <a:endParaRPr lang="zh-CN" sz="12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63665" y="3125152"/>
              <a:ext cx="1377839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入度：A=1, B=1, C=1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63665" y="3363278"/>
              <a:ext cx="1342835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入度=0 的节点：</a:t>
              </a:r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无！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63665" y="3601402"/>
              <a:ext cx="2546985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processed=0 ≠ n=3 → </a:t>
              </a:r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有环！触发熔断！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64618" y="3847624"/>
              <a:ext cx="188399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生成拦截报告，反馈 LLM 重写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560070" y="6522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08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10954988" y="6522720"/>
            <a:ext cx="676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EdgeThemis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51" grpId="0"/>
      <p:bldP spid="7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38125"/>
            <a:ext cx="11049000" cy="471487"/>
            <a:chOff x="571500" y="238125"/>
            <a:chExt cx="11049000" cy="471487"/>
          </a:xfrm>
        </p:grpSpPr>
        <p:sp>
          <p:nvSpPr>
            <p:cNvPr id="3" name="Rectangle 3"/>
            <p:cNvSpPr/>
            <p:nvPr/>
          </p:nvSpPr>
          <p:spPr>
            <a:xfrm>
              <a:off x="571500" y="238125"/>
              <a:ext cx="47625" cy="304800"/>
            </a:xfrm>
            <a:prstGeom prst="roundRect">
              <a:avLst>
                <a:gd name="adj" fmla="val 4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4375" y="252412"/>
              <a:ext cx="334931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Bayesian Ball 算法详解</a:t>
              </a:r>
              <a:endParaRPr lang="zh-CN" sz="225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367212" y="373856"/>
              <a:ext cx="22863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：带方向状态的变种 BFS · O(V³)</a:t>
              </a:r>
              <a:endParaRPr lang="zh-CN" sz="11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6286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619750" y="133350"/>
            <a:ext cx="6572250" cy="433388"/>
            <a:chOff x="5619750" y="133350"/>
            <a:chExt cx="6572250" cy="433388"/>
          </a:xfrm>
        </p:grpSpPr>
        <p:sp>
          <p:nvSpPr>
            <p:cNvPr id="8" name="Rectangle 8"/>
            <p:cNvSpPr/>
            <p:nvPr/>
          </p:nvSpPr>
          <p:spPr>
            <a:xfrm>
              <a:off x="5619750" y="133350"/>
              <a:ext cx="6096000" cy="400050"/>
            </a:xfrm>
            <a:prstGeom prst="roundRect">
              <a:avLst>
                <a:gd name="adj" fmla="val 1428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5848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11322" y="438626"/>
              <a:ext cx="188357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Ellipse 11"/>
            <p:cNvSpPr/>
            <p:nvPr/>
          </p:nvSpPr>
          <p:spPr>
            <a:xfrm>
              <a:off x="6610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87561" y="438626"/>
              <a:ext cx="359878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Generator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Ellipse 13"/>
            <p:cNvSpPr/>
            <p:nvPr/>
          </p:nvSpPr>
          <p:spPr>
            <a:xfrm>
              <a:off x="7372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67063" y="438626"/>
              <a:ext cx="32487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Interning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818197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57436" y="438626"/>
              <a:ext cx="363379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Kahn Cycle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9001125" y="171450"/>
              <a:ext cx="190500" cy="190500"/>
            </a:xfrm>
            <a:prstGeom prst="ellipse">
              <a:avLst/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53433" y="414338"/>
              <a:ext cx="68588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d-Separation</a:t>
              </a:r>
              <a:endParaRPr lang="zh-CN" sz="750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9848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47063" y="438626"/>
              <a:ext cx="317873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FMEA RPN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Ellipse 21"/>
            <p:cNvSpPr/>
            <p:nvPr/>
          </p:nvSpPr>
          <p:spPr>
            <a:xfrm>
              <a:off x="10610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96812" y="438626"/>
              <a:ext cx="34237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Reflector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1132522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53192" y="438626"/>
              <a:ext cx="25836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Output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6000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762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524750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334375" y="2667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91625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00012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0763250" y="26670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1620500" y="180975"/>
              <a:ext cx="571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D5D8DC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1687175" y="238125"/>
              <a:ext cx="57150" cy="57150"/>
            </a:xfrm>
            <a:prstGeom prst="ellipse">
              <a:avLst/>
            </a:prstGeom>
            <a:solidFill>
              <a:srgbClr val="E8B93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785282" y="238601"/>
              <a:ext cx="24436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Ellipse 35"/>
            <p:cNvSpPr/>
            <p:nvPr/>
          </p:nvSpPr>
          <p:spPr>
            <a:xfrm>
              <a:off x="11687175" y="352425"/>
              <a:ext cx="57150" cy="57150"/>
            </a:xfrm>
            <a:prstGeom prst="ellipse">
              <a:avLst/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785282" y="352901"/>
              <a:ext cx="16735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742950"/>
            <a:ext cx="4953000" cy="381000"/>
            <a:chOff x="571500" y="742950"/>
            <a:chExt cx="4953000" cy="381000"/>
          </a:xfrm>
        </p:grpSpPr>
        <p:sp>
          <p:nvSpPr>
            <p:cNvPr id="38" name="Rectangle 38"/>
            <p:cNvSpPr/>
            <p:nvPr/>
          </p:nvSpPr>
          <p:spPr>
            <a:xfrm>
              <a:off x="571500" y="742950"/>
              <a:ext cx="4953000" cy="381000"/>
            </a:xfrm>
            <a:prstGeom prst="roundRect">
              <a:avLst>
                <a:gd name="adj" fmla="val 15000"/>
              </a:avLst>
            </a:prstGeom>
            <a:solidFill>
              <a:srgbClr val="1A3C6E">
                <a:alpha val="6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4855" y="859631"/>
              <a:ext cx="47462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3C6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状态 = (node, direction) · direction: Up=逆箭头 / Down=顺箭头</a:t>
              </a:r>
              <a:endParaRPr lang="zh-CN" sz="1125" b="1" dirty="0">
                <a:solidFill>
                  <a:srgbClr val="1A3C6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554355" y="1187768"/>
            <a:ext cx="11066145" cy="2717482"/>
            <a:chOff x="554355" y="1187768"/>
            <a:chExt cx="11066145" cy="2717482"/>
          </a:xfrm>
        </p:grpSpPr>
        <p:sp>
          <p:nvSpPr>
            <p:cNvPr id="41" name="TextBox 41"/>
            <p:cNvSpPr txBox="1"/>
            <p:nvPr/>
          </p:nvSpPr>
          <p:spPr>
            <a:xfrm>
              <a:off x="554355" y="1187768"/>
              <a:ext cx="1518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4 条状态转移规则</a:t>
              </a:r>
              <a:endParaRPr lang="zh-CN" sz="135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71500" y="1476375"/>
              <a:ext cx="11049000" cy="342900"/>
            </a:xfrm>
            <a:prstGeom prst="roundRect">
              <a:avLst>
                <a:gd name="adj" fmla="val 16667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65288" y="15982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进入方向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761748" y="1598295"/>
              <a:ext cx="3820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Z 状态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980357" y="1598295"/>
              <a:ext cx="2307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Up?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850947" y="1598295"/>
              <a:ext cx="3946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Down?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04038" y="15982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对应结构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85288" y="15982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物理含义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708453" y="1598295"/>
              <a:ext cx="3000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Case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71500" y="1857375"/>
              <a:ext cx="11049000" cy="476250"/>
            </a:xfrm>
            <a:prstGeom prst="roundRect">
              <a:avLst>
                <a:gd name="adj" fmla="val 8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341283" y="19521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Up</a:t>
              </a:r>
              <a:endParaRPr lang="zh-CN" sz="975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269206" y="2147888"/>
              <a:ext cx="31908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逆箭头</a:t>
              </a:r>
              <a:endParaRPr lang="zh-CN" sz="7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476500" y="1933575"/>
              <a:ext cx="952500" cy="247650"/>
            </a:xfrm>
            <a:prstGeom prst="roundRect">
              <a:avLst>
                <a:gd name="adj" fmla="val 50000"/>
              </a:avLst>
            </a:prstGeom>
            <a:solidFill>
              <a:srgbClr val="E74C3C">
                <a:alpha val="12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752296" y="2007870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未观测</a:t>
              </a:r>
              <a:endParaRPr lang="zh-CN" sz="9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714750" y="1933575"/>
              <a:ext cx="762000" cy="247650"/>
            </a:xfrm>
            <a:prstGeom prst="roundRect">
              <a:avLst>
                <a:gd name="adj" fmla="val 50000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049666" y="2007870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✓</a:t>
              </a:r>
              <a:endParaRPr lang="zh-CN" sz="90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667250" y="1933575"/>
              <a:ext cx="762000" cy="247650"/>
            </a:xfrm>
            <a:prstGeom prst="roundRect">
              <a:avLst>
                <a:gd name="adj" fmla="val 50000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002166" y="2007870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✓</a:t>
              </a:r>
              <a:endParaRPr lang="zh-CN" sz="90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00823" y="2037874"/>
              <a:ext cx="733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Fork X←M→Y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85288" y="19602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后门大开</a:t>
              </a:r>
              <a:endParaRPr lang="zh-CN" sz="9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446949" y="2139791"/>
              <a:ext cx="120360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M未锁定，虚假相关泄露</a:t>
              </a:r>
              <a:endParaRPr lang="zh-CN" sz="8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733491" y="2037874"/>
              <a:ext cx="2500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P10</a:t>
              </a:r>
              <a:endParaRPr lang="zh-CN" sz="975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71500" y="2381250"/>
              <a:ext cx="11049000" cy="4762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341283" y="2476024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Up</a:t>
              </a:r>
              <a:endParaRPr lang="zh-CN" sz="975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269206" y="2671762"/>
              <a:ext cx="31908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逆箭头</a:t>
              </a:r>
              <a:endParaRPr lang="zh-CN" sz="7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2476500" y="2457450"/>
              <a:ext cx="952500" cy="247650"/>
            </a:xfrm>
            <a:prstGeom prst="roundRect">
              <a:avLst>
                <a:gd name="adj" fmla="val 50000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2752296" y="253174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已观测</a:t>
              </a:r>
              <a:endParaRPr lang="zh-CN" sz="90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3714750" y="2457450"/>
              <a:ext cx="762000" cy="247650"/>
            </a:xfrm>
            <a:prstGeom prst="roundRect">
              <a:avLst>
                <a:gd name="adj" fmla="val 50000"/>
              </a:avLst>
            </a:prstGeom>
            <a:solidFill>
              <a:srgbClr val="E74C3C">
                <a:alpha val="12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049666" y="253174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✗</a:t>
              </a:r>
              <a:endParaRPr lang="zh-CN" sz="9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667250" y="2457450"/>
              <a:ext cx="762000" cy="247650"/>
            </a:xfrm>
            <a:prstGeom prst="roundRect">
              <a:avLst>
                <a:gd name="adj" fmla="val 50000"/>
              </a:avLst>
            </a:prstGeom>
            <a:solidFill>
              <a:srgbClr val="E74C3C">
                <a:alpha val="12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002166" y="253174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✗</a:t>
              </a:r>
              <a:endParaRPr lang="zh-CN" sz="9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300823" y="2561749"/>
              <a:ext cx="733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Fork X←M→Y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785288" y="24841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后门关闭</a:t>
              </a:r>
              <a:endParaRPr lang="zh-CN" sz="90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446949" y="2663666"/>
              <a:ext cx="120360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M被控制，虚假相关切断</a:t>
              </a:r>
              <a:endParaRPr lang="zh-CN" sz="8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733491" y="2561749"/>
              <a:ext cx="2500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P09</a:t>
              </a:r>
              <a:endParaRPr lang="zh-CN" sz="975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71500" y="2905125"/>
              <a:ext cx="11049000" cy="476250"/>
            </a:xfrm>
            <a:prstGeom prst="roundRect">
              <a:avLst>
                <a:gd name="adj" fmla="val 8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252547" y="2999899"/>
              <a:ext cx="3524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Down</a:t>
              </a:r>
              <a:endParaRPr lang="zh-CN" sz="975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269206" y="3195638"/>
              <a:ext cx="31908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顺箭头</a:t>
              </a:r>
              <a:endParaRPr lang="zh-CN" sz="7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2476500" y="2981325"/>
              <a:ext cx="952500" cy="247650"/>
            </a:xfrm>
            <a:prstGeom prst="roundRect">
              <a:avLst>
                <a:gd name="adj" fmla="val 50000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2752296" y="3055620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未观测</a:t>
              </a:r>
              <a:endParaRPr lang="zh-CN" sz="90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3714750" y="2981325"/>
              <a:ext cx="762000" cy="247650"/>
            </a:xfrm>
            <a:prstGeom prst="roundRect">
              <a:avLst>
                <a:gd name="adj" fmla="val 50000"/>
              </a:avLst>
            </a:prstGeom>
            <a:solidFill>
              <a:srgbClr val="E74C3C">
                <a:alpha val="12000"/>
              </a:srgbClr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4049666" y="3055620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✗</a:t>
              </a:r>
              <a:endParaRPr lang="zh-CN" sz="9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4667250" y="2981325"/>
              <a:ext cx="762000" cy="247650"/>
            </a:xfrm>
            <a:prstGeom prst="roundRect">
              <a:avLst>
                <a:gd name="adj" fmla="val 50000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002166" y="3055620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✓</a:t>
              </a:r>
              <a:endParaRPr lang="zh-CN" sz="90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281321" y="308562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Chain X→M→Y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785288" y="30079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合法通路</a:t>
              </a:r>
              <a:endParaRPr lang="zh-CN" sz="90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598218" y="318754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唯一正确的因果链</a:t>
              </a:r>
              <a:endParaRPr lang="zh-CN" sz="8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733491" y="3085624"/>
              <a:ext cx="2500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P08</a:t>
              </a:r>
              <a:endParaRPr lang="zh-CN" sz="975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571500" y="3429000"/>
              <a:ext cx="11049000" cy="4762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252547" y="3523774"/>
              <a:ext cx="3524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Down</a:t>
              </a:r>
              <a:endParaRPr lang="zh-CN" sz="975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269206" y="3719512"/>
              <a:ext cx="31908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顺箭头</a:t>
              </a:r>
              <a:endParaRPr lang="zh-CN" sz="7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2476500" y="3505200"/>
              <a:ext cx="952500" cy="247650"/>
            </a:xfrm>
            <a:prstGeom prst="roundRect">
              <a:avLst>
                <a:gd name="adj" fmla="val 50000"/>
              </a:avLst>
            </a:prstGeom>
            <a:solidFill>
              <a:srgbClr val="E74C3C">
                <a:alpha val="15000"/>
              </a:srgbClr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2752296" y="357949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已观测</a:t>
              </a:r>
              <a:endParaRPr lang="zh-CN" sz="9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3714750" y="3505200"/>
              <a:ext cx="762000" cy="247650"/>
            </a:xfrm>
            <a:prstGeom prst="roundRect">
              <a:avLst>
                <a:gd name="adj" fmla="val 50000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4049666" y="357949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✓</a:t>
              </a:r>
              <a:endParaRPr lang="zh-CN" sz="90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4667250" y="3505200"/>
              <a:ext cx="762000" cy="247650"/>
            </a:xfrm>
            <a:prstGeom prst="roundRect">
              <a:avLst>
                <a:gd name="adj" fmla="val 50000"/>
              </a:avLst>
            </a:prstGeom>
            <a:solidFill>
              <a:srgbClr val="E74C3C">
                <a:alpha val="12000"/>
              </a:srgbClr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5002166" y="357949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✗</a:t>
              </a:r>
              <a:endParaRPr lang="zh-CN" sz="9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206561" y="36094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Collider X→M←Y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766386" y="3531870"/>
              <a:ext cx="5647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致命陷阱!</a:t>
              </a:r>
              <a:endParaRPr lang="zh-CN" sz="9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378190" y="3711416"/>
              <a:ext cx="13411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观测对撞节点激活虚假路径</a:t>
              </a:r>
              <a:endParaRPr lang="zh-CN" sz="8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0733491" y="3609499"/>
              <a:ext cx="2500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P11</a:t>
              </a:r>
              <a:endParaRPr lang="zh-CN" sz="975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571500" y="4048125"/>
            <a:ext cx="5715000" cy="978694"/>
            <a:chOff x="571500" y="4048125"/>
            <a:chExt cx="5715000" cy="978694"/>
          </a:xfrm>
          <a:effectLst>
            <a:outerShdw blurRad="76200" dist="19050" dir="5400000" algn="ctr" rotWithShape="0">
              <a:srgbClr val="000000">
                <a:alpha val="4500"/>
              </a:srgbClr>
            </a:outerShdw>
          </a:effectLst>
        </p:grpSpPr>
        <p:sp>
          <p:nvSpPr>
            <p:cNvPr id="103" name="Rectangle 103"/>
            <p:cNvSpPr/>
            <p:nvPr/>
          </p:nvSpPr>
          <p:spPr>
            <a:xfrm>
              <a:off x="571500" y="4048125"/>
              <a:ext cx="5715000" cy="904875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14288">
              <a:solidFill>
                <a:srgbClr val="E8B931"/>
              </a:solidFill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04" name="Rectangle 104"/>
            <p:cNvSpPr/>
            <p:nvPr/>
          </p:nvSpPr>
          <p:spPr>
            <a:xfrm>
              <a:off x="571500" y="4048125"/>
              <a:ext cx="5715000" cy="57150"/>
            </a:xfrm>
            <a:prstGeom prst="roundRect">
              <a:avLst>
                <a:gd name="adj" fmla="val 50000"/>
              </a:avLst>
            </a:prstGeom>
            <a:solidFill>
              <a:srgbClr val="E8B931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05" name="TextBox 105"/>
            <p:cNvSpPr txBox="1"/>
            <p:nvPr/>
          </p:nvSpPr>
          <p:spPr>
            <a:xfrm>
              <a:off x="747712" y="4212431"/>
              <a:ext cx="658654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B931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关键理解</a:t>
              </a:r>
              <a:endParaRPr lang="zh-CN" sz="1125" b="1" dirty="0">
                <a:solidFill>
                  <a:srgbClr val="E8B931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49618" y="4447699"/>
              <a:ext cx="2989136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"允许"≠ 大模型做对了，而是让侦探能</a:t>
              </a:r>
              <a:r>
                <a:rPr lang="zh-CN" sz="97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探测到漏洞</a:t>
              </a:r>
              <a:endParaRPr lang="zh-CN" sz="975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49618" y="4638199"/>
              <a:ext cx="2365058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球到 Y = 发现通路 → 上层判断是否报警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49618" y="4828699"/>
              <a:ext cx="1864495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• 球卡死 = 路径安全 → 无需干预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6477000" y="4048125"/>
            <a:ext cx="5143500" cy="964406"/>
            <a:chOff x="6477000" y="4048125"/>
            <a:chExt cx="5143500" cy="964406"/>
          </a:xfrm>
        </p:grpSpPr>
        <p:sp>
          <p:nvSpPr>
            <p:cNvPr id="110" name="Rectangle 110"/>
            <p:cNvSpPr/>
            <p:nvPr/>
          </p:nvSpPr>
          <p:spPr>
            <a:xfrm>
              <a:off x="6477000" y="4048125"/>
              <a:ext cx="5143500" cy="904875"/>
            </a:xfrm>
            <a:prstGeom prst="roundRect">
              <a:avLst>
                <a:gd name="adj" fmla="val 8421"/>
              </a:avLst>
            </a:prstGeom>
            <a:solidFill>
              <a:srgbClr val="1A3C6E">
                <a:alpha val="4000"/>
              </a:srgbClr>
            </a:solidFill>
            <a:ln w="9525">
              <a:solidFill>
                <a:srgbClr val="D5D8DC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6656070" y="4170045"/>
              <a:ext cx="15650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// Rust 核心：方向状态 BFS</a:t>
              </a:r>
              <a:endParaRPr lang="zh-CN" sz="900" dirty="0">
                <a:solidFill>
                  <a:srgbClr val="7F8C8D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6656070" y="4360545"/>
              <a:ext cx="21471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queue.push_back((x, </a:t>
              </a:r>
              <a:r>
                <a:rPr lang="zh-CN" sz="900" b="1" dirty="0">
                  <a:solidFill>
                    <a:srgbClr val="2E86D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false</a:t>
              </a:r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)); </a:t>
              </a:r>
              <a:r>
                <a:rPr lang="zh-CN" sz="900" dirty="0">
                  <a:solidFill>
                    <a:srgbClr val="7F8C8D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// Up</a:t>
              </a:r>
              <a:endParaRPr lang="zh-CN" sz="900" dirty="0">
                <a:solidFill>
                  <a:srgbClr val="7F8C8D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6656070" y="4531995"/>
              <a:ext cx="17330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if</a:t>
              </a:r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 curr == y { </a:t>
              </a:r>
              <a:r>
                <a:rPr lang="zh-CN" sz="900" b="1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return false</a:t>
              </a:r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; }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6656070" y="4703445"/>
              <a:ext cx="19190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7AE6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if</a:t>
              </a:r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 !is_down &amp;&amp; !observed[curr] {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6771322" y="4844891"/>
              <a:ext cx="21827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F8C8D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explore_children(); explore_parents();</a:t>
              </a:r>
              <a:endParaRPr lang="zh-CN" sz="825" dirty="0">
                <a:solidFill>
                  <a:srgbClr val="7F8C8D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50" name="Group 150"/>
          <p:cNvGrpSpPr/>
          <p:nvPr/>
        </p:nvGrpSpPr>
        <p:grpSpPr>
          <a:xfrm>
            <a:off x="571500" y="5095875"/>
            <a:ext cx="11049000" cy="1333500"/>
            <a:chOff x="571500" y="5095875"/>
            <a:chExt cx="11049000" cy="1333500"/>
          </a:xfrm>
          <a:effectLst>
            <a:outerShdw blurRad="76200" dist="19050" dir="5400000" algn="ctr" rotWithShape="0">
              <a:srgbClr val="000000">
                <a:alpha val="4500"/>
              </a:srgbClr>
            </a:outerShdw>
          </a:effectLst>
        </p:grpSpPr>
        <p:sp>
          <p:nvSpPr>
            <p:cNvPr id="117" name="Rectangle 117"/>
            <p:cNvSpPr/>
            <p:nvPr/>
          </p:nvSpPr>
          <p:spPr>
            <a:xfrm>
              <a:off x="571500" y="5095875"/>
              <a:ext cx="110490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18" name="Rectangle 118"/>
            <p:cNvSpPr/>
            <p:nvPr/>
          </p:nvSpPr>
          <p:spPr>
            <a:xfrm>
              <a:off x="571500" y="5095875"/>
              <a:ext cx="11049000" cy="57150"/>
            </a:xfrm>
            <a:prstGeom prst="roundRect">
              <a:avLst>
                <a:gd name="adj" fmla="val 50000"/>
              </a:avLst>
            </a:prstGeom>
            <a:solidFill>
              <a:srgbClr val="1A3C6E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19" name="TextBox 119"/>
            <p:cNvSpPr txBox="1"/>
            <p:nvPr/>
          </p:nvSpPr>
          <p:spPr>
            <a:xfrm>
              <a:off x="746760" y="5252085"/>
              <a:ext cx="2382774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6 种情况预览（详见后续 6 页）</a:t>
              </a:r>
              <a:endParaRPr lang="zh-CN" sz="12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grpSp>
          <p:nvGrpSpPr>
            <p:cNvPr id="124" name="Group 124"/>
            <p:cNvGrpSpPr/>
            <p:nvPr/>
          </p:nvGrpSpPr>
          <p:grpSpPr>
            <a:xfrm>
              <a:off x="762000" y="5524500"/>
              <a:ext cx="1666875" cy="714375"/>
              <a:chOff x="762000" y="5524500"/>
              <a:chExt cx="1666875" cy="714375"/>
            </a:xfrm>
          </p:grpSpPr>
          <p:sp>
            <p:nvSpPr>
              <p:cNvPr id="120" name="Rectangle 120"/>
              <p:cNvSpPr/>
              <p:nvPr/>
            </p:nvSpPr>
            <p:spPr>
              <a:xfrm>
                <a:off x="762000" y="5524500"/>
                <a:ext cx="1666875" cy="714375"/>
              </a:xfrm>
              <a:prstGeom prst="roundRect">
                <a:avLst>
                  <a:gd name="adj" fmla="val 8000"/>
                </a:avLst>
              </a:prstGeom>
              <a:solidFill>
                <a:srgbClr val="27AE60">
                  <a:alpha val="6000"/>
                </a:srgbClr>
              </a:solidFill>
              <a:ln w="9525">
                <a:solidFill>
                  <a:srgbClr val="27AE60"/>
                </a:solidFill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121" name="TextBox 121"/>
              <p:cNvSpPr txBox="1"/>
              <p:nvPr/>
            </p:nvSpPr>
            <p:spPr>
              <a:xfrm>
                <a:off x="1240291" y="5644991"/>
                <a:ext cx="719817" cy="1676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Chain+已观测</a:t>
                </a:r>
                <a:endParaRPr lang="zh-CN" sz="825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2" name="TextBox 122"/>
              <p:cNvSpPr txBox="1"/>
              <p:nvPr/>
            </p:nvSpPr>
            <p:spPr>
              <a:xfrm>
                <a:off x="1405652" y="5824538"/>
                <a:ext cx="389096" cy="1524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→ 阻断 ✓</a:t>
                </a:r>
                <a:endParaRPr lang="zh-CN" sz="7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3" name="TextBox 123"/>
              <p:cNvSpPr txBox="1"/>
              <p:nvPr/>
            </p:nvSpPr>
            <p:spPr>
              <a:xfrm>
                <a:off x="1146072" y="6004084"/>
                <a:ext cx="908256" cy="1371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P07 · 药物→血压→头晕</a:t>
                </a:r>
                <a:endPara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29" name="Group 129"/>
            <p:cNvGrpSpPr/>
            <p:nvPr/>
          </p:nvGrpSpPr>
          <p:grpSpPr>
            <a:xfrm>
              <a:off x="2571750" y="5524500"/>
              <a:ext cx="1666875" cy="714375"/>
              <a:chOff x="2571750" y="5524500"/>
              <a:chExt cx="1666875" cy="714375"/>
            </a:xfrm>
          </p:grpSpPr>
          <p:sp>
            <p:nvSpPr>
              <p:cNvPr id="125" name="Rectangle 125"/>
              <p:cNvSpPr/>
              <p:nvPr/>
            </p:nvSpPr>
            <p:spPr>
              <a:xfrm>
                <a:off x="2571750" y="5524500"/>
                <a:ext cx="1666875" cy="714375"/>
              </a:xfrm>
              <a:prstGeom prst="roundRect">
                <a:avLst>
                  <a:gd name="adj" fmla="val 8000"/>
                </a:avLst>
              </a:prstGeom>
              <a:solidFill>
                <a:srgbClr val="27AE60">
                  <a:alpha val="6000"/>
                </a:srgbClr>
              </a:solidFill>
              <a:ln w="9525">
                <a:solidFill>
                  <a:srgbClr val="27AE60"/>
                </a:solidFill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126" name="TextBox 126"/>
              <p:cNvSpPr txBox="1"/>
              <p:nvPr/>
            </p:nvSpPr>
            <p:spPr>
              <a:xfrm>
                <a:off x="3050041" y="5644991"/>
                <a:ext cx="719817" cy="1676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Chain+未观测</a:t>
                </a:r>
                <a:endParaRPr lang="zh-CN" sz="825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7" name="TextBox 127"/>
              <p:cNvSpPr txBox="1"/>
              <p:nvPr/>
            </p:nvSpPr>
            <p:spPr>
              <a:xfrm>
                <a:off x="2945368" y="5824538"/>
                <a:ext cx="929164" cy="1524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→ 连通 ✓ (唯一合法)</a:t>
                </a:r>
                <a:endParaRPr lang="zh-CN" sz="750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8" name="TextBox 128"/>
              <p:cNvSpPr txBox="1"/>
              <p:nvPr/>
            </p:nvSpPr>
            <p:spPr>
              <a:xfrm>
                <a:off x="2955822" y="6004084"/>
                <a:ext cx="908256" cy="1371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P08 · 用药→好转→恢复</a:t>
                </a:r>
                <a:endPara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34" name="Group 134"/>
            <p:cNvGrpSpPr/>
            <p:nvPr/>
          </p:nvGrpSpPr>
          <p:grpSpPr>
            <a:xfrm>
              <a:off x="4381500" y="5524500"/>
              <a:ext cx="1666875" cy="714375"/>
              <a:chOff x="4381500" y="5524500"/>
              <a:chExt cx="1666875" cy="714375"/>
            </a:xfrm>
          </p:grpSpPr>
          <p:sp>
            <p:nvSpPr>
              <p:cNvPr id="130" name="Rectangle 130"/>
              <p:cNvSpPr/>
              <p:nvPr/>
            </p:nvSpPr>
            <p:spPr>
              <a:xfrm>
                <a:off x="4381500" y="5524500"/>
                <a:ext cx="1666875" cy="714375"/>
              </a:xfrm>
              <a:prstGeom prst="roundRect">
                <a:avLst>
                  <a:gd name="adj" fmla="val 8000"/>
                </a:avLst>
              </a:prstGeom>
              <a:solidFill>
                <a:srgbClr val="27AE60">
                  <a:alpha val="6000"/>
                </a:srgbClr>
              </a:solidFill>
              <a:ln w="9525">
                <a:solidFill>
                  <a:srgbClr val="27AE60"/>
                </a:solidFill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131" name="TextBox 131"/>
              <p:cNvSpPr txBox="1"/>
              <p:nvPr/>
            </p:nvSpPr>
            <p:spPr>
              <a:xfrm>
                <a:off x="4877118" y="5644991"/>
                <a:ext cx="685163" cy="1676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Fork+已观测</a:t>
                </a:r>
                <a:endParaRPr lang="zh-CN" sz="825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2" name="TextBox 132"/>
              <p:cNvSpPr txBox="1"/>
              <p:nvPr/>
            </p:nvSpPr>
            <p:spPr>
              <a:xfrm>
                <a:off x="5025152" y="5824538"/>
                <a:ext cx="389096" cy="1524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→ 阻断 ✓</a:t>
                </a:r>
                <a:endParaRPr lang="zh-CN" sz="7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3" name="TextBox 133"/>
              <p:cNvSpPr txBox="1"/>
              <p:nvPr/>
            </p:nvSpPr>
            <p:spPr>
              <a:xfrm>
                <a:off x="4765572" y="6004084"/>
                <a:ext cx="908256" cy="1371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P09 · 暴雨→推迟+湿度</a:t>
                </a:r>
                <a:endPara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>
              <a:off x="6191250" y="5524500"/>
              <a:ext cx="1666875" cy="714375"/>
              <a:chOff x="6191250" y="5524500"/>
              <a:chExt cx="1666875" cy="714375"/>
            </a:xfrm>
          </p:grpSpPr>
          <p:sp>
            <p:nvSpPr>
              <p:cNvPr id="135" name="Rectangle 135"/>
              <p:cNvSpPr/>
              <p:nvPr/>
            </p:nvSpPr>
            <p:spPr>
              <a:xfrm>
                <a:off x="6191250" y="5524500"/>
                <a:ext cx="1666875" cy="714375"/>
              </a:xfrm>
              <a:prstGeom prst="roundRect">
                <a:avLst>
                  <a:gd name="adj" fmla="val 8000"/>
                </a:avLst>
              </a:prstGeom>
              <a:solidFill>
                <a:srgbClr val="E74C3C">
                  <a:alpha val="6000"/>
                </a:srgbClr>
              </a:solidFill>
              <a:ln w="9525">
                <a:solidFill>
                  <a:srgbClr val="E74C3C"/>
                </a:solidFill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136" name="TextBox 136"/>
              <p:cNvSpPr txBox="1"/>
              <p:nvPr/>
            </p:nvSpPr>
            <p:spPr>
              <a:xfrm>
                <a:off x="6686868" y="5644991"/>
                <a:ext cx="685163" cy="1676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Fork+未观测</a:t>
                </a:r>
                <a:endParaRPr lang="zh-CN" sz="8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7" name="TextBox 137"/>
              <p:cNvSpPr txBox="1"/>
              <p:nvPr/>
            </p:nvSpPr>
            <p:spPr>
              <a:xfrm>
                <a:off x="6619875" y="5824538"/>
                <a:ext cx="819150" cy="1524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→ 连通 ⚠ 后门大开</a:t>
                </a:r>
                <a:endParaRPr lang="zh-CN" sz="750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8" name="TextBox 138"/>
              <p:cNvSpPr txBox="1"/>
              <p:nvPr/>
            </p:nvSpPr>
            <p:spPr>
              <a:xfrm>
                <a:off x="6631579" y="6004084"/>
                <a:ext cx="795742" cy="1371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P10 · LLM常见错误</a:t>
                </a:r>
                <a:endPara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44" name="Group 144"/>
            <p:cNvGrpSpPr/>
            <p:nvPr/>
          </p:nvGrpSpPr>
          <p:grpSpPr>
            <a:xfrm>
              <a:off x="8001000" y="5524500"/>
              <a:ext cx="1666875" cy="714375"/>
              <a:chOff x="8001000" y="5524500"/>
              <a:chExt cx="1666875" cy="714375"/>
            </a:xfrm>
          </p:grpSpPr>
          <p:sp>
            <p:nvSpPr>
              <p:cNvPr id="140" name="Rectangle 140"/>
              <p:cNvSpPr/>
              <p:nvPr/>
            </p:nvSpPr>
            <p:spPr>
              <a:xfrm>
                <a:off x="8001000" y="5524500"/>
                <a:ext cx="1666875" cy="714375"/>
              </a:xfrm>
              <a:prstGeom prst="roundRect">
                <a:avLst>
                  <a:gd name="adj" fmla="val 8000"/>
                </a:avLst>
              </a:prstGeom>
              <a:solidFill>
                <a:srgbClr val="E74C3C">
                  <a:alpha val="6000"/>
                </a:srgbClr>
              </a:solidFill>
              <a:ln w="9525">
                <a:solidFill>
                  <a:srgbClr val="E74C3C"/>
                </a:solidFill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141" name="TextBox 141"/>
              <p:cNvSpPr txBox="1"/>
              <p:nvPr/>
            </p:nvSpPr>
            <p:spPr>
              <a:xfrm>
                <a:off x="8412871" y="5644991"/>
                <a:ext cx="852659" cy="1676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Collider+已观测</a:t>
                </a:r>
                <a:endParaRPr lang="zh-CN" sz="8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2" name="TextBox 142"/>
              <p:cNvSpPr txBox="1"/>
              <p:nvPr/>
            </p:nvSpPr>
            <p:spPr>
              <a:xfrm>
                <a:off x="8464629" y="5824538"/>
                <a:ext cx="749141" cy="1524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→ 激活! ⚠ 最危险</a:t>
                </a:r>
                <a:endParaRPr lang="zh-CN" sz="750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3" name="TextBox 143"/>
              <p:cNvSpPr txBox="1"/>
              <p:nvPr/>
            </p:nvSpPr>
            <p:spPr>
              <a:xfrm>
                <a:off x="8369320" y="6004084"/>
                <a:ext cx="939760" cy="1371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P11 · explaining away</a:t>
                </a:r>
                <a:endPara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49" name="Group 149"/>
            <p:cNvGrpSpPr/>
            <p:nvPr/>
          </p:nvGrpSpPr>
          <p:grpSpPr>
            <a:xfrm>
              <a:off x="9810750" y="5524500"/>
              <a:ext cx="1666875" cy="714375"/>
              <a:chOff x="9810750" y="5524500"/>
              <a:chExt cx="1666875" cy="714375"/>
            </a:xfrm>
          </p:grpSpPr>
          <p:sp>
            <p:nvSpPr>
              <p:cNvPr id="145" name="Rectangle 145"/>
              <p:cNvSpPr/>
              <p:nvPr/>
            </p:nvSpPr>
            <p:spPr>
              <a:xfrm>
                <a:off x="9810750" y="5524500"/>
                <a:ext cx="1666875" cy="714375"/>
              </a:xfrm>
              <a:prstGeom prst="roundRect">
                <a:avLst>
                  <a:gd name="adj" fmla="val 8000"/>
                </a:avLst>
              </a:prstGeom>
              <a:solidFill>
                <a:srgbClr val="27AE60">
                  <a:alpha val="6000"/>
                </a:srgbClr>
              </a:solidFill>
              <a:ln w="9525">
                <a:solidFill>
                  <a:srgbClr val="27AE60"/>
                </a:solidFill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146" name="TextBox 146"/>
              <p:cNvSpPr txBox="1"/>
              <p:nvPr/>
            </p:nvSpPr>
            <p:spPr>
              <a:xfrm>
                <a:off x="10222621" y="5644991"/>
                <a:ext cx="852659" cy="1676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Collider+未观测</a:t>
                </a:r>
                <a:endParaRPr lang="zh-CN" sz="825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7" name="TextBox 147"/>
              <p:cNvSpPr txBox="1"/>
              <p:nvPr/>
            </p:nvSpPr>
            <p:spPr>
              <a:xfrm>
                <a:off x="10239375" y="5824538"/>
                <a:ext cx="819150" cy="1524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→ 阻断 ✓ 天然绝缘</a:t>
                </a:r>
                <a:endParaRPr lang="zh-CN" sz="7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8" name="TextBox 148"/>
              <p:cNvSpPr txBox="1"/>
              <p:nvPr/>
            </p:nvSpPr>
            <p:spPr>
              <a:xfrm>
                <a:off x="10199322" y="6004084"/>
                <a:ext cx="899255" cy="1371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P12 · 不翻垃圾桶安全</a:t>
                </a:r>
                <a:endParaRPr lang="zh-CN" sz="6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151" name="TextBox 151"/>
          <p:cNvSpPr txBox="1"/>
          <p:nvPr/>
        </p:nvSpPr>
        <p:spPr>
          <a:xfrm>
            <a:off x="560070" y="6522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06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2" name="TextBox 152"/>
          <p:cNvSpPr txBox="1"/>
          <p:nvPr/>
        </p:nvSpPr>
        <p:spPr>
          <a:xfrm>
            <a:off x="10954988" y="6522720"/>
            <a:ext cx="676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EdgeThemis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0" grpId="0"/>
      <p:bldP spid="102" grpId="0"/>
      <p:bldP spid="109" grpId="0"/>
      <p:bldP spid="116" grpId="0"/>
      <p:bldP spid="1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85750"/>
            <a:ext cx="11049000" cy="561975"/>
            <a:chOff x="571500" y="285750"/>
            <a:chExt cx="11049000" cy="561975"/>
          </a:xfrm>
        </p:grpSpPr>
        <p:sp>
          <p:nvSpPr>
            <p:cNvPr id="3" name="Rectangle 3"/>
            <p:cNvSpPr/>
            <p:nvPr/>
          </p:nvSpPr>
          <p:spPr>
            <a:xfrm>
              <a:off x="571500" y="285750"/>
              <a:ext cx="47625" cy="304800"/>
            </a:xfrm>
            <a:prstGeom prst="roundRect">
              <a:avLst>
                <a:gd name="adj" fmla="val 4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6280" y="306705"/>
              <a:ext cx="35817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Case 1: 链式+已观测→阻断</a:t>
              </a:r>
              <a:endParaRPr lang="zh-CN" sz="21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610552"/>
              <a:ext cx="2420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Chain X→M→Y · M observed → Blocked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38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619750" y="133350"/>
            <a:ext cx="6572250" cy="433388"/>
            <a:chOff x="5619750" y="133350"/>
            <a:chExt cx="6572250" cy="433388"/>
          </a:xfrm>
        </p:grpSpPr>
        <p:sp>
          <p:nvSpPr>
            <p:cNvPr id="8" name="Rectangle 8"/>
            <p:cNvSpPr/>
            <p:nvPr/>
          </p:nvSpPr>
          <p:spPr>
            <a:xfrm>
              <a:off x="5619750" y="133350"/>
              <a:ext cx="6096000" cy="400050"/>
            </a:xfrm>
            <a:prstGeom prst="roundRect">
              <a:avLst>
                <a:gd name="adj" fmla="val 1428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5848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11322" y="438626"/>
              <a:ext cx="188357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Ellipse 11"/>
            <p:cNvSpPr/>
            <p:nvPr/>
          </p:nvSpPr>
          <p:spPr>
            <a:xfrm>
              <a:off x="6610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87561" y="438626"/>
              <a:ext cx="359878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Generator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Ellipse 13"/>
            <p:cNvSpPr/>
            <p:nvPr/>
          </p:nvSpPr>
          <p:spPr>
            <a:xfrm>
              <a:off x="7372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67063" y="438626"/>
              <a:ext cx="32487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Interning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818197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57436" y="438626"/>
              <a:ext cx="363379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Kahn Cycle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9001125" y="171450"/>
              <a:ext cx="190500" cy="190500"/>
            </a:xfrm>
            <a:prstGeom prst="ellipse">
              <a:avLst/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53433" y="414338"/>
              <a:ext cx="68588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d-Separation</a:t>
              </a:r>
              <a:endParaRPr lang="zh-CN" sz="750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9848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47063" y="438626"/>
              <a:ext cx="317873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FMEA RPN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Ellipse 21"/>
            <p:cNvSpPr/>
            <p:nvPr/>
          </p:nvSpPr>
          <p:spPr>
            <a:xfrm>
              <a:off x="10610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96812" y="438626"/>
              <a:ext cx="34237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Reflector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1132522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53192" y="438626"/>
              <a:ext cx="25836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Output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6000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762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524750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334375" y="2667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91625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00012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0763250" y="26670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1620500" y="180975"/>
              <a:ext cx="571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D5D8DC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1687175" y="238125"/>
              <a:ext cx="57150" cy="57150"/>
            </a:xfrm>
            <a:prstGeom prst="ellipse">
              <a:avLst/>
            </a:prstGeom>
            <a:solidFill>
              <a:srgbClr val="E8B93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785282" y="238601"/>
              <a:ext cx="24436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Ellipse 35"/>
            <p:cNvSpPr/>
            <p:nvPr/>
          </p:nvSpPr>
          <p:spPr>
            <a:xfrm>
              <a:off x="11687175" y="352425"/>
              <a:ext cx="57150" cy="57150"/>
            </a:xfrm>
            <a:prstGeom prst="ellipse">
              <a:avLst/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785282" y="352901"/>
              <a:ext cx="16735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66750" y="1047750"/>
            <a:ext cx="3810000" cy="2667000"/>
            <a:chOff x="666750" y="1047750"/>
            <a:chExt cx="3810000" cy="2667000"/>
          </a:xfrm>
        </p:grpSpPr>
        <p:sp>
          <p:nvSpPr>
            <p:cNvPr id="38" name="Rectangle 38"/>
            <p:cNvSpPr/>
            <p:nvPr/>
          </p:nvSpPr>
          <p:spPr>
            <a:xfrm>
              <a:off x="666750" y="1047750"/>
              <a:ext cx="3810000" cy="2667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5D8D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095307" y="1220152"/>
              <a:ext cx="9528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Chain: X→M→Y</a:t>
              </a:r>
              <a:endParaRPr lang="zh-CN" sz="1050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Line 40"/>
            <p:cNvSpPr/>
            <p:nvPr/>
          </p:nvSpPr>
          <p:spPr>
            <a:xfrm>
              <a:off x="1578292" y="1628775"/>
              <a:ext cx="843915" cy="361950"/>
            </a:xfrm>
            <a:custGeom>
              <a:avLst/>
              <a:gdLst/>
              <a:ahLst/>
              <a:cxnLst/>
              <a:rect l="l" t="t" r="r" b="b"/>
              <a:pathLst>
                <a:path w="843915" h="361950">
                  <a:moveTo>
                    <a:pt x="0" y="361950"/>
                  </a:moveTo>
                  <a:lnTo>
                    <a:pt x="843915" y="0"/>
                  </a:lnTo>
                </a:path>
              </a:pathLst>
            </a:custGeom>
            <a:noFill/>
            <a:ln w="28575">
              <a:solidFill>
                <a:srgbClr val="27AE60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2230755" y="1617345"/>
              <a:ext cx="191453" cy="158115"/>
            </a:xfrm>
            <a:custGeom>
              <a:avLst/>
              <a:gdLst/>
              <a:ahLst/>
              <a:cxnLst/>
              <a:rect l="l" t="t" r="r" b="b"/>
              <a:pathLst>
                <a:path w="191453" h="158115">
                  <a:moveTo>
                    <a:pt x="191453" y="11430"/>
                  </a:moveTo>
                  <a:lnTo>
                    <a:pt x="67628" y="158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AE60"/>
            </a:solidFill>
            <a:ln w="14288">
              <a:solidFill>
                <a:srgbClr val="FFFFFF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2911792" y="1628775"/>
              <a:ext cx="843915" cy="361950"/>
            </a:xfrm>
            <a:custGeom>
              <a:avLst/>
              <a:gdLst/>
              <a:ahLst/>
              <a:cxnLst/>
              <a:rect l="l" t="t" r="r" b="b"/>
              <a:pathLst>
                <a:path w="843915" h="361950">
                  <a:moveTo>
                    <a:pt x="0" y="0"/>
                  </a:moveTo>
                  <a:lnTo>
                    <a:pt x="843915" y="361950"/>
                  </a:lnTo>
                </a:path>
              </a:pathLst>
            </a:custGeom>
            <a:noFill/>
            <a:ln w="28575">
              <a:solidFill>
                <a:srgbClr val="27AE60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3564255" y="1844040"/>
              <a:ext cx="191453" cy="158115"/>
            </a:xfrm>
            <a:custGeom>
              <a:avLst/>
              <a:gdLst/>
              <a:ahLst/>
              <a:cxnLst/>
              <a:rect l="l" t="t" r="r" b="b"/>
              <a:pathLst>
                <a:path w="191453" h="158115">
                  <a:moveTo>
                    <a:pt x="191453" y="146685"/>
                  </a:moveTo>
                  <a:lnTo>
                    <a:pt x="0" y="158115"/>
                  </a:lnTo>
                  <a:lnTo>
                    <a:pt x="67628" y="0"/>
                  </a:lnTo>
                  <a:close/>
                </a:path>
              </a:pathLst>
            </a:custGeom>
            <a:solidFill>
              <a:srgbClr val="27AE60"/>
            </a:solidFill>
            <a:ln w="14288">
              <a:solidFill>
                <a:srgbClr val="FFFFFF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085850" y="18478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27AE60"/>
              </a:solidFill>
              <a:custDash>
                <a:ds d="200000" sp="120000"/>
              </a:custDash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275895" y="2031206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X</a:t>
              </a:r>
              <a:endParaRPr lang="zh-CN" sz="1125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Ellipse 46"/>
            <p:cNvSpPr/>
            <p:nvPr/>
          </p:nvSpPr>
          <p:spPr>
            <a:xfrm>
              <a:off x="2419350" y="1276350"/>
              <a:ext cx="495300" cy="495300"/>
            </a:xfrm>
            <a:prstGeom prst="ellipse">
              <a:avLst/>
            </a:prstGeom>
            <a:solidFill>
              <a:srgbClr val="27AE60">
                <a:alpha val="15000"/>
              </a:srgbClr>
            </a:solidFill>
            <a:ln w="23812">
              <a:solidFill>
                <a:srgbClr val="27AE6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593643" y="1459706"/>
              <a:ext cx="1467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</a:t>
              </a:r>
              <a:endParaRPr lang="zh-CN" sz="1125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455325" y="1709738"/>
              <a:ext cx="42335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已观测 ✓</a:t>
              </a:r>
              <a:endParaRPr lang="zh-CN" sz="75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Ellipse 49"/>
            <p:cNvSpPr/>
            <p:nvPr/>
          </p:nvSpPr>
          <p:spPr>
            <a:xfrm>
              <a:off x="3752850" y="18478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27AE60"/>
              </a:solidFill>
              <a:custDash>
                <a:ds d="200000" sp="120000"/>
              </a:custDash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942895" y="2031206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Y</a:t>
              </a:r>
              <a:endParaRPr lang="zh-CN" sz="1125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762500" y="1047750"/>
            <a:ext cx="3048000" cy="2476500"/>
            <a:chOff x="4762500" y="1047750"/>
            <a:chExt cx="3048000" cy="2476500"/>
          </a:xfrm>
        </p:grpSpPr>
        <p:sp>
          <p:nvSpPr>
            <p:cNvPr id="52" name="Rectangle 52"/>
            <p:cNvSpPr/>
            <p:nvPr/>
          </p:nvSpPr>
          <p:spPr>
            <a:xfrm>
              <a:off x="4762500" y="1047750"/>
              <a:ext cx="3048000" cy="2476500"/>
            </a:xfrm>
            <a:prstGeom prst="roundRect">
              <a:avLst>
                <a:gd name="adj" fmla="val 384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85092" y="120110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贝叶斯球移动轨迹</a:t>
              </a:r>
              <a:endParaRPr lang="zh-CN" sz="1050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Line 54"/>
            <p:cNvSpPr/>
            <p:nvPr/>
          </p:nvSpPr>
          <p:spPr>
            <a:xfrm>
              <a:off x="4953000" y="14097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940618" y="1513999"/>
              <a:ext cx="1181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Step0: (X,Up)出发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940618" y="1723549"/>
              <a:ext cx="17929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Step1: X未观测→Rule1→Up到M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940618" y="1933099"/>
              <a:ext cx="1376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Step2: M已观测→Rule2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940618" y="2142649"/>
              <a:ext cx="1084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→ 两个方向都阻断!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940618" y="2352199"/>
              <a:ext cx="7528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→ 球卡死在M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940618" y="2561749"/>
              <a:ext cx="13314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7AE6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→ return true (安全)</a:t>
              </a:r>
              <a:endParaRPr lang="zh-CN" sz="975" b="1" dirty="0">
                <a:solidFill>
                  <a:srgbClr val="27AE6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096250" y="1047750"/>
            <a:ext cx="3524250" cy="866775"/>
            <a:chOff x="8096250" y="1047750"/>
            <a:chExt cx="3524250" cy="866775"/>
          </a:xfrm>
        </p:grpSpPr>
        <p:sp>
          <p:nvSpPr>
            <p:cNvPr id="62" name="Rectangle 62"/>
            <p:cNvSpPr/>
            <p:nvPr/>
          </p:nvSpPr>
          <p:spPr>
            <a:xfrm>
              <a:off x="8096250" y="1047750"/>
              <a:ext cx="3524250" cy="857250"/>
            </a:xfrm>
            <a:prstGeom prst="roundRect">
              <a:avLst>
                <a:gd name="adj" fmla="val 11111"/>
              </a:avLst>
            </a:prstGeom>
            <a:solidFill>
              <a:srgbClr val="27AE60">
                <a:alpha val="8000"/>
              </a:srgbClr>
            </a:solidFill>
            <a:ln w="14288">
              <a:solidFill>
                <a:srgbClr val="27AE60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389478" y="1203960"/>
              <a:ext cx="9377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判定: 规则2</a:t>
              </a:r>
              <a:endParaRPr lang="zh-CN" sz="120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381138" y="1441132"/>
              <a:ext cx="9544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X⊥Y 阻断</a:t>
              </a:r>
              <a:endParaRPr lang="zh-CN" sz="165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399889" y="1731645"/>
              <a:ext cx="9169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Z 状态: M已观测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096250" y="2095500"/>
            <a:ext cx="3524250" cy="1714500"/>
            <a:chOff x="8096250" y="2095500"/>
            <a:chExt cx="3524250" cy="1714500"/>
          </a:xfrm>
          <a:effectLst>
            <a:outerShdw blurRad="76200" dist="19050" dir="5400000" algn="ctr" rotWithShape="0">
              <a:srgbClr val="000000">
                <a:alpha val="4500"/>
              </a:srgbClr>
            </a:outerShdw>
          </a:effectLst>
        </p:grpSpPr>
        <p:sp>
          <p:nvSpPr>
            <p:cNvPr id="67" name="Rectangle 67"/>
            <p:cNvSpPr/>
            <p:nvPr/>
          </p:nvSpPr>
          <p:spPr>
            <a:xfrm>
              <a:off x="8096250" y="2095500"/>
              <a:ext cx="3524250" cy="17145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68" name="Rectangle 68"/>
            <p:cNvSpPr/>
            <p:nvPr/>
          </p:nvSpPr>
          <p:spPr>
            <a:xfrm>
              <a:off x="8096250" y="2095500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27AE60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69" name="TextBox 69"/>
            <p:cNvSpPr txBox="1"/>
            <p:nvPr/>
          </p:nvSpPr>
          <p:spPr>
            <a:xfrm>
              <a:off x="8271510" y="2251710"/>
              <a:ext cx="702564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7AE60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现实案例</a:t>
              </a:r>
              <a:endParaRPr lang="zh-CN" sz="1200" b="1" dirty="0">
                <a:solidFill>
                  <a:srgbClr val="27AE60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73415" y="2534602"/>
              <a:ext cx="1658574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药物→血压降低→头晕缓解</a:t>
              </a:r>
              <a:endParaRPr lang="zh-CN" sz="10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74368" y="2847499"/>
              <a:ext cx="1825490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已知血压确实降低了(M被观测)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74368" y="3076099"/>
              <a:ext cx="131842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在'血压已降'前提下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74368" y="3304699"/>
              <a:ext cx="2144030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用药(X)对头晕缓解(Y)无额外预测力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274368" y="3533299"/>
              <a:ext cx="785360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路径被阻断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71500" y="4000500"/>
            <a:ext cx="11049000" cy="2381250"/>
            <a:chOff x="571500" y="4000500"/>
            <a:chExt cx="11049000" cy="2381250"/>
          </a:xfrm>
        </p:grpSpPr>
        <p:sp>
          <p:nvSpPr>
            <p:cNvPr id="76" name="Rectangle 76"/>
            <p:cNvSpPr/>
            <p:nvPr/>
          </p:nvSpPr>
          <p:spPr>
            <a:xfrm>
              <a:off x="571500" y="4000500"/>
              <a:ext cx="11049000" cy="2381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8DC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571500" y="4000500"/>
              <a:ext cx="11049000" cy="57150"/>
            </a:xfrm>
            <a:prstGeom prst="roundRect">
              <a:avLst>
                <a:gd name="adj" fmla="val 5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46760" y="4156710"/>
              <a:ext cx="20467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深入理解：球是怎么移动的</a:t>
              </a:r>
              <a:endParaRPr lang="zh-CN" sz="12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48665" y="4696778"/>
              <a:ext cx="45772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球从X出发→Up到M。M已观测→Rule2触发：两个方向都阻断。球卡死在M。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48665" y="4944428"/>
              <a:ext cx="30860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一旦知道中介M，起点X就无法给终点Y额外信息。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48665" y="5192078"/>
              <a:ext cx="36251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Chain的'安全模式'——中介被控制后，因果传导链被截断。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83" name="TextBox 83"/>
          <p:cNvSpPr txBox="1"/>
          <p:nvPr/>
        </p:nvSpPr>
        <p:spPr>
          <a:xfrm>
            <a:off x="560070" y="6522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4" name="TextBox 84"/>
          <p:cNvSpPr txBox="1"/>
          <p:nvPr/>
        </p:nvSpPr>
        <p:spPr>
          <a:xfrm>
            <a:off x="10954988" y="6522720"/>
            <a:ext cx="676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EdgeThemis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51" grpId="0"/>
      <p:bldP spid="61" grpId="0"/>
      <p:bldP spid="66" grpId="0"/>
      <p:bldP spid="75" grpId="0"/>
      <p:bldP spid="8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85750"/>
            <a:ext cx="11049000" cy="561975"/>
            <a:chOff x="571500" y="285750"/>
            <a:chExt cx="11049000" cy="561975"/>
          </a:xfrm>
        </p:grpSpPr>
        <p:sp>
          <p:nvSpPr>
            <p:cNvPr id="3" name="Rectangle 3"/>
            <p:cNvSpPr/>
            <p:nvPr/>
          </p:nvSpPr>
          <p:spPr>
            <a:xfrm>
              <a:off x="571500" y="285750"/>
              <a:ext cx="47625" cy="304800"/>
            </a:xfrm>
            <a:prstGeom prst="roundRect">
              <a:avLst>
                <a:gd name="adj" fmla="val 4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6280" y="306705"/>
              <a:ext cx="35817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Case 2: 链式+未观测→连通</a:t>
              </a:r>
              <a:endParaRPr lang="zh-CN" sz="21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610552"/>
              <a:ext cx="29110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Chain X→M→Y · M NOT observed → Connected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38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619750" y="133350"/>
            <a:ext cx="6572250" cy="433388"/>
            <a:chOff x="5619750" y="133350"/>
            <a:chExt cx="6572250" cy="433388"/>
          </a:xfrm>
        </p:grpSpPr>
        <p:sp>
          <p:nvSpPr>
            <p:cNvPr id="8" name="Rectangle 8"/>
            <p:cNvSpPr/>
            <p:nvPr/>
          </p:nvSpPr>
          <p:spPr>
            <a:xfrm>
              <a:off x="5619750" y="133350"/>
              <a:ext cx="6096000" cy="400050"/>
            </a:xfrm>
            <a:prstGeom prst="roundRect">
              <a:avLst>
                <a:gd name="adj" fmla="val 1428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5848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11322" y="438626"/>
              <a:ext cx="188357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Ellipse 11"/>
            <p:cNvSpPr/>
            <p:nvPr/>
          </p:nvSpPr>
          <p:spPr>
            <a:xfrm>
              <a:off x="6610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87561" y="438626"/>
              <a:ext cx="359878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Generator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Ellipse 13"/>
            <p:cNvSpPr/>
            <p:nvPr/>
          </p:nvSpPr>
          <p:spPr>
            <a:xfrm>
              <a:off x="7372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67063" y="438626"/>
              <a:ext cx="32487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Interning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818197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57436" y="438626"/>
              <a:ext cx="363379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Kahn Cycle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9001125" y="171450"/>
              <a:ext cx="190500" cy="190500"/>
            </a:xfrm>
            <a:prstGeom prst="ellipse">
              <a:avLst/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53433" y="414338"/>
              <a:ext cx="68588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d-Separation</a:t>
              </a:r>
              <a:endParaRPr lang="zh-CN" sz="750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9848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47063" y="438626"/>
              <a:ext cx="317873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FMEA RPN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Ellipse 21"/>
            <p:cNvSpPr/>
            <p:nvPr/>
          </p:nvSpPr>
          <p:spPr>
            <a:xfrm>
              <a:off x="10610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96812" y="438626"/>
              <a:ext cx="34237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Reflector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1132522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53192" y="438626"/>
              <a:ext cx="25836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Output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6000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762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524750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334375" y="2667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91625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00012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0763250" y="26670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1620500" y="180975"/>
              <a:ext cx="571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D5D8DC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1687175" y="238125"/>
              <a:ext cx="57150" cy="57150"/>
            </a:xfrm>
            <a:prstGeom prst="ellipse">
              <a:avLst/>
            </a:prstGeom>
            <a:solidFill>
              <a:srgbClr val="E8B93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785282" y="238601"/>
              <a:ext cx="24436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Ellipse 35"/>
            <p:cNvSpPr/>
            <p:nvPr/>
          </p:nvSpPr>
          <p:spPr>
            <a:xfrm>
              <a:off x="11687175" y="352425"/>
              <a:ext cx="57150" cy="57150"/>
            </a:xfrm>
            <a:prstGeom prst="ellipse">
              <a:avLst/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785282" y="352901"/>
              <a:ext cx="16735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66750" y="1047750"/>
            <a:ext cx="3810000" cy="2667000"/>
            <a:chOff x="666750" y="1047750"/>
            <a:chExt cx="3810000" cy="2667000"/>
          </a:xfrm>
        </p:grpSpPr>
        <p:sp>
          <p:nvSpPr>
            <p:cNvPr id="38" name="Rectangle 38"/>
            <p:cNvSpPr/>
            <p:nvPr/>
          </p:nvSpPr>
          <p:spPr>
            <a:xfrm>
              <a:off x="666750" y="1047750"/>
              <a:ext cx="3810000" cy="2667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5D8D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095307" y="1220152"/>
              <a:ext cx="9528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Chain: X→M→Y</a:t>
              </a:r>
              <a:endParaRPr lang="zh-CN" sz="1050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Line 40"/>
            <p:cNvSpPr/>
            <p:nvPr/>
          </p:nvSpPr>
          <p:spPr>
            <a:xfrm>
              <a:off x="1578292" y="1628775"/>
              <a:ext cx="843915" cy="361950"/>
            </a:xfrm>
            <a:custGeom>
              <a:avLst/>
              <a:gdLst/>
              <a:ahLst/>
              <a:cxnLst/>
              <a:rect l="l" t="t" r="r" b="b"/>
              <a:pathLst>
                <a:path w="843915" h="361950">
                  <a:moveTo>
                    <a:pt x="0" y="361950"/>
                  </a:moveTo>
                  <a:lnTo>
                    <a:pt x="843915" y="0"/>
                  </a:lnTo>
                </a:path>
              </a:pathLst>
            </a:custGeom>
            <a:noFill/>
            <a:ln w="28575">
              <a:solidFill>
                <a:srgbClr val="27AE60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2230755" y="1617345"/>
              <a:ext cx="191453" cy="158115"/>
            </a:xfrm>
            <a:custGeom>
              <a:avLst/>
              <a:gdLst/>
              <a:ahLst/>
              <a:cxnLst/>
              <a:rect l="l" t="t" r="r" b="b"/>
              <a:pathLst>
                <a:path w="191453" h="158115">
                  <a:moveTo>
                    <a:pt x="191453" y="11430"/>
                  </a:moveTo>
                  <a:lnTo>
                    <a:pt x="67628" y="158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AE60"/>
            </a:solidFill>
            <a:ln w="14288">
              <a:solidFill>
                <a:srgbClr val="FFFFFF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2911792" y="1628775"/>
              <a:ext cx="843915" cy="361950"/>
            </a:xfrm>
            <a:custGeom>
              <a:avLst/>
              <a:gdLst/>
              <a:ahLst/>
              <a:cxnLst/>
              <a:rect l="l" t="t" r="r" b="b"/>
              <a:pathLst>
                <a:path w="843915" h="361950">
                  <a:moveTo>
                    <a:pt x="0" y="0"/>
                  </a:moveTo>
                  <a:lnTo>
                    <a:pt x="843915" y="361950"/>
                  </a:lnTo>
                </a:path>
              </a:pathLst>
            </a:custGeom>
            <a:noFill/>
            <a:ln w="28575">
              <a:solidFill>
                <a:srgbClr val="27AE60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3564255" y="1844040"/>
              <a:ext cx="191453" cy="158115"/>
            </a:xfrm>
            <a:custGeom>
              <a:avLst/>
              <a:gdLst/>
              <a:ahLst/>
              <a:cxnLst/>
              <a:rect l="l" t="t" r="r" b="b"/>
              <a:pathLst>
                <a:path w="191453" h="158115">
                  <a:moveTo>
                    <a:pt x="191453" y="146685"/>
                  </a:moveTo>
                  <a:lnTo>
                    <a:pt x="0" y="158115"/>
                  </a:lnTo>
                  <a:lnTo>
                    <a:pt x="67628" y="0"/>
                  </a:lnTo>
                  <a:close/>
                </a:path>
              </a:pathLst>
            </a:custGeom>
            <a:solidFill>
              <a:srgbClr val="27AE60"/>
            </a:solidFill>
            <a:ln w="14288">
              <a:solidFill>
                <a:srgbClr val="FFFFFF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085850" y="18478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27AE60"/>
              </a:solidFill>
              <a:custDash>
                <a:ds d="200000" sp="120000"/>
              </a:custDash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275895" y="2031206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X</a:t>
              </a:r>
              <a:endParaRPr lang="zh-CN" sz="1125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Ellipse 46"/>
            <p:cNvSpPr/>
            <p:nvPr/>
          </p:nvSpPr>
          <p:spPr>
            <a:xfrm>
              <a:off x="2419350" y="12763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27AE60"/>
              </a:solidFill>
              <a:custDash>
                <a:ds d="200000" sp="120000"/>
              </a:custDash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593643" y="1459706"/>
              <a:ext cx="1467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</a:t>
              </a:r>
              <a:endParaRPr lang="zh-CN" sz="1125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Ellipse 48"/>
            <p:cNvSpPr/>
            <p:nvPr/>
          </p:nvSpPr>
          <p:spPr>
            <a:xfrm>
              <a:off x="3752850" y="18478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27AE60"/>
              </a:solidFill>
              <a:custDash>
                <a:ds d="200000" sp="120000"/>
              </a:custDash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942895" y="2031206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Y</a:t>
              </a:r>
              <a:endParaRPr lang="zh-CN" sz="1125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762500" y="1047750"/>
            <a:ext cx="3048000" cy="2476500"/>
            <a:chOff x="4762500" y="1047750"/>
            <a:chExt cx="3048000" cy="2476500"/>
          </a:xfrm>
        </p:grpSpPr>
        <p:sp>
          <p:nvSpPr>
            <p:cNvPr id="51" name="Rectangle 51"/>
            <p:cNvSpPr/>
            <p:nvPr/>
          </p:nvSpPr>
          <p:spPr>
            <a:xfrm>
              <a:off x="4762500" y="1047750"/>
              <a:ext cx="3048000" cy="2476500"/>
            </a:xfrm>
            <a:prstGeom prst="roundRect">
              <a:avLst>
                <a:gd name="adj" fmla="val 384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685092" y="120110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贝叶斯球移动轨迹</a:t>
              </a:r>
              <a:endParaRPr lang="zh-CN" sz="1050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Line 53"/>
            <p:cNvSpPr/>
            <p:nvPr/>
          </p:nvSpPr>
          <p:spPr>
            <a:xfrm>
              <a:off x="4953000" y="14097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940618" y="1513999"/>
              <a:ext cx="1181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Step0: (X,Up)出发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940618" y="1723549"/>
              <a:ext cx="19620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Step1: X未观测→Rule1→Down到M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940618" y="1933099"/>
              <a:ext cx="1376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Step2: M未观测→Rule3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940618" y="2142649"/>
              <a:ext cx="11104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→ 只允许Down→到Y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940618" y="235219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Step3: 球到达Y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940618" y="2561749"/>
              <a:ext cx="18904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7AE6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→ return false (连通，但合法)</a:t>
              </a:r>
              <a:endParaRPr lang="zh-CN" sz="975" b="1" dirty="0">
                <a:solidFill>
                  <a:srgbClr val="27AE6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096250" y="1047750"/>
            <a:ext cx="3524250" cy="866775"/>
            <a:chOff x="8096250" y="1047750"/>
            <a:chExt cx="3524250" cy="866775"/>
          </a:xfrm>
        </p:grpSpPr>
        <p:sp>
          <p:nvSpPr>
            <p:cNvPr id="61" name="Rectangle 61"/>
            <p:cNvSpPr/>
            <p:nvPr/>
          </p:nvSpPr>
          <p:spPr>
            <a:xfrm>
              <a:off x="8096250" y="1047750"/>
              <a:ext cx="3524250" cy="857250"/>
            </a:xfrm>
            <a:prstGeom prst="roundRect">
              <a:avLst>
                <a:gd name="adj" fmla="val 11111"/>
              </a:avLst>
            </a:prstGeom>
            <a:solidFill>
              <a:srgbClr val="27AE60">
                <a:alpha val="8000"/>
              </a:srgbClr>
            </a:solidFill>
            <a:ln w="14288">
              <a:solidFill>
                <a:srgbClr val="27AE60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89478" y="1203960"/>
              <a:ext cx="9377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判定: 规则3</a:t>
              </a:r>
              <a:endParaRPr lang="zh-CN" sz="120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17605" y="1441132"/>
              <a:ext cx="10815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X¬⊥Y 连通</a:t>
              </a:r>
              <a:endParaRPr lang="zh-CN" sz="165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399889" y="1731645"/>
              <a:ext cx="9169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Z 状态: M未观测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8096250" y="2095500"/>
            <a:ext cx="3524250" cy="1714500"/>
            <a:chOff x="8096250" y="2095500"/>
            <a:chExt cx="3524250" cy="1714500"/>
          </a:xfrm>
          <a:effectLst>
            <a:outerShdw blurRad="76200" dist="19050" dir="5400000" algn="ctr" rotWithShape="0">
              <a:srgbClr val="000000">
                <a:alpha val="4500"/>
              </a:srgbClr>
            </a:outerShdw>
          </a:effectLst>
        </p:grpSpPr>
        <p:sp>
          <p:nvSpPr>
            <p:cNvPr id="66" name="Rectangle 66"/>
            <p:cNvSpPr/>
            <p:nvPr/>
          </p:nvSpPr>
          <p:spPr>
            <a:xfrm>
              <a:off x="8096250" y="2095500"/>
              <a:ext cx="3524250" cy="17145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67" name="Rectangle 67"/>
            <p:cNvSpPr/>
            <p:nvPr/>
          </p:nvSpPr>
          <p:spPr>
            <a:xfrm>
              <a:off x="8096250" y="2095500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27AE60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68" name="TextBox 68"/>
            <p:cNvSpPr txBox="1"/>
            <p:nvPr/>
          </p:nvSpPr>
          <p:spPr>
            <a:xfrm>
              <a:off x="8271510" y="2251710"/>
              <a:ext cx="702564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7AE60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现实案例</a:t>
              </a:r>
              <a:endParaRPr lang="zh-CN" sz="1200" b="1" dirty="0">
                <a:solidFill>
                  <a:srgbClr val="27AE60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73415" y="2534602"/>
              <a:ext cx="1658574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用药→病情好转→恢复运动</a:t>
              </a:r>
              <a:endParaRPr lang="zh-CN" sz="10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74368" y="2847499"/>
              <a:ext cx="1825490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不知道病情是否好转(M未观测)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74368" y="3076099"/>
              <a:ext cx="1389936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用药(X)的影响可通过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74368" y="3304699"/>
              <a:ext cx="1910001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病情好转(M)传递到恢复运动(Y)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74368" y="3533299"/>
              <a:ext cx="1305425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唯一合法的因果通路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71500" y="4000500"/>
            <a:ext cx="11049000" cy="2381250"/>
            <a:chOff x="571500" y="4000500"/>
            <a:chExt cx="11049000" cy="2381250"/>
          </a:xfrm>
        </p:grpSpPr>
        <p:sp>
          <p:nvSpPr>
            <p:cNvPr id="75" name="Rectangle 75"/>
            <p:cNvSpPr/>
            <p:nvPr/>
          </p:nvSpPr>
          <p:spPr>
            <a:xfrm>
              <a:off x="571500" y="4000500"/>
              <a:ext cx="11049000" cy="2381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8DC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571500" y="4000500"/>
              <a:ext cx="11049000" cy="57150"/>
            </a:xfrm>
            <a:prstGeom prst="roundRect">
              <a:avLst>
                <a:gd name="adj" fmla="val 5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46760" y="4156710"/>
              <a:ext cx="20467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深入理解：球是怎么移动的</a:t>
              </a:r>
              <a:endParaRPr lang="zh-CN" sz="12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48665" y="4696778"/>
              <a:ext cx="39471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球从X出发→Down到M。M未观测→Rule3：只允许Down。球到Y。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48665" y="4944428"/>
              <a:ext cx="27710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这是唯一合法通路——Chain就是真实因果链。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48665" y="5192078"/>
              <a:ext cx="31210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用药→好转→恢复运动，连通是正确的，不应报警。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560070" y="6522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11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10954988" y="6522720"/>
            <a:ext cx="676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EdgeThemis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50" grpId="0"/>
      <p:bldP spid="60" grpId="0"/>
      <p:bldP spid="65" grpId="0"/>
      <p:bldP spid="74" grpId="0"/>
      <p:bldP spid="8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85750"/>
            <a:ext cx="11049000" cy="561975"/>
            <a:chOff x="571500" y="285750"/>
            <a:chExt cx="11049000" cy="561975"/>
          </a:xfrm>
        </p:grpSpPr>
        <p:sp>
          <p:nvSpPr>
            <p:cNvPr id="3" name="Rectangle 3"/>
            <p:cNvSpPr/>
            <p:nvPr/>
          </p:nvSpPr>
          <p:spPr>
            <a:xfrm>
              <a:off x="571500" y="285750"/>
              <a:ext cx="47625" cy="304800"/>
            </a:xfrm>
            <a:prstGeom prst="roundRect">
              <a:avLst>
                <a:gd name="adj" fmla="val 4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6280" y="306705"/>
              <a:ext cx="35817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Case 3: 共因+已观测→阻断</a:t>
              </a:r>
              <a:endParaRPr lang="zh-CN" sz="21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610552"/>
              <a:ext cx="23789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Fork X←M→Y · M observed → Blocked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38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619750" y="133350"/>
            <a:ext cx="6572250" cy="433388"/>
            <a:chOff x="5619750" y="133350"/>
            <a:chExt cx="6572250" cy="433388"/>
          </a:xfrm>
        </p:grpSpPr>
        <p:sp>
          <p:nvSpPr>
            <p:cNvPr id="8" name="Rectangle 8"/>
            <p:cNvSpPr/>
            <p:nvPr/>
          </p:nvSpPr>
          <p:spPr>
            <a:xfrm>
              <a:off x="5619750" y="133350"/>
              <a:ext cx="6096000" cy="400050"/>
            </a:xfrm>
            <a:prstGeom prst="roundRect">
              <a:avLst>
                <a:gd name="adj" fmla="val 1428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5848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11322" y="438626"/>
              <a:ext cx="188357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Ellipse 11"/>
            <p:cNvSpPr/>
            <p:nvPr/>
          </p:nvSpPr>
          <p:spPr>
            <a:xfrm>
              <a:off x="6610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87561" y="438626"/>
              <a:ext cx="359878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Generator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Ellipse 13"/>
            <p:cNvSpPr/>
            <p:nvPr/>
          </p:nvSpPr>
          <p:spPr>
            <a:xfrm>
              <a:off x="7372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67063" y="438626"/>
              <a:ext cx="32487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Interning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818197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57436" y="438626"/>
              <a:ext cx="363379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Kahn Cycle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9001125" y="171450"/>
              <a:ext cx="190500" cy="190500"/>
            </a:xfrm>
            <a:prstGeom prst="ellipse">
              <a:avLst/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53433" y="414338"/>
              <a:ext cx="68588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d-Separation</a:t>
              </a:r>
              <a:endParaRPr lang="zh-CN" sz="750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9848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47063" y="438626"/>
              <a:ext cx="317873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FMEA RPN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Ellipse 21"/>
            <p:cNvSpPr/>
            <p:nvPr/>
          </p:nvSpPr>
          <p:spPr>
            <a:xfrm>
              <a:off x="10610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96812" y="438626"/>
              <a:ext cx="34237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Reflector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1132522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53192" y="438626"/>
              <a:ext cx="25836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Output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6000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762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524750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334375" y="2667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91625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00012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0763250" y="26670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1620500" y="180975"/>
              <a:ext cx="571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D5D8DC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1687175" y="238125"/>
              <a:ext cx="57150" cy="57150"/>
            </a:xfrm>
            <a:prstGeom prst="ellipse">
              <a:avLst/>
            </a:prstGeom>
            <a:solidFill>
              <a:srgbClr val="E8B93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785282" y="238601"/>
              <a:ext cx="24436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Ellipse 35"/>
            <p:cNvSpPr/>
            <p:nvPr/>
          </p:nvSpPr>
          <p:spPr>
            <a:xfrm>
              <a:off x="11687175" y="352425"/>
              <a:ext cx="57150" cy="57150"/>
            </a:xfrm>
            <a:prstGeom prst="ellipse">
              <a:avLst/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785282" y="352901"/>
              <a:ext cx="16735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66750" y="1047750"/>
            <a:ext cx="3810000" cy="2667000"/>
            <a:chOff x="666750" y="1047750"/>
            <a:chExt cx="3810000" cy="2667000"/>
          </a:xfrm>
        </p:grpSpPr>
        <p:sp>
          <p:nvSpPr>
            <p:cNvPr id="38" name="Rectangle 38"/>
            <p:cNvSpPr/>
            <p:nvPr/>
          </p:nvSpPr>
          <p:spPr>
            <a:xfrm>
              <a:off x="666750" y="1047750"/>
              <a:ext cx="3810000" cy="2667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5D8D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17360" y="122015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Fork: X←M→Y</a:t>
              </a:r>
              <a:endParaRPr lang="zh-CN" sz="1050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Line 40"/>
            <p:cNvSpPr/>
            <p:nvPr/>
          </p:nvSpPr>
          <p:spPr>
            <a:xfrm>
              <a:off x="1578292" y="1628775"/>
              <a:ext cx="843915" cy="361950"/>
            </a:xfrm>
            <a:custGeom>
              <a:avLst/>
              <a:gdLst/>
              <a:ahLst/>
              <a:cxnLst/>
              <a:rect l="l" t="t" r="r" b="b"/>
              <a:pathLst>
                <a:path w="843915" h="361950">
                  <a:moveTo>
                    <a:pt x="843915" y="0"/>
                  </a:moveTo>
                  <a:lnTo>
                    <a:pt x="0" y="361950"/>
                  </a:lnTo>
                </a:path>
              </a:pathLst>
            </a:custGeom>
            <a:noFill/>
            <a:ln w="28575">
              <a:solidFill>
                <a:srgbClr val="27AE60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1578292" y="1844040"/>
              <a:ext cx="191453" cy="158115"/>
            </a:xfrm>
            <a:custGeom>
              <a:avLst/>
              <a:gdLst/>
              <a:ahLst/>
              <a:cxnLst/>
              <a:rect l="l" t="t" r="r" b="b"/>
              <a:pathLst>
                <a:path w="191453" h="158115">
                  <a:moveTo>
                    <a:pt x="0" y="146685"/>
                  </a:moveTo>
                  <a:lnTo>
                    <a:pt x="123825" y="0"/>
                  </a:lnTo>
                  <a:lnTo>
                    <a:pt x="191453" y="158115"/>
                  </a:lnTo>
                  <a:close/>
                </a:path>
              </a:pathLst>
            </a:custGeom>
            <a:solidFill>
              <a:srgbClr val="27AE60"/>
            </a:solidFill>
            <a:ln w="14288">
              <a:solidFill>
                <a:srgbClr val="FFFFFF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2911792" y="1628775"/>
              <a:ext cx="843915" cy="361950"/>
            </a:xfrm>
            <a:custGeom>
              <a:avLst/>
              <a:gdLst/>
              <a:ahLst/>
              <a:cxnLst/>
              <a:rect l="l" t="t" r="r" b="b"/>
              <a:pathLst>
                <a:path w="843915" h="361950">
                  <a:moveTo>
                    <a:pt x="0" y="0"/>
                  </a:moveTo>
                  <a:lnTo>
                    <a:pt x="843915" y="361950"/>
                  </a:lnTo>
                </a:path>
              </a:pathLst>
            </a:custGeom>
            <a:noFill/>
            <a:ln w="28575">
              <a:solidFill>
                <a:srgbClr val="27AE60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3564255" y="1844040"/>
              <a:ext cx="191453" cy="158115"/>
            </a:xfrm>
            <a:custGeom>
              <a:avLst/>
              <a:gdLst/>
              <a:ahLst/>
              <a:cxnLst/>
              <a:rect l="l" t="t" r="r" b="b"/>
              <a:pathLst>
                <a:path w="191453" h="158115">
                  <a:moveTo>
                    <a:pt x="191453" y="146685"/>
                  </a:moveTo>
                  <a:lnTo>
                    <a:pt x="0" y="158115"/>
                  </a:lnTo>
                  <a:lnTo>
                    <a:pt x="67628" y="0"/>
                  </a:lnTo>
                  <a:close/>
                </a:path>
              </a:pathLst>
            </a:custGeom>
            <a:solidFill>
              <a:srgbClr val="27AE60"/>
            </a:solidFill>
            <a:ln w="14288">
              <a:solidFill>
                <a:srgbClr val="FFFFFF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085850" y="18478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27AE60"/>
              </a:solidFill>
              <a:custDash>
                <a:ds d="200000" sp="120000"/>
              </a:custDash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275895" y="2031206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X</a:t>
              </a:r>
              <a:endParaRPr lang="zh-CN" sz="1125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Ellipse 46"/>
            <p:cNvSpPr/>
            <p:nvPr/>
          </p:nvSpPr>
          <p:spPr>
            <a:xfrm>
              <a:off x="2419350" y="1276350"/>
              <a:ext cx="495300" cy="495300"/>
            </a:xfrm>
            <a:prstGeom prst="ellipse">
              <a:avLst/>
            </a:prstGeom>
            <a:solidFill>
              <a:srgbClr val="27AE60">
                <a:alpha val="15000"/>
              </a:srgbClr>
            </a:solidFill>
            <a:ln w="23812">
              <a:solidFill>
                <a:srgbClr val="27AE6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593643" y="1459706"/>
              <a:ext cx="1467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</a:t>
              </a:r>
              <a:endParaRPr lang="zh-CN" sz="1125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455325" y="1709738"/>
              <a:ext cx="42335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已观测 ✓</a:t>
              </a:r>
              <a:endParaRPr lang="zh-CN" sz="75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Ellipse 49"/>
            <p:cNvSpPr/>
            <p:nvPr/>
          </p:nvSpPr>
          <p:spPr>
            <a:xfrm>
              <a:off x="3752850" y="18478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27AE60"/>
              </a:solidFill>
              <a:custDash>
                <a:ds d="200000" sp="120000"/>
              </a:custDash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942895" y="2031206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Y</a:t>
              </a:r>
              <a:endParaRPr lang="zh-CN" sz="1125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762500" y="1047750"/>
            <a:ext cx="3048000" cy="2476500"/>
            <a:chOff x="4762500" y="1047750"/>
            <a:chExt cx="3048000" cy="2476500"/>
          </a:xfrm>
        </p:grpSpPr>
        <p:sp>
          <p:nvSpPr>
            <p:cNvPr id="52" name="Rectangle 52"/>
            <p:cNvSpPr/>
            <p:nvPr/>
          </p:nvSpPr>
          <p:spPr>
            <a:xfrm>
              <a:off x="4762500" y="1047750"/>
              <a:ext cx="3048000" cy="2476500"/>
            </a:xfrm>
            <a:prstGeom prst="roundRect">
              <a:avLst>
                <a:gd name="adj" fmla="val 384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85092" y="120110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贝叶斯球移动轨迹</a:t>
              </a:r>
              <a:endParaRPr lang="zh-CN" sz="1050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Line 54"/>
            <p:cNvSpPr/>
            <p:nvPr/>
          </p:nvSpPr>
          <p:spPr>
            <a:xfrm>
              <a:off x="4953000" y="14097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940618" y="1513999"/>
              <a:ext cx="1181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Step0: (X,Up)出发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940618" y="1723549"/>
              <a:ext cx="17929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Step1: X未观测→Rule1→Up到M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940618" y="1933099"/>
              <a:ext cx="1376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Step2: M已观测→Rule2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940618" y="2142649"/>
              <a:ext cx="1084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→ 两个方向都阻断!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940618" y="2352199"/>
              <a:ext cx="7528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→ 球卡死在M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940618" y="2561749"/>
              <a:ext cx="13314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7AE6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→ return true (安全)</a:t>
              </a:r>
              <a:endParaRPr lang="zh-CN" sz="975" b="1" dirty="0">
                <a:solidFill>
                  <a:srgbClr val="27AE6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096250" y="1047750"/>
            <a:ext cx="3524250" cy="866775"/>
            <a:chOff x="8096250" y="1047750"/>
            <a:chExt cx="3524250" cy="866775"/>
          </a:xfrm>
        </p:grpSpPr>
        <p:sp>
          <p:nvSpPr>
            <p:cNvPr id="62" name="Rectangle 62"/>
            <p:cNvSpPr/>
            <p:nvPr/>
          </p:nvSpPr>
          <p:spPr>
            <a:xfrm>
              <a:off x="8096250" y="1047750"/>
              <a:ext cx="3524250" cy="857250"/>
            </a:xfrm>
            <a:prstGeom prst="roundRect">
              <a:avLst>
                <a:gd name="adj" fmla="val 11111"/>
              </a:avLst>
            </a:prstGeom>
            <a:solidFill>
              <a:srgbClr val="27AE60">
                <a:alpha val="8000"/>
              </a:srgbClr>
            </a:solidFill>
            <a:ln w="14288">
              <a:solidFill>
                <a:srgbClr val="27AE60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389478" y="1203960"/>
              <a:ext cx="9377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判定: 规则2</a:t>
              </a:r>
              <a:endParaRPr lang="zh-CN" sz="120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381138" y="1441132"/>
              <a:ext cx="9544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X⊥Y 阻断</a:t>
              </a:r>
              <a:endParaRPr lang="zh-CN" sz="165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399889" y="1731645"/>
              <a:ext cx="9169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Z 状态: M已观测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096250" y="2095500"/>
            <a:ext cx="3524250" cy="1714500"/>
            <a:chOff x="8096250" y="2095500"/>
            <a:chExt cx="3524250" cy="1714500"/>
          </a:xfrm>
          <a:effectLst>
            <a:outerShdw blurRad="76200" dist="19050" dir="5400000" algn="ctr" rotWithShape="0">
              <a:srgbClr val="000000">
                <a:alpha val="4500"/>
              </a:srgbClr>
            </a:outerShdw>
          </a:effectLst>
        </p:grpSpPr>
        <p:sp>
          <p:nvSpPr>
            <p:cNvPr id="67" name="Rectangle 67"/>
            <p:cNvSpPr/>
            <p:nvPr/>
          </p:nvSpPr>
          <p:spPr>
            <a:xfrm>
              <a:off x="8096250" y="2095500"/>
              <a:ext cx="3524250" cy="17145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68" name="Rectangle 68"/>
            <p:cNvSpPr/>
            <p:nvPr/>
          </p:nvSpPr>
          <p:spPr>
            <a:xfrm>
              <a:off x="8096250" y="2095500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27AE60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69" name="TextBox 69"/>
            <p:cNvSpPr txBox="1"/>
            <p:nvPr/>
          </p:nvSpPr>
          <p:spPr>
            <a:xfrm>
              <a:off x="8271510" y="2251710"/>
              <a:ext cx="702564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7AE60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现实案例</a:t>
              </a:r>
              <a:endParaRPr lang="zh-CN" sz="1200" b="1" dirty="0">
                <a:solidFill>
                  <a:srgbClr val="27AE60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73415" y="2534602"/>
              <a:ext cx="1805592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暴雨→手术推迟+空气湿度高</a:t>
              </a:r>
              <a:endParaRPr lang="zh-CN" sz="10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74368" y="2847499"/>
              <a:ext cx="1435441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已确认下暴雨(M被观测)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74368" y="3076099"/>
              <a:ext cx="131842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在'已知暴雨'前提下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74368" y="3304699"/>
              <a:ext cx="1493949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手术推迟(X)和湿度高(Y)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274368" y="3533299"/>
              <a:ext cx="1584960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无虚假相关性，后门被堵死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71500" y="4000500"/>
            <a:ext cx="11049000" cy="2381250"/>
            <a:chOff x="571500" y="4000500"/>
            <a:chExt cx="11049000" cy="2381250"/>
          </a:xfrm>
        </p:grpSpPr>
        <p:sp>
          <p:nvSpPr>
            <p:cNvPr id="76" name="Rectangle 76"/>
            <p:cNvSpPr/>
            <p:nvPr/>
          </p:nvSpPr>
          <p:spPr>
            <a:xfrm>
              <a:off x="571500" y="4000500"/>
              <a:ext cx="11049000" cy="2381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8DC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571500" y="4000500"/>
              <a:ext cx="11049000" cy="57150"/>
            </a:xfrm>
            <a:prstGeom prst="roundRect">
              <a:avLst>
                <a:gd name="adj" fmla="val 5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46760" y="4156710"/>
              <a:ext cx="20467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深入理解：球是怎么移动的</a:t>
              </a:r>
              <a:endParaRPr lang="zh-CN" sz="12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48665" y="4696778"/>
              <a:ext cx="34921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球从X出发→Up到M。M已观测→Rule2：两个方向都阻断。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48665" y="4944428"/>
              <a:ext cx="44092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暴雨同时解释了X和Y。在'已知暴雨'下，X和Y间无可传递的虚假相关。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48665" y="5192078"/>
              <a:ext cx="36811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后门准则的工程实现——观测混杂变量后，后门被物理切断。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83" name="TextBox 83"/>
          <p:cNvSpPr txBox="1"/>
          <p:nvPr/>
        </p:nvSpPr>
        <p:spPr>
          <a:xfrm>
            <a:off x="560070" y="6522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4" name="TextBox 84"/>
          <p:cNvSpPr txBox="1"/>
          <p:nvPr/>
        </p:nvSpPr>
        <p:spPr>
          <a:xfrm>
            <a:off x="10954988" y="6522720"/>
            <a:ext cx="676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EdgeThemis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51" grpId="0"/>
      <p:bldP spid="61" grpId="0"/>
      <p:bldP spid="66" grpId="0"/>
      <p:bldP spid="75" grpId="0"/>
      <p:bldP spid="8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85750"/>
            <a:ext cx="11049000" cy="561975"/>
            <a:chOff x="571500" y="285750"/>
            <a:chExt cx="11049000" cy="561975"/>
          </a:xfrm>
        </p:grpSpPr>
        <p:sp>
          <p:nvSpPr>
            <p:cNvPr id="3" name="Rectangle 3"/>
            <p:cNvSpPr/>
            <p:nvPr/>
          </p:nvSpPr>
          <p:spPr>
            <a:xfrm>
              <a:off x="571500" y="285750"/>
              <a:ext cx="47625" cy="304800"/>
            </a:xfrm>
            <a:prstGeom prst="roundRect">
              <a:avLst>
                <a:gd name="adj" fmla="val 4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6280" y="306705"/>
              <a:ext cx="35817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Case 4: 共因+未观测→连通</a:t>
              </a:r>
              <a:endParaRPr lang="zh-CN" sz="21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610552"/>
              <a:ext cx="28690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Fork X←M→Y · M NOT observed → Connected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38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619750" y="133350"/>
            <a:ext cx="6572250" cy="433388"/>
            <a:chOff x="5619750" y="133350"/>
            <a:chExt cx="6572250" cy="433388"/>
          </a:xfrm>
        </p:grpSpPr>
        <p:sp>
          <p:nvSpPr>
            <p:cNvPr id="8" name="Rectangle 8"/>
            <p:cNvSpPr/>
            <p:nvPr/>
          </p:nvSpPr>
          <p:spPr>
            <a:xfrm>
              <a:off x="5619750" y="133350"/>
              <a:ext cx="6096000" cy="400050"/>
            </a:xfrm>
            <a:prstGeom prst="roundRect">
              <a:avLst>
                <a:gd name="adj" fmla="val 1428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5848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11322" y="438626"/>
              <a:ext cx="188357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Ellipse 11"/>
            <p:cNvSpPr/>
            <p:nvPr/>
          </p:nvSpPr>
          <p:spPr>
            <a:xfrm>
              <a:off x="6610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87561" y="438626"/>
              <a:ext cx="359878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Generator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Ellipse 13"/>
            <p:cNvSpPr/>
            <p:nvPr/>
          </p:nvSpPr>
          <p:spPr>
            <a:xfrm>
              <a:off x="7372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67063" y="438626"/>
              <a:ext cx="32487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Interning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818197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57436" y="438626"/>
              <a:ext cx="363379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Kahn Cycle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9001125" y="171450"/>
              <a:ext cx="190500" cy="190500"/>
            </a:xfrm>
            <a:prstGeom prst="ellipse">
              <a:avLst/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53433" y="414338"/>
              <a:ext cx="68588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d-Separation</a:t>
              </a:r>
              <a:endParaRPr lang="zh-CN" sz="750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9848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47063" y="438626"/>
              <a:ext cx="317873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FMEA RPN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Ellipse 21"/>
            <p:cNvSpPr/>
            <p:nvPr/>
          </p:nvSpPr>
          <p:spPr>
            <a:xfrm>
              <a:off x="10610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96812" y="438626"/>
              <a:ext cx="34237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Reflector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1132522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53192" y="438626"/>
              <a:ext cx="25836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Output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6000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762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524750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334375" y="2667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91625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00012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0763250" y="26670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1620500" y="180975"/>
              <a:ext cx="571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D5D8DC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1687175" y="238125"/>
              <a:ext cx="57150" cy="57150"/>
            </a:xfrm>
            <a:prstGeom prst="ellipse">
              <a:avLst/>
            </a:prstGeom>
            <a:solidFill>
              <a:srgbClr val="E8B93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785282" y="238601"/>
              <a:ext cx="24436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Ellipse 35"/>
            <p:cNvSpPr/>
            <p:nvPr/>
          </p:nvSpPr>
          <p:spPr>
            <a:xfrm>
              <a:off x="11687175" y="352425"/>
              <a:ext cx="57150" cy="57150"/>
            </a:xfrm>
            <a:prstGeom prst="ellipse">
              <a:avLst/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785282" y="352901"/>
              <a:ext cx="16735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66750" y="1047750"/>
            <a:ext cx="3810000" cy="2667000"/>
            <a:chOff x="666750" y="1047750"/>
            <a:chExt cx="3810000" cy="2667000"/>
          </a:xfrm>
        </p:grpSpPr>
        <p:sp>
          <p:nvSpPr>
            <p:cNvPr id="38" name="Rectangle 38"/>
            <p:cNvSpPr/>
            <p:nvPr/>
          </p:nvSpPr>
          <p:spPr>
            <a:xfrm>
              <a:off x="666750" y="1047750"/>
              <a:ext cx="3810000" cy="2667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5D8D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17360" y="122015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Fork: X←M→Y</a:t>
              </a:r>
              <a:endParaRPr lang="zh-CN" sz="1050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Line 40"/>
            <p:cNvSpPr/>
            <p:nvPr/>
          </p:nvSpPr>
          <p:spPr>
            <a:xfrm>
              <a:off x="1578292" y="1628775"/>
              <a:ext cx="843915" cy="361950"/>
            </a:xfrm>
            <a:custGeom>
              <a:avLst/>
              <a:gdLst/>
              <a:ahLst/>
              <a:cxnLst/>
              <a:rect l="l" t="t" r="r" b="b"/>
              <a:pathLst>
                <a:path w="843915" h="361950">
                  <a:moveTo>
                    <a:pt x="843915" y="0"/>
                  </a:moveTo>
                  <a:lnTo>
                    <a:pt x="0" y="361950"/>
                  </a:lnTo>
                </a:path>
              </a:pathLst>
            </a:custGeom>
            <a:noFill/>
            <a:ln w="28575">
              <a:solidFill>
                <a:srgbClr val="E74C3C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1578292" y="1844040"/>
              <a:ext cx="191453" cy="158115"/>
            </a:xfrm>
            <a:custGeom>
              <a:avLst/>
              <a:gdLst/>
              <a:ahLst/>
              <a:cxnLst/>
              <a:rect l="l" t="t" r="r" b="b"/>
              <a:pathLst>
                <a:path w="191453" h="158115">
                  <a:moveTo>
                    <a:pt x="0" y="146685"/>
                  </a:moveTo>
                  <a:lnTo>
                    <a:pt x="123825" y="0"/>
                  </a:lnTo>
                  <a:lnTo>
                    <a:pt x="191453" y="158115"/>
                  </a:lnTo>
                  <a:close/>
                </a:path>
              </a:pathLst>
            </a:custGeom>
            <a:solidFill>
              <a:srgbClr val="E74C3C"/>
            </a:solidFill>
            <a:ln w="14288">
              <a:solidFill>
                <a:srgbClr val="FFFFFF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2911792" y="1628775"/>
              <a:ext cx="843915" cy="361950"/>
            </a:xfrm>
            <a:custGeom>
              <a:avLst/>
              <a:gdLst/>
              <a:ahLst/>
              <a:cxnLst/>
              <a:rect l="l" t="t" r="r" b="b"/>
              <a:pathLst>
                <a:path w="843915" h="361950">
                  <a:moveTo>
                    <a:pt x="0" y="0"/>
                  </a:moveTo>
                  <a:lnTo>
                    <a:pt x="843915" y="361950"/>
                  </a:lnTo>
                </a:path>
              </a:pathLst>
            </a:custGeom>
            <a:noFill/>
            <a:ln w="28575">
              <a:solidFill>
                <a:srgbClr val="E74C3C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3564255" y="1844040"/>
              <a:ext cx="191453" cy="158115"/>
            </a:xfrm>
            <a:custGeom>
              <a:avLst/>
              <a:gdLst/>
              <a:ahLst/>
              <a:cxnLst/>
              <a:rect l="l" t="t" r="r" b="b"/>
              <a:pathLst>
                <a:path w="191453" h="158115">
                  <a:moveTo>
                    <a:pt x="191453" y="146685"/>
                  </a:moveTo>
                  <a:lnTo>
                    <a:pt x="0" y="158115"/>
                  </a:lnTo>
                  <a:lnTo>
                    <a:pt x="67628" y="0"/>
                  </a:lnTo>
                  <a:close/>
                </a:path>
              </a:pathLst>
            </a:custGeom>
            <a:solidFill>
              <a:srgbClr val="E74C3C"/>
            </a:solidFill>
            <a:ln w="14288">
              <a:solidFill>
                <a:srgbClr val="FFFFFF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085850" y="18478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E74C3C"/>
              </a:solidFill>
              <a:custDash>
                <a:ds d="200000" sp="120000"/>
              </a:custDash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275895" y="2031206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X</a:t>
              </a:r>
              <a:endParaRPr lang="zh-CN" sz="1125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Ellipse 46"/>
            <p:cNvSpPr/>
            <p:nvPr/>
          </p:nvSpPr>
          <p:spPr>
            <a:xfrm>
              <a:off x="2419350" y="12763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E74C3C"/>
              </a:solidFill>
              <a:custDash>
                <a:ds d="200000" sp="120000"/>
              </a:custDash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593643" y="1459706"/>
              <a:ext cx="1467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</a:t>
              </a:r>
              <a:endParaRPr lang="zh-CN" sz="1125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Ellipse 48"/>
            <p:cNvSpPr/>
            <p:nvPr/>
          </p:nvSpPr>
          <p:spPr>
            <a:xfrm>
              <a:off x="3752850" y="18478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E74C3C"/>
              </a:solidFill>
              <a:custDash>
                <a:ds d="200000" sp="120000"/>
              </a:custDash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942895" y="2031206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Y</a:t>
              </a:r>
              <a:endParaRPr lang="zh-CN" sz="1125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762500" y="1047750"/>
            <a:ext cx="3048000" cy="2476500"/>
            <a:chOff x="4762500" y="1047750"/>
            <a:chExt cx="3048000" cy="2476500"/>
          </a:xfrm>
        </p:grpSpPr>
        <p:sp>
          <p:nvSpPr>
            <p:cNvPr id="51" name="Rectangle 51"/>
            <p:cNvSpPr/>
            <p:nvPr/>
          </p:nvSpPr>
          <p:spPr>
            <a:xfrm>
              <a:off x="4762500" y="1047750"/>
              <a:ext cx="3048000" cy="2476500"/>
            </a:xfrm>
            <a:prstGeom prst="roundRect">
              <a:avLst>
                <a:gd name="adj" fmla="val 384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685092" y="120110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贝叶斯球移动轨迹</a:t>
              </a:r>
              <a:endParaRPr lang="zh-CN" sz="1050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Line 53"/>
            <p:cNvSpPr/>
            <p:nvPr/>
          </p:nvSpPr>
          <p:spPr>
            <a:xfrm>
              <a:off x="4953000" y="14097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940618" y="1513999"/>
              <a:ext cx="1181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Step0: (X,Up)出发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940618" y="1723549"/>
              <a:ext cx="17929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Step1: X未观测→Rule1→Up到M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940618" y="1933099"/>
              <a:ext cx="1376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Step2: M未观测→Rule1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940618" y="2142649"/>
              <a:ext cx="16369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→ Up+Down都允许→Down到Y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940618" y="2352199"/>
              <a:ext cx="9933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Step3: 球到达Y!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940618" y="2561749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→ return false (后门大开!)</a:t>
              </a:r>
              <a:endParaRPr lang="zh-CN" sz="975" b="1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096250" y="1047750"/>
            <a:ext cx="3524250" cy="866775"/>
            <a:chOff x="8096250" y="1047750"/>
            <a:chExt cx="3524250" cy="866775"/>
          </a:xfrm>
        </p:grpSpPr>
        <p:sp>
          <p:nvSpPr>
            <p:cNvPr id="61" name="Rectangle 61"/>
            <p:cNvSpPr/>
            <p:nvPr/>
          </p:nvSpPr>
          <p:spPr>
            <a:xfrm>
              <a:off x="8096250" y="1047750"/>
              <a:ext cx="3524250" cy="857250"/>
            </a:xfrm>
            <a:prstGeom prst="roundRect">
              <a:avLst>
                <a:gd name="adj" fmla="val 11111"/>
              </a:avLst>
            </a:prstGeom>
            <a:solidFill>
              <a:srgbClr val="E74C3C">
                <a:alpha val="8000"/>
              </a:srgbClr>
            </a:solidFill>
            <a:ln w="14288">
              <a:solidFill>
                <a:srgbClr val="E74C3C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89478" y="1203960"/>
              <a:ext cx="9377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判定: 规则1</a:t>
              </a:r>
              <a:endParaRPr lang="zh-CN" sz="12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17605" y="1441132"/>
              <a:ext cx="10815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X¬⊥Y 连通</a:t>
              </a:r>
              <a:endParaRPr lang="zh-CN" sz="16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399889" y="1731645"/>
              <a:ext cx="9169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Z 状态: M未观测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8096250" y="2095500"/>
            <a:ext cx="3524250" cy="1714500"/>
            <a:chOff x="8096250" y="2095500"/>
            <a:chExt cx="3524250" cy="1714500"/>
          </a:xfrm>
          <a:effectLst>
            <a:outerShdw blurRad="76200" dist="19050" dir="5400000" algn="ctr" rotWithShape="0">
              <a:srgbClr val="000000">
                <a:alpha val="4500"/>
              </a:srgbClr>
            </a:outerShdw>
          </a:effectLst>
        </p:grpSpPr>
        <p:sp>
          <p:nvSpPr>
            <p:cNvPr id="66" name="Rectangle 66"/>
            <p:cNvSpPr/>
            <p:nvPr/>
          </p:nvSpPr>
          <p:spPr>
            <a:xfrm>
              <a:off x="8096250" y="2095500"/>
              <a:ext cx="3524250" cy="17145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67" name="Rectangle 67"/>
            <p:cNvSpPr/>
            <p:nvPr/>
          </p:nvSpPr>
          <p:spPr>
            <a:xfrm>
              <a:off x="8096250" y="2095500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68" name="TextBox 68"/>
            <p:cNvSpPr txBox="1"/>
            <p:nvPr/>
          </p:nvSpPr>
          <p:spPr>
            <a:xfrm>
              <a:off x="8271510" y="2251710"/>
              <a:ext cx="702564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4C3C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现实案例</a:t>
              </a:r>
              <a:endParaRPr lang="zh-CN" sz="1200" b="1" dirty="0">
                <a:solidFill>
                  <a:srgbClr val="E74C3C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73415" y="2534602"/>
              <a:ext cx="1805592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暴雨→手术推迟+空气湿度高</a:t>
              </a:r>
              <a:endParaRPr lang="zh-CN" sz="10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74368" y="2847499"/>
              <a:ext cx="1305425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没记录天气(M未观测)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74368" y="3076099"/>
              <a:ext cx="1955506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暴雨同时导致手术推迟和湿度高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74368" y="3304699"/>
              <a:ext cx="1936004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LLM可能误以为推迟导致湿度高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74368" y="3533299"/>
              <a:ext cx="1604462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后门大开，虚假相关泄露!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71500" y="4000500"/>
            <a:ext cx="11049000" cy="2381250"/>
            <a:chOff x="571500" y="4000500"/>
            <a:chExt cx="11049000" cy="2381250"/>
          </a:xfrm>
        </p:grpSpPr>
        <p:sp>
          <p:nvSpPr>
            <p:cNvPr id="75" name="Rectangle 75"/>
            <p:cNvSpPr/>
            <p:nvPr/>
          </p:nvSpPr>
          <p:spPr>
            <a:xfrm>
              <a:off x="571500" y="4000500"/>
              <a:ext cx="11049000" cy="2381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8DC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571500" y="4000500"/>
              <a:ext cx="11049000" cy="57150"/>
            </a:xfrm>
            <a:prstGeom prst="roundRect">
              <a:avLst>
                <a:gd name="adj" fmla="val 5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46760" y="4156710"/>
              <a:ext cx="20467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深入理解：球是怎么移动的</a:t>
              </a:r>
              <a:endParaRPr lang="zh-CN" sz="12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48665" y="4696778"/>
              <a:ext cx="43322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球从X出发→Up到M。M未观测→Rule1：Up+Down都允许。球Down到Y。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48665" y="4944428"/>
              <a:ext cx="2637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球到达Y！X和Y间存在未阻断的后门路径。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48665" y="5192078"/>
              <a:ext cx="34851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LLM最常见错误——忘记控制混杂变量M，导致后门泄露。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560070" y="6522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13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10954988" y="6522720"/>
            <a:ext cx="676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EdgeThemis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50" grpId="0"/>
      <p:bldP spid="60" grpId="0"/>
      <p:bldP spid="65" grpId="0"/>
      <p:bldP spid="74" grpId="0"/>
      <p:bldP spid="8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85750"/>
            <a:ext cx="11049000" cy="561975"/>
            <a:chOff x="571500" y="285750"/>
            <a:chExt cx="11049000" cy="561975"/>
          </a:xfrm>
        </p:grpSpPr>
        <p:sp>
          <p:nvSpPr>
            <p:cNvPr id="3" name="Rectangle 3"/>
            <p:cNvSpPr/>
            <p:nvPr/>
          </p:nvSpPr>
          <p:spPr>
            <a:xfrm>
              <a:off x="571500" y="285750"/>
              <a:ext cx="47625" cy="304800"/>
            </a:xfrm>
            <a:prstGeom prst="roundRect">
              <a:avLst>
                <a:gd name="adj" fmla="val 4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6280" y="306705"/>
              <a:ext cx="366999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Case 5: 对撞+已观测→激活!</a:t>
              </a:r>
              <a:endParaRPr lang="zh-CN" sz="21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610552"/>
              <a:ext cx="27360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Collider X→M←Y · M observed → ACTIVATED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38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619750" y="133350"/>
            <a:ext cx="6572250" cy="433388"/>
            <a:chOff x="5619750" y="133350"/>
            <a:chExt cx="6572250" cy="433388"/>
          </a:xfrm>
        </p:grpSpPr>
        <p:sp>
          <p:nvSpPr>
            <p:cNvPr id="8" name="Rectangle 8"/>
            <p:cNvSpPr/>
            <p:nvPr/>
          </p:nvSpPr>
          <p:spPr>
            <a:xfrm>
              <a:off x="5619750" y="133350"/>
              <a:ext cx="6096000" cy="400050"/>
            </a:xfrm>
            <a:prstGeom prst="roundRect">
              <a:avLst>
                <a:gd name="adj" fmla="val 1428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5848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11322" y="438626"/>
              <a:ext cx="188357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Ellipse 11"/>
            <p:cNvSpPr/>
            <p:nvPr/>
          </p:nvSpPr>
          <p:spPr>
            <a:xfrm>
              <a:off x="6610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87561" y="438626"/>
              <a:ext cx="359878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Generator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Ellipse 13"/>
            <p:cNvSpPr/>
            <p:nvPr/>
          </p:nvSpPr>
          <p:spPr>
            <a:xfrm>
              <a:off x="7372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67063" y="438626"/>
              <a:ext cx="32487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Interning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818197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57436" y="438626"/>
              <a:ext cx="363379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Kahn Cycle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9001125" y="171450"/>
              <a:ext cx="190500" cy="190500"/>
            </a:xfrm>
            <a:prstGeom prst="ellipse">
              <a:avLst/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53433" y="414338"/>
              <a:ext cx="68588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d-Separation</a:t>
              </a:r>
              <a:endParaRPr lang="zh-CN" sz="750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9848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47063" y="438626"/>
              <a:ext cx="317873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FMEA RPN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Ellipse 21"/>
            <p:cNvSpPr/>
            <p:nvPr/>
          </p:nvSpPr>
          <p:spPr>
            <a:xfrm>
              <a:off x="10610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96812" y="438626"/>
              <a:ext cx="34237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Reflector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1132522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53192" y="438626"/>
              <a:ext cx="25836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Output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6000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762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524750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334375" y="2667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91625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00012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0763250" y="26670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1620500" y="180975"/>
              <a:ext cx="571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D5D8DC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1687175" y="238125"/>
              <a:ext cx="57150" cy="57150"/>
            </a:xfrm>
            <a:prstGeom prst="ellipse">
              <a:avLst/>
            </a:prstGeom>
            <a:solidFill>
              <a:srgbClr val="E8B93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785282" y="238601"/>
              <a:ext cx="24436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Ellipse 35"/>
            <p:cNvSpPr/>
            <p:nvPr/>
          </p:nvSpPr>
          <p:spPr>
            <a:xfrm>
              <a:off x="11687175" y="352425"/>
              <a:ext cx="57150" cy="57150"/>
            </a:xfrm>
            <a:prstGeom prst="ellipse">
              <a:avLst/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785282" y="352901"/>
              <a:ext cx="16735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66750" y="1047750"/>
            <a:ext cx="3810000" cy="2667000"/>
            <a:chOff x="666750" y="1047750"/>
            <a:chExt cx="3810000" cy="2667000"/>
          </a:xfrm>
        </p:grpSpPr>
        <p:sp>
          <p:nvSpPr>
            <p:cNvPr id="38" name="Rectangle 38"/>
            <p:cNvSpPr/>
            <p:nvPr/>
          </p:nvSpPr>
          <p:spPr>
            <a:xfrm>
              <a:off x="666750" y="1047750"/>
              <a:ext cx="3810000" cy="2667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5D8D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010772" y="1220152"/>
              <a:ext cx="1121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Collider: X→M←Y</a:t>
              </a:r>
              <a:endParaRPr lang="zh-CN" sz="1050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Line 40"/>
            <p:cNvSpPr/>
            <p:nvPr/>
          </p:nvSpPr>
          <p:spPr>
            <a:xfrm>
              <a:off x="1578292" y="1628775"/>
              <a:ext cx="843915" cy="361950"/>
            </a:xfrm>
            <a:custGeom>
              <a:avLst/>
              <a:gdLst/>
              <a:ahLst/>
              <a:cxnLst/>
              <a:rect l="l" t="t" r="r" b="b"/>
              <a:pathLst>
                <a:path w="843915" h="361950">
                  <a:moveTo>
                    <a:pt x="0" y="361950"/>
                  </a:moveTo>
                  <a:lnTo>
                    <a:pt x="843915" y="0"/>
                  </a:lnTo>
                </a:path>
              </a:pathLst>
            </a:custGeom>
            <a:noFill/>
            <a:ln w="28575">
              <a:solidFill>
                <a:srgbClr val="E74C3C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2230755" y="1617345"/>
              <a:ext cx="191453" cy="158115"/>
            </a:xfrm>
            <a:custGeom>
              <a:avLst/>
              <a:gdLst/>
              <a:ahLst/>
              <a:cxnLst/>
              <a:rect l="l" t="t" r="r" b="b"/>
              <a:pathLst>
                <a:path w="191453" h="158115">
                  <a:moveTo>
                    <a:pt x="191453" y="11430"/>
                  </a:moveTo>
                  <a:lnTo>
                    <a:pt x="67628" y="158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4C3C"/>
            </a:solidFill>
            <a:ln w="14288">
              <a:solidFill>
                <a:srgbClr val="FFFFFF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2911792" y="1628775"/>
              <a:ext cx="843915" cy="361950"/>
            </a:xfrm>
            <a:custGeom>
              <a:avLst/>
              <a:gdLst/>
              <a:ahLst/>
              <a:cxnLst/>
              <a:rect l="l" t="t" r="r" b="b"/>
              <a:pathLst>
                <a:path w="843915" h="361950">
                  <a:moveTo>
                    <a:pt x="843915" y="3619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E74C3C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2911792" y="1617345"/>
              <a:ext cx="191453" cy="158115"/>
            </a:xfrm>
            <a:custGeom>
              <a:avLst/>
              <a:gdLst/>
              <a:ahLst/>
              <a:cxnLst/>
              <a:rect l="l" t="t" r="r" b="b"/>
              <a:pathLst>
                <a:path w="191453" h="158115">
                  <a:moveTo>
                    <a:pt x="0" y="11430"/>
                  </a:moveTo>
                  <a:lnTo>
                    <a:pt x="191453" y="0"/>
                  </a:lnTo>
                  <a:lnTo>
                    <a:pt x="123825" y="158115"/>
                  </a:lnTo>
                  <a:close/>
                </a:path>
              </a:pathLst>
            </a:custGeom>
            <a:solidFill>
              <a:srgbClr val="E74C3C"/>
            </a:solidFill>
            <a:ln w="14288">
              <a:solidFill>
                <a:srgbClr val="FFFFFF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085850" y="18478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E74C3C"/>
              </a:solidFill>
              <a:custDash>
                <a:ds d="200000" sp="120000"/>
              </a:custDash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275895" y="2031206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X</a:t>
              </a:r>
              <a:endParaRPr lang="zh-CN" sz="1125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Ellipse 46"/>
            <p:cNvSpPr/>
            <p:nvPr/>
          </p:nvSpPr>
          <p:spPr>
            <a:xfrm>
              <a:off x="2419350" y="1276350"/>
              <a:ext cx="495300" cy="495300"/>
            </a:xfrm>
            <a:prstGeom prst="ellipse">
              <a:avLst/>
            </a:prstGeom>
            <a:solidFill>
              <a:srgbClr val="E74C3C">
                <a:alpha val="15000"/>
              </a:srgbClr>
            </a:solidFill>
            <a:ln w="23812">
              <a:solidFill>
                <a:srgbClr val="E74C3C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593643" y="1459706"/>
              <a:ext cx="1467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</a:t>
              </a:r>
              <a:endParaRPr lang="zh-CN" sz="1125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455325" y="1709738"/>
              <a:ext cx="42335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已观测 ✓</a:t>
              </a:r>
              <a:endParaRPr lang="zh-CN" sz="7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Ellipse 49"/>
            <p:cNvSpPr/>
            <p:nvPr/>
          </p:nvSpPr>
          <p:spPr>
            <a:xfrm>
              <a:off x="3752850" y="18478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E74C3C"/>
              </a:solidFill>
              <a:custDash>
                <a:ds d="200000" sp="120000"/>
              </a:custDash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942895" y="2031206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Y</a:t>
              </a:r>
              <a:endParaRPr lang="zh-CN" sz="1125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762500" y="1047750"/>
            <a:ext cx="3048000" cy="2476500"/>
            <a:chOff x="4762500" y="1047750"/>
            <a:chExt cx="3048000" cy="2476500"/>
          </a:xfrm>
        </p:grpSpPr>
        <p:sp>
          <p:nvSpPr>
            <p:cNvPr id="52" name="Rectangle 52"/>
            <p:cNvSpPr/>
            <p:nvPr/>
          </p:nvSpPr>
          <p:spPr>
            <a:xfrm>
              <a:off x="4762500" y="1047750"/>
              <a:ext cx="3048000" cy="2476500"/>
            </a:xfrm>
            <a:prstGeom prst="roundRect">
              <a:avLst>
                <a:gd name="adj" fmla="val 384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85092" y="120110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贝叶斯球移动轨迹</a:t>
              </a:r>
              <a:endParaRPr lang="zh-CN" sz="1050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Line 54"/>
            <p:cNvSpPr/>
            <p:nvPr/>
          </p:nvSpPr>
          <p:spPr>
            <a:xfrm>
              <a:off x="4953000" y="14097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940618" y="1513999"/>
              <a:ext cx="1181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Step0: (X,Up)出发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940618" y="1723549"/>
              <a:ext cx="19360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Step1: X未观测→Rule1→Down到Z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940618" y="193309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Step2: Z已观测→Rule4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940618" y="2142649"/>
              <a:ext cx="9413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→ 只允许Up→到Y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940618" y="2352199"/>
              <a:ext cx="9933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Step3: 球到达Y!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940618" y="2561749"/>
              <a:ext cx="1929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→ return false (对撞陷阱激活!)</a:t>
              </a:r>
              <a:endParaRPr lang="zh-CN" sz="975" b="1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096250" y="1047750"/>
            <a:ext cx="3524250" cy="866775"/>
            <a:chOff x="8096250" y="1047750"/>
            <a:chExt cx="3524250" cy="866775"/>
          </a:xfrm>
        </p:grpSpPr>
        <p:sp>
          <p:nvSpPr>
            <p:cNvPr id="62" name="Rectangle 62"/>
            <p:cNvSpPr/>
            <p:nvPr/>
          </p:nvSpPr>
          <p:spPr>
            <a:xfrm>
              <a:off x="8096250" y="1047750"/>
              <a:ext cx="3524250" cy="857250"/>
            </a:xfrm>
            <a:prstGeom prst="roundRect">
              <a:avLst>
                <a:gd name="adj" fmla="val 11111"/>
              </a:avLst>
            </a:prstGeom>
            <a:solidFill>
              <a:srgbClr val="E74C3C">
                <a:alpha val="8000"/>
              </a:srgbClr>
            </a:solidFill>
            <a:ln w="14288">
              <a:solidFill>
                <a:srgbClr val="E74C3C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389478" y="1203960"/>
              <a:ext cx="9377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判定: 规则4</a:t>
              </a:r>
              <a:endParaRPr lang="zh-CN" sz="12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82951" y="1441132"/>
              <a:ext cx="115084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X¬⊥Y 激活!</a:t>
              </a:r>
              <a:endParaRPr lang="zh-CN" sz="16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399889" y="1731645"/>
              <a:ext cx="9169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Z 状态: M已观测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096250" y="2095500"/>
            <a:ext cx="3524250" cy="1714500"/>
            <a:chOff x="8096250" y="2095500"/>
            <a:chExt cx="3524250" cy="1714500"/>
          </a:xfrm>
          <a:effectLst>
            <a:outerShdw blurRad="76200" dist="19050" dir="5400000" algn="ctr" rotWithShape="0">
              <a:srgbClr val="000000">
                <a:alpha val="4500"/>
              </a:srgbClr>
            </a:outerShdw>
          </a:effectLst>
        </p:grpSpPr>
        <p:sp>
          <p:nvSpPr>
            <p:cNvPr id="67" name="Rectangle 67"/>
            <p:cNvSpPr/>
            <p:nvPr/>
          </p:nvSpPr>
          <p:spPr>
            <a:xfrm>
              <a:off x="8096250" y="2095500"/>
              <a:ext cx="3524250" cy="17145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68" name="Rectangle 68"/>
            <p:cNvSpPr/>
            <p:nvPr/>
          </p:nvSpPr>
          <p:spPr>
            <a:xfrm>
              <a:off x="8096250" y="2095500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69" name="TextBox 69"/>
            <p:cNvSpPr txBox="1"/>
            <p:nvPr/>
          </p:nvSpPr>
          <p:spPr>
            <a:xfrm>
              <a:off x="8271510" y="2251710"/>
              <a:ext cx="702564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4C3C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现实案例</a:t>
              </a:r>
              <a:endParaRPr lang="zh-CN" sz="1200" b="1" dirty="0">
                <a:solidFill>
                  <a:srgbClr val="E74C3C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73415" y="2534602"/>
              <a:ext cx="1805592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业务能力→合伙人←人脉关系</a:t>
              </a:r>
              <a:endParaRPr lang="zh-CN" sz="10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74368" y="2847499"/>
              <a:ext cx="1435441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已知是合伙人(M被观测)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74368" y="3076099"/>
              <a:ext cx="1910001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如果发现业务能力不行(X为假)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74368" y="3304699"/>
              <a:ext cx="1519952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就能推断靠关系(Y为真)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274368" y="3533299"/>
              <a:ext cx="2131028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explaining away! 虚假负相关激活!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71500" y="4000500"/>
            <a:ext cx="11049000" cy="2381250"/>
            <a:chOff x="571500" y="4000500"/>
            <a:chExt cx="11049000" cy="2381250"/>
          </a:xfrm>
        </p:grpSpPr>
        <p:sp>
          <p:nvSpPr>
            <p:cNvPr id="76" name="Rectangle 76"/>
            <p:cNvSpPr/>
            <p:nvPr/>
          </p:nvSpPr>
          <p:spPr>
            <a:xfrm>
              <a:off x="571500" y="4000500"/>
              <a:ext cx="11049000" cy="2381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8DC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571500" y="4000500"/>
              <a:ext cx="11049000" cy="57150"/>
            </a:xfrm>
            <a:prstGeom prst="roundRect">
              <a:avLst>
                <a:gd name="adj" fmla="val 5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46760" y="4156710"/>
              <a:ext cx="20467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深入理解：球是怎么移动的</a:t>
              </a:r>
              <a:endParaRPr lang="zh-CN" sz="12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48665" y="4696778"/>
              <a:ext cx="38631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球从X出发→Down到Z。Z已观测→Rule4：只允许Up。球Up到Y。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48665" y="4944428"/>
              <a:ext cx="42411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业务能力和人脉本无关。但知道结果(是合伙人)后，两原因变相关。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48665" y="5192078"/>
              <a:ext cx="41011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explaining away/伯克森悖论——观测对撞节点反而激活虚假路径。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83" name="TextBox 83"/>
          <p:cNvSpPr txBox="1"/>
          <p:nvPr/>
        </p:nvSpPr>
        <p:spPr>
          <a:xfrm>
            <a:off x="560070" y="6522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14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4" name="TextBox 84"/>
          <p:cNvSpPr txBox="1"/>
          <p:nvPr/>
        </p:nvSpPr>
        <p:spPr>
          <a:xfrm>
            <a:off x="10954988" y="6522720"/>
            <a:ext cx="676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EdgeThemis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51" grpId="0"/>
      <p:bldP spid="61" grpId="0"/>
      <p:bldP spid="66" grpId="0"/>
      <p:bldP spid="75" grpId="0"/>
      <p:bldP spid="8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85750"/>
            <a:ext cx="11049000" cy="561975"/>
            <a:chOff x="571500" y="285750"/>
            <a:chExt cx="11049000" cy="561975"/>
          </a:xfrm>
        </p:grpSpPr>
        <p:sp>
          <p:nvSpPr>
            <p:cNvPr id="3" name="Rectangle 3"/>
            <p:cNvSpPr/>
            <p:nvPr/>
          </p:nvSpPr>
          <p:spPr>
            <a:xfrm>
              <a:off x="571500" y="285750"/>
              <a:ext cx="47625" cy="304800"/>
            </a:xfrm>
            <a:prstGeom prst="roundRect">
              <a:avLst>
                <a:gd name="adj" fmla="val 4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6280" y="306705"/>
              <a:ext cx="41698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Case 6: 对撞+未观测→天然阻断</a:t>
              </a:r>
              <a:endParaRPr lang="zh-CN" sz="21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610552"/>
              <a:ext cx="28830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Collider X→M←Y · M NOT observed → Blocked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38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619750" y="133350"/>
            <a:ext cx="6572250" cy="433388"/>
            <a:chOff x="5619750" y="133350"/>
            <a:chExt cx="6572250" cy="433388"/>
          </a:xfrm>
        </p:grpSpPr>
        <p:sp>
          <p:nvSpPr>
            <p:cNvPr id="8" name="Rectangle 8"/>
            <p:cNvSpPr/>
            <p:nvPr/>
          </p:nvSpPr>
          <p:spPr>
            <a:xfrm>
              <a:off x="5619750" y="133350"/>
              <a:ext cx="6096000" cy="400050"/>
            </a:xfrm>
            <a:prstGeom prst="roundRect">
              <a:avLst>
                <a:gd name="adj" fmla="val 1428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5848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11322" y="438626"/>
              <a:ext cx="188357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Ellipse 11"/>
            <p:cNvSpPr/>
            <p:nvPr/>
          </p:nvSpPr>
          <p:spPr>
            <a:xfrm>
              <a:off x="6610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87561" y="438626"/>
              <a:ext cx="359878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Generator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Ellipse 13"/>
            <p:cNvSpPr/>
            <p:nvPr/>
          </p:nvSpPr>
          <p:spPr>
            <a:xfrm>
              <a:off x="7372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67063" y="438626"/>
              <a:ext cx="32487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Interning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818197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57436" y="438626"/>
              <a:ext cx="363379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Kahn Cycle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9001125" y="171450"/>
              <a:ext cx="190500" cy="190500"/>
            </a:xfrm>
            <a:prstGeom prst="ellipse">
              <a:avLst/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53433" y="414338"/>
              <a:ext cx="68588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d-Separation</a:t>
              </a:r>
              <a:endParaRPr lang="zh-CN" sz="750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9848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47063" y="438626"/>
              <a:ext cx="317873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FMEA RPN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Ellipse 21"/>
            <p:cNvSpPr/>
            <p:nvPr/>
          </p:nvSpPr>
          <p:spPr>
            <a:xfrm>
              <a:off x="10610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96812" y="438626"/>
              <a:ext cx="34237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Reflector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1132522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53192" y="438626"/>
              <a:ext cx="25836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Output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6000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762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524750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334375" y="2667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91625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00012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0763250" y="26670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1620500" y="180975"/>
              <a:ext cx="571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D5D8DC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1687175" y="238125"/>
              <a:ext cx="57150" cy="57150"/>
            </a:xfrm>
            <a:prstGeom prst="ellipse">
              <a:avLst/>
            </a:prstGeom>
            <a:solidFill>
              <a:srgbClr val="E8B93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785282" y="238601"/>
              <a:ext cx="24436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Ellipse 35"/>
            <p:cNvSpPr/>
            <p:nvPr/>
          </p:nvSpPr>
          <p:spPr>
            <a:xfrm>
              <a:off x="11687175" y="352425"/>
              <a:ext cx="57150" cy="57150"/>
            </a:xfrm>
            <a:prstGeom prst="ellipse">
              <a:avLst/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785282" y="352901"/>
              <a:ext cx="16735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66750" y="1047750"/>
            <a:ext cx="3810000" cy="2667000"/>
            <a:chOff x="666750" y="1047750"/>
            <a:chExt cx="3810000" cy="2667000"/>
          </a:xfrm>
        </p:grpSpPr>
        <p:sp>
          <p:nvSpPr>
            <p:cNvPr id="38" name="Rectangle 38"/>
            <p:cNvSpPr/>
            <p:nvPr/>
          </p:nvSpPr>
          <p:spPr>
            <a:xfrm>
              <a:off x="666750" y="1047750"/>
              <a:ext cx="3810000" cy="2667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5D8D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010772" y="1220152"/>
              <a:ext cx="1121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Collider: X→M←Y</a:t>
              </a:r>
              <a:endParaRPr lang="zh-CN" sz="1050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Line 40"/>
            <p:cNvSpPr/>
            <p:nvPr/>
          </p:nvSpPr>
          <p:spPr>
            <a:xfrm>
              <a:off x="1578292" y="1628775"/>
              <a:ext cx="843915" cy="361950"/>
            </a:xfrm>
            <a:custGeom>
              <a:avLst/>
              <a:gdLst/>
              <a:ahLst/>
              <a:cxnLst/>
              <a:rect l="l" t="t" r="r" b="b"/>
              <a:pathLst>
                <a:path w="843915" h="361950">
                  <a:moveTo>
                    <a:pt x="0" y="361950"/>
                  </a:moveTo>
                  <a:lnTo>
                    <a:pt x="843915" y="0"/>
                  </a:lnTo>
                </a:path>
              </a:pathLst>
            </a:custGeom>
            <a:noFill/>
            <a:ln w="28575">
              <a:solidFill>
                <a:srgbClr val="27AE60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2230755" y="1617345"/>
              <a:ext cx="191453" cy="158115"/>
            </a:xfrm>
            <a:custGeom>
              <a:avLst/>
              <a:gdLst/>
              <a:ahLst/>
              <a:cxnLst/>
              <a:rect l="l" t="t" r="r" b="b"/>
              <a:pathLst>
                <a:path w="191453" h="158115">
                  <a:moveTo>
                    <a:pt x="191453" y="11430"/>
                  </a:moveTo>
                  <a:lnTo>
                    <a:pt x="67628" y="158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AE60"/>
            </a:solidFill>
            <a:ln w="14288">
              <a:solidFill>
                <a:srgbClr val="FFFFFF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2911792" y="1628775"/>
              <a:ext cx="843915" cy="361950"/>
            </a:xfrm>
            <a:custGeom>
              <a:avLst/>
              <a:gdLst/>
              <a:ahLst/>
              <a:cxnLst/>
              <a:rect l="l" t="t" r="r" b="b"/>
              <a:pathLst>
                <a:path w="843915" h="361950">
                  <a:moveTo>
                    <a:pt x="843915" y="3619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7AE60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2911792" y="1617345"/>
              <a:ext cx="191453" cy="158115"/>
            </a:xfrm>
            <a:custGeom>
              <a:avLst/>
              <a:gdLst/>
              <a:ahLst/>
              <a:cxnLst/>
              <a:rect l="l" t="t" r="r" b="b"/>
              <a:pathLst>
                <a:path w="191453" h="158115">
                  <a:moveTo>
                    <a:pt x="0" y="11430"/>
                  </a:moveTo>
                  <a:lnTo>
                    <a:pt x="191453" y="0"/>
                  </a:lnTo>
                  <a:lnTo>
                    <a:pt x="123825" y="158115"/>
                  </a:lnTo>
                  <a:close/>
                </a:path>
              </a:pathLst>
            </a:custGeom>
            <a:solidFill>
              <a:srgbClr val="27AE60"/>
            </a:solidFill>
            <a:ln w="14288">
              <a:solidFill>
                <a:srgbClr val="FFFFFF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085850" y="18478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27AE60"/>
              </a:solidFill>
              <a:custDash>
                <a:ds d="200000" sp="120000"/>
              </a:custDash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275895" y="2031206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X</a:t>
              </a:r>
              <a:endParaRPr lang="zh-CN" sz="1125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Ellipse 46"/>
            <p:cNvSpPr/>
            <p:nvPr/>
          </p:nvSpPr>
          <p:spPr>
            <a:xfrm>
              <a:off x="2419350" y="12763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27AE60"/>
              </a:solidFill>
              <a:custDash>
                <a:ds d="200000" sp="120000"/>
              </a:custDash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593643" y="1459706"/>
              <a:ext cx="1467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</a:t>
              </a:r>
              <a:endParaRPr lang="zh-CN" sz="1125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Ellipse 48"/>
            <p:cNvSpPr/>
            <p:nvPr/>
          </p:nvSpPr>
          <p:spPr>
            <a:xfrm>
              <a:off x="3752850" y="1847850"/>
              <a:ext cx="495300" cy="49530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27AE60"/>
              </a:solidFill>
              <a:custDash>
                <a:ds d="200000" sp="120000"/>
              </a:custDash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942895" y="2031206"/>
              <a:ext cx="115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Y</a:t>
              </a:r>
              <a:endParaRPr lang="zh-CN" sz="1125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762500" y="1047750"/>
            <a:ext cx="3048000" cy="2476500"/>
            <a:chOff x="4762500" y="1047750"/>
            <a:chExt cx="3048000" cy="2476500"/>
          </a:xfrm>
        </p:grpSpPr>
        <p:sp>
          <p:nvSpPr>
            <p:cNvPr id="51" name="Rectangle 51"/>
            <p:cNvSpPr/>
            <p:nvPr/>
          </p:nvSpPr>
          <p:spPr>
            <a:xfrm>
              <a:off x="4762500" y="1047750"/>
              <a:ext cx="3048000" cy="2476500"/>
            </a:xfrm>
            <a:prstGeom prst="roundRect">
              <a:avLst>
                <a:gd name="adj" fmla="val 384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685092" y="120110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贝叶斯球移动轨迹</a:t>
              </a:r>
              <a:endParaRPr lang="zh-CN" sz="1050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Line 53"/>
            <p:cNvSpPr/>
            <p:nvPr/>
          </p:nvSpPr>
          <p:spPr>
            <a:xfrm>
              <a:off x="4953000" y="14097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940618" y="1513999"/>
              <a:ext cx="1181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Step0: (X,Up)出发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940618" y="1723549"/>
              <a:ext cx="19360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Step1: X未观测→Rule1→Down到Z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940618" y="193309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Step2: Z未观测→Rule3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940618" y="2142649"/>
              <a:ext cx="16889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→ 只允许Down，但Z无向下边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940618" y="2352199"/>
              <a:ext cx="7268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→ 球卡死在Z</a:t>
              </a:r>
              <a:endParaRPr lang="zh-CN" sz="97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940618" y="2561749"/>
              <a:ext cx="19815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7AE6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→ return true (天然阻断，安全)</a:t>
              </a:r>
              <a:endParaRPr lang="zh-CN" sz="975" b="1" dirty="0">
                <a:solidFill>
                  <a:srgbClr val="27AE6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096250" y="1047750"/>
            <a:ext cx="3524250" cy="866775"/>
            <a:chOff x="8096250" y="1047750"/>
            <a:chExt cx="3524250" cy="866775"/>
          </a:xfrm>
        </p:grpSpPr>
        <p:sp>
          <p:nvSpPr>
            <p:cNvPr id="61" name="Rectangle 61"/>
            <p:cNvSpPr/>
            <p:nvPr/>
          </p:nvSpPr>
          <p:spPr>
            <a:xfrm>
              <a:off x="8096250" y="1047750"/>
              <a:ext cx="3524250" cy="857250"/>
            </a:xfrm>
            <a:prstGeom prst="roundRect">
              <a:avLst>
                <a:gd name="adj" fmla="val 11111"/>
              </a:avLst>
            </a:prstGeom>
            <a:solidFill>
              <a:srgbClr val="27AE60">
                <a:alpha val="8000"/>
              </a:srgbClr>
            </a:solidFill>
            <a:ln w="14288">
              <a:solidFill>
                <a:srgbClr val="27AE60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267663" y="1203960"/>
              <a:ext cx="11814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判定: 天然阻断</a:t>
              </a:r>
              <a:endParaRPr lang="zh-CN" sz="120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81138" y="1441132"/>
              <a:ext cx="9544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X⊥Y 阻断</a:t>
              </a:r>
              <a:endParaRPr lang="zh-CN" sz="165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399889" y="1731645"/>
              <a:ext cx="9169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Z 状态: M未观测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8096250" y="2095500"/>
            <a:ext cx="3524250" cy="1714500"/>
            <a:chOff x="8096250" y="2095500"/>
            <a:chExt cx="3524250" cy="1714500"/>
          </a:xfrm>
          <a:effectLst>
            <a:outerShdw blurRad="76200" dist="19050" dir="5400000" algn="ctr" rotWithShape="0">
              <a:srgbClr val="000000">
                <a:alpha val="4500"/>
              </a:srgbClr>
            </a:outerShdw>
          </a:effectLst>
        </p:grpSpPr>
        <p:sp>
          <p:nvSpPr>
            <p:cNvPr id="66" name="Rectangle 66"/>
            <p:cNvSpPr/>
            <p:nvPr/>
          </p:nvSpPr>
          <p:spPr>
            <a:xfrm>
              <a:off x="8096250" y="2095500"/>
              <a:ext cx="3524250" cy="17145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67" name="Rectangle 67"/>
            <p:cNvSpPr/>
            <p:nvPr/>
          </p:nvSpPr>
          <p:spPr>
            <a:xfrm>
              <a:off x="8096250" y="2095500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27AE60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68" name="TextBox 68"/>
            <p:cNvSpPr txBox="1"/>
            <p:nvPr/>
          </p:nvSpPr>
          <p:spPr>
            <a:xfrm>
              <a:off x="8271510" y="2251710"/>
              <a:ext cx="702564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7AE60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现实案例</a:t>
              </a:r>
              <a:endParaRPr lang="zh-CN" sz="1200" b="1" dirty="0">
                <a:solidFill>
                  <a:srgbClr val="27AE60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73415" y="2534602"/>
              <a:ext cx="1805592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业务能力→合伙人←人脉关系</a:t>
              </a:r>
              <a:endParaRPr lang="zh-CN" sz="10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74368" y="2847499"/>
              <a:ext cx="1825490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不知道是否是合伙人(M未观测)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74368" y="3076099"/>
              <a:ext cx="1305425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业务能力和人脉关系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74368" y="3304699"/>
              <a:ext cx="1584960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本来就是两码事，互不影响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74368" y="3533299"/>
              <a:ext cx="1175409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不翻垃圾桶就安全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71500" y="4000500"/>
            <a:ext cx="11049000" cy="2381250"/>
            <a:chOff x="571500" y="4000500"/>
            <a:chExt cx="11049000" cy="2381250"/>
          </a:xfrm>
        </p:grpSpPr>
        <p:sp>
          <p:nvSpPr>
            <p:cNvPr id="75" name="Rectangle 75"/>
            <p:cNvSpPr/>
            <p:nvPr/>
          </p:nvSpPr>
          <p:spPr>
            <a:xfrm>
              <a:off x="571500" y="4000500"/>
              <a:ext cx="11049000" cy="2381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8DC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571500" y="4000500"/>
              <a:ext cx="11049000" cy="57150"/>
            </a:xfrm>
            <a:prstGeom prst="roundRect">
              <a:avLst>
                <a:gd name="adj" fmla="val 5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46760" y="4156710"/>
              <a:ext cx="20467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深入理解：球是怎么移动的</a:t>
              </a:r>
              <a:endParaRPr lang="zh-CN" sz="12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48665" y="4696778"/>
              <a:ext cx="48712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球从X出发→Down到Z。Z未观测→Rule3：只允许Down。但Z无向下边，球卡死。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48665" y="4944428"/>
              <a:ext cx="44092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对撞节点'出厂设置'就是天然阻断——不翻垃圾桶，X和Y井水不犯河水。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48665" y="5192078"/>
              <a:ext cx="38421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Collider的安全模式。LLM正确保持M未观测时，系统不报警。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560070" y="6522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15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10954988" y="6522720"/>
            <a:ext cx="676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EdgeThemis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50" grpId="0"/>
      <p:bldP spid="60" grpId="0"/>
      <p:bldP spid="65" grpId="0"/>
      <p:bldP spid="74" grpId="0"/>
      <p:bldP spid="8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346710"/>
            <a:ext cx="11049000" cy="691515"/>
            <a:chOff x="571500" y="346710"/>
            <a:chExt cx="11049000" cy="69151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8660" y="346710"/>
              <a:ext cx="260149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FMEA 风险评分</a:t>
              </a:r>
              <a:endParaRPr lang="zh-CN" sz="27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983355" y="492442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：将工业工程方法论融入因果图</a:t>
              </a:r>
              <a:endParaRPr lang="zh-CN" sz="13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28662" y="754856"/>
              <a:ext cx="24813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FMEA Risk Scoring on Causal Edges</a:t>
              </a:r>
              <a:endParaRPr lang="zh-CN" sz="11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0287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5619750" y="133350"/>
            <a:ext cx="6572250" cy="433388"/>
            <a:chOff x="5619750" y="133350"/>
            <a:chExt cx="6572250" cy="433388"/>
          </a:xfrm>
        </p:grpSpPr>
        <p:sp>
          <p:nvSpPr>
            <p:cNvPr id="9" name="Rectangle 9"/>
            <p:cNvSpPr/>
            <p:nvPr/>
          </p:nvSpPr>
          <p:spPr>
            <a:xfrm>
              <a:off x="5619750" y="133350"/>
              <a:ext cx="6096000" cy="400050"/>
            </a:xfrm>
            <a:prstGeom prst="roundRect">
              <a:avLst>
                <a:gd name="adj" fmla="val 1428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848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11322" y="438626"/>
              <a:ext cx="188357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Ellipse 12"/>
            <p:cNvSpPr/>
            <p:nvPr/>
          </p:nvSpPr>
          <p:spPr>
            <a:xfrm>
              <a:off x="6610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487561" y="438626"/>
              <a:ext cx="359878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Generator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72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67063" y="438626"/>
              <a:ext cx="32487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Interning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Ellipse 16"/>
            <p:cNvSpPr/>
            <p:nvPr/>
          </p:nvSpPr>
          <p:spPr>
            <a:xfrm>
              <a:off x="818197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57436" y="438626"/>
              <a:ext cx="363379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Kahn Cycle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Ellipse 18"/>
            <p:cNvSpPr/>
            <p:nvPr/>
          </p:nvSpPr>
          <p:spPr>
            <a:xfrm>
              <a:off x="903922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67430" y="438626"/>
              <a:ext cx="457891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d-Separation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Ellipse 20"/>
            <p:cNvSpPr/>
            <p:nvPr/>
          </p:nvSpPr>
          <p:spPr>
            <a:xfrm>
              <a:off x="9810750" y="171450"/>
              <a:ext cx="190500" cy="190500"/>
            </a:xfrm>
            <a:prstGeom prst="ellipse">
              <a:avLst/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668071" y="414338"/>
              <a:ext cx="4758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2E86D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FMEA RPN</a:t>
              </a:r>
              <a:endParaRPr lang="zh-CN" sz="750" b="1" dirty="0">
                <a:solidFill>
                  <a:srgbClr val="2E86D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Ellipse 22"/>
            <p:cNvSpPr/>
            <p:nvPr/>
          </p:nvSpPr>
          <p:spPr>
            <a:xfrm>
              <a:off x="10610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496812" y="438626"/>
              <a:ext cx="34237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Reflector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Ellipse 24"/>
            <p:cNvSpPr/>
            <p:nvPr/>
          </p:nvSpPr>
          <p:spPr>
            <a:xfrm>
              <a:off x="1132522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253192" y="438626"/>
              <a:ext cx="25836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Output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6000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6762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7524750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334375" y="2667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191625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00012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0763250" y="26670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1620500" y="180975"/>
              <a:ext cx="571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D5D8DC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1687175" y="238125"/>
              <a:ext cx="57150" cy="57150"/>
            </a:xfrm>
            <a:prstGeom prst="ellipse">
              <a:avLst/>
            </a:prstGeom>
            <a:solidFill>
              <a:srgbClr val="E8B93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785282" y="238601"/>
              <a:ext cx="24436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Ellipse 36"/>
            <p:cNvSpPr/>
            <p:nvPr/>
          </p:nvSpPr>
          <p:spPr>
            <a:xfrm>
              <a:off x="11687175" y="352425"/>
              <a:ext cx="57150" cy="57150"/>
            </a:xfrm>
            <a:prstGeom prst="ellipse">
              <a:avLst/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785282" y="352901"/>
              <a:ext cx="16735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71500" y="1190625"/>
            <a:ext cx="5334000" cy="2550319"/>
            <a:chOff x="571500" y="1190625"/>
            <a:chExt cx="5334000" cy="2550319"/>
          </a:xfrm>
        </p:grpSpPr>
        <p:sp>
          <p:nvSpPr>
            <p:cNvPr id="39" name="Rectangle 39"/>
            <p:cNvSpPr/>
            <p:nvPr/>
          </p:nvSpPr>
          <p:spPr>
            <a:xfrm>
              <a:off x="571500" y="1190625"/>
              <a:ext cx="5334000" cy="400050"/>
            </a:xfrm>
            <a:prstGeom prst="roundRect">
              <a:avLst>
                <a:gd name="adj" fmla="val 14286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542693" y="132635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维度</a:t>
              </a:r>
              <a:endParaRPr lang="zh-CN" sz="1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638193" y="132635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含义</a:t>
              </a:r>
              <a:endParaRPr lang="zh-CN" sz="1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162193" y="132635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取值</a:t>
              </a:r>
              <a:endParaRPr lang="zh-CN" sz="1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1500" y="1638300"/>
              <a:ext cx="5334000" cy="476250"/>
            </a:xfrm>
            <a:prstGeom prst="roundRect">
              <a:avLst>
                <a:gd name="adj" fmla="val 8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645374" y="17783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</a:t>
              </a:r>
              <a:endParaRPr lang="zh-CN" sz="1350" b="1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415236" y="1958816"/>
              <a:ext cx="5985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(Severity)</a:t>
              </a:r>
              <a:endParaRPr lang="zh-CN" sz="8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270647" y="18026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失效后果严重度</a:t>
              </a:r>
              <a:endParaRPr lang="zh-CN" sz="112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83531" y="1794510"/>
              <a:ext cx="5009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1 - 10</a:t>
              </a:r>
              <a:endParaRPr lang="zh-CN" sz="12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71500" y="2162175"/>
              <a:ext cx="5334000" cy="4762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626471" y="2302192"/>
              <a:ext cx="1760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8B93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O</a:t>
              </a:r>
              <a:endParaRPr lang="zh-CN" sz="1350" b="1" dirty="0">
                <a:solidFill>
                  <a:srgbClr val="E8B93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329976" y="2482691"/>
              <a:ext cx="7690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(Occurrence)</a:t>
              </a:r>
              <a:endParaRPr lang="zh-CN" sz="8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345656" y="2326481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失效发生概率</a:t>
              </a:r>
              <a:endParaRPr lang="zh-CN" sz="112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083531" y="2318385"/>
              <a:ext cx="5009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1 - 10</a:t>
              </a:r>
              <a:endParaRPr lang="zh-CN" sz="12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71500" y="2686050"/>
              <a:ext cx="5334000" cy="476250"/>
            </a:xfrm>
            <a:prstGeom prst="roundRect">
              <a:avLst>
                <a:gd name="adj" fmla="val 8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645374" y="28260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E86D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</a:t>
              </a:r>
              <a:endParaRPr lang="zh-CN" sz="1350" b="1" dirty="0">
                <a:solidFill>
                  <a:srgbClr val="2E86D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384983" y="3006566"/>
              <a:ext cx="6590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(Detection)</a:t>
              </a:r>
              <a:endParaRPr lang="zh-CN" sz="8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345656" y="28503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失效检测难度</a:t>
              </a:r>
              <a:endParaRPr lang="zh-CN" sz="112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083531" y="2842260"/>
              <a:ext cx="5009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1 - 10</a:t>
              </a:r>
              <a:endParaRPr lang="zh-CN" sz="12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71500" y="3209925"/>
              <a:ext cx="5334000" cy="523875"/>
            </a:xfrm>
            <a:prstGeom prst="roundRect">
              <a:avLst>
                <a:gd name="adj" fmla="val 7273"/>
              </a:avLst>
            </a:prstGeom>
            <a:solidFill>
              <a:srgbClr val="1A3C6E">
                <a:alpha val="8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541411" y="3378518"/>
              <a:ext cx="3461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3C6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RPN</a:t>
              </a:r>
              <a:endParaRPr lang="zh-CN" sz="1350" b="1" dirty="0">
                <a:solidFill>
                  <a:srgbClr val="1A3C6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420666" y="3355181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风险优先数</a:t>
              </a:r>
              <a:endParaRPr lang="zh-CN" sz="112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277552" y="354282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7F8C8D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100×S + 10×O + D</a:t>
              </a:r>
              <a:endParaRPr lang="zh-CN" sz="975" dirty="0">
                <a:solidFill>
                  <a:srgbClr val="7F8C8D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062528" y="3394710"/>
              <a:ext cx="5429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≤ 1110</a:t>
              </a:r>
              <a:endParaRPr lang="zh-CN" sz="1200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477000" y="1333500"/>
            <a:ext cx="5143500" cy="2286000"/>
            <a:chOff x="6477000" y="1333500"/>
            <a:chExt cx="5143500" cy="2286000"/>
          </a:xfrm>
        </p:grpSpPr>
        <p:sp>
          <p:nvSpPr>
            <p:cNvPr id="64" name="Rectangle 64"/>
            <p:cNvSpPr/>
            <p:nvPr/>
          </p:nvSpPr>
          <p:spPr>
            <a:xfrm>
              <a:off x="6477000" y="1333500"/>
              <a:ext cx="5143500" cy="2286000"/>
            </a:xfrm>
            <a:prstGeom prst="roundRect">
              <a:avLst>
                <a:gd name="adj" fmla="val 5000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533648" y="1537335"/>
              <a:ext cx="10302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RPN 计算公式</a:t>
              </a:r>
              <a:endParaRPr lang="zh-CN" sz="1200" b="1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434282" y="1868805"/>
              <a:ext cx="322893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A3C6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RPN = 100×S + 10×O + D</a:t>
              </a:r>
              <a:endParaRPr lang="zh-CN" sz="2100" b="1" dirty="0">
                <a:solidFill>
                  <a:srgbClr val="1A3C6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7" name="Line 67"/>
            <p:cNvSpPr/>
            <p:nvPr/>
          </p:nvSpPr>
          <p:spPr>
            <a:xfrm>
              <a:off x="6858000" y="22860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035165" y="2506028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权重分配：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048500" y="2762250"/>
              <a:ext cx="2857500" cy="190500"/>
            </a:xfrm>
            <a:prstGeom prst="roundRect">
              <a:avLst>
                <a:gd name="adj" fmla="val 20000"/>
              </a:avLst>
            </a:prstGeom>
            <a:solidFill>
              <a:srgbClr val="E74C3C">
                <a:alpha val="20000"/>
              </a:srgbClr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048500" y="2762250"/>
              <a:ext cx="2571750" cy="190500"/>
            </a:xfrm>
            <a:prstGeom prst="roundRect">
              <a:avLst>
                <a:gd name="adj" fmla="val 2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703118" y="2799874"/>
              <a:ext cx="4820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 × 100</a:t>
              </a:r>
              <a:endParaRPr lang="zh-CN" sz="975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048500" y="3028950"/>
              <a:ext cx="2857500" cy="190500"/>
            </a:xfrm>
            <a:prstGeom prst="roundRect">
              <a:avLst>
                <a:gd name="adj" fmla="val 20000"/>
              </a:avLst>
            </a:prstGeom>
            <a:solidFill>
              <a:srgbClr val="E8B931">
                <a:alpha val="20000"/>
              </a:srgbClr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7048500" y="3028950"/>
              <a:ext cx="285750" cy="190500"/>
            </a:xfrm>
            <a:prstGeom prst="roundRect">
              <a:avLst>
                <a:gd name="adj" fmla="val 20000"/>
              </a:avLst>
            </a:prstGeom>
            <a:solidFill>
              <a:srgbClr val="E8B931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703118" y="3066574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 × 10</a:t>
              </a:r>
              <a:endParaRPr lang="zh-CN" sz="975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048500" y="3295650"/>
              <a:ext cx="2857500" cy="190500"/>
            </a:xfrm>
            <a:prstGeom prst="roundRect">
              <a:avLst>
                <a:gd name="adj" fmla="val 20000"/>
              </a:avLst>
            </a:prstGeom>
            <a:solidFill>
              <a:srgbClr val="2E86DE">
                <a:alpha val="20000"/>
              </a:srgbClr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7048500" y="3295650"/>
              <a:ext cx="28575" cy="190500"/>
            </a:xfrm>
            <a:prstGeom prst="roundRect">
              <a:avLst>
                <a:gd name="adj" fmla="val 50000"/>
              </a:avLst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703118" y="3333274"/>
              <a:ext cx="331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 × 1</a:t>
              </a:r>
              <a:endParaRPr lang="zh-CN" sz="975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550545" y="3965258"/>
            <a:ext cx="11260455" cy="2421254"/>
            <a:chOff x="550545" y="3965258"/>
            <a:chExt cx="11260455" cy="2421254"/>
          </a:xfrm>
        </p:grpSpPr>
        <p:sp>
          <p:nvSpPr>
            <p:cNvPr id="79" name="TextBox 79"/>
            <p:cNvSpPr txBox="1"/>
            <p:nvPr/>
          </p:nvSpPr>
          <p:spPr>
            <a:xfrm>
              <a:off x="550545" y="396525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实例演示</a:t>
              </a:r>
              <a:endParaRPr lang="zh-CN" sz="165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80" name="Line 80"/>
            <p:cNvSpPr/>
            <p:nvPr/>
          </p:nvSpPr>
          <p:spPr>
            <a:xfrm>
              <a:off x="571500" y="42672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19050">
              <a:solidFill>
                <a:srgbClr val="2E86DE"/>
              </a:solidFill>
            </a:ln>
          </p:spPr>
        </p:sp>
        <p:grpSp>
          <p:nvGrpSpPr>
            <p:cNvPr id="111" name="Group 111"/>
            <p:cNvGrpSpPr/>
            <p:nvPr/>
          </p:nvGrpSpPr>
          <p:grpSpPr>
            <a:xfrm>
              <a:off x="571500" y="4429125"/>
              <a:ext cx="11239500" cy="1619250"/>
              <a:chOff x="571500" y="4429125"/>
              <a:chExt cx="11239500" cy="1619250"/>
            </a:xfrm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grpSpPr>
          <p:sp>
            <p:nvSpPr>
              <p:cNvPr id="81" name="Rectangle 81"/>
              <p:cNvSpPr/>
              <p:nvPr/>
            </p:nvSpPr>
            <p:spPr>
              <a:xfrm>
                <a:off x="571500" y="4429125"/>
                <a:ext cx="11049000" cy="1619250"/>
              </a:xfrm>
              <a:prstGeom prst="roundRect">
                <a:avLst>
                  <a:gd name="adj" fmla="val 7059"/>
                </a:avLst>
              </a:prstGeom>
              <a:solidFill>
                <a:srgbClr val="FFFFFF"/>
              </a:solidFill>
              <a:ln w="19050">
                <a:solidFill>
                  <a:srgbClr val="E74C3C"/>
                </a:solidFill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grpSp>
            <p:nvGrpSpPr>
              <p:cNvPr id="88" name="Group 88"/>
              <p:cNvGrpSpPr/>
              <p:nvPr/>
            </p:nvGrpSpPr>
            <p:grpSpPr>
              <a:xfrm>
                <a:off x="952500" y="4953000"/>
                <a:ext cx="4572000" cy="571500"/>
                <a:chOff x="952500" y="4953000"/>
                <a:chExt cx="4572000" cy="571500"/>
              </a:xfrm>
            </p:grpSpPr>
            <p:sp>
              <p:nvSpPr>
                <p:cNvPr id="82" name="Rectangle 82"/>
                <p:cNvSpPr/>
                <p:nvPr/>
              </p:nvSpPr>
              <p:spPr>
                <a:xfrm>
                  <a:off x="952500" y="4953000"/>
                  <a:ext cx="1905000" cy="571500"/>
                </a:xfrm>
                <a:prstGeom prst="roundRect">
                  <a:avLst>
                    <a:gd name="adj" fmla="val 13333"/>
                  </a:avLst>
                </a:prstGeom>
                <a:solidFill>
                  <a:srgbClr val="1A3C6E"/>
                </a:solidFill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1301686" y="5175885"/>
                  <a:ext cx="1206627" cy="24384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FFFFFF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未消毒手术器械</a:t>
                  </a:r>
                  <a:endParaRPr lang="zh-CN" sz="12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84" name="Line 84"/>
                <p:cNvSpPr/>
                <p:nvPr/>
              </p:nvSpPr>
              <p:spPr>
                <a:xfrm>
                  <a:off x="2952750" y="5238750"/>
                  <a:ext cx="952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0" h="9525">
                      <a:moveTo>
                        <a:pt x="0" y="0"/>
                      </a:moveTo>
                      <a:lnTo>
                        <a:pt x="952500" y="0"/>
                      </a:lnTo>
                    </a:path>
                  </a:pathLst>
                </a:custGeom>
                <a:noFill/>
                <a:ln w="28575">
                  <a:solidFill>
                    <a:srgbClr val="E74C3C"/>
                  </a:solidFill>
                </a:ln>
              </p:spPr>
            </p:sp>
            <p:sp>
              <p:nvSpPr>
                <p:cNvPr id="85" name="Polygon 85"/>
                <p:cNvSpPr/>
                <p:nvPr/>
              </p:nvSpPr>
              <p:spPr>
                <a:xfrm>
                  <a:off x="3810000" y="5181600"/>
                  <a:ext cx="952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14300">
                      <a:moveTo>
                        <a:pt x="95250" y="57150"/>
                      </a:moveTo>
                      <a:lnTo>
                        <a:pt x="0" y="0"/>
                      </a:lnTo>
                      <a:lnTo>
                        <a:pt x="0" y="114300"/>
                      </a:lnTo>
                      <a:close/>
                    </a:path>
                  </a:pathLst>
                </a:custGeom>
                <a:solidFill>
                  <a:srgbClr val="E74C3C"/>
                </a:solidFill>
                <a:ln>
                  <a:noFill/>
                </a:ln>
              </p:spPr>
            </p:sp>
            <p:sp>
              <p:nvSpPr>
                <p:cNvPr id="86" name="Rectangle 86"/>
                <p:cNvSpPr/>
                <p:nvPr/>
              </p:nvSpPr>
              <p:spPr>
                <a:xfrm>
                  <a:off x="4000500" y="4953000"/>
                  <a:ext cx="1524000" cy="571500"/>
                </a:xfrm>
                <a:prstGeom prst="roundRect">
                  <a:avLst>
                    <a:gd name="adj" fmla="val 13333"/>
                  </a:avLst>
                </a:prstGeom>
                <a:solidFill>
                  <a:srgbClr val="E74C3C"/>
                </a:solidFill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87" name="TextBox 87"/>
                <p:cNvSpPr txBox="1"/>
                <p:nvPr/>
              </p:nvSpPr>
              <p:spPr>
                <a:xfrm>
                  <a:off x="4411218" y="5175885"/>
                  <a:ext cx="702564" cy="24384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FFFFFF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术后感染</a:t>
                  </a:r>
                  <a:endParaRPr lang="zh-CN" sz="12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98" name="Group 98"/>
              <p:cNvGrpSpPr/>
              <p:nvPr/>
            </p:nvGrpSpPr>
            <p:grpSpPr>
              <a:xfrm>
                <a:off x="6667500" y="4619625"/>
                <a:ext cx="3810000" cy="561975"/>
                <a:chOff x="6667500" y="4619625"/>
                <a:chExt cx="3810000" cy="561975"/>
              </a:xfrm>
            </p:grpSpPr>
            <p:sp>
              <p:nvSpPr>
                <p:cNvPr id="89" name="Rectangle 89"/>
                <p:cNvSpPr/>
                <p:nvPr/>
              </p:nvSpPr>
              <p:spPr>
                <a:xfrm>
                  <a:off x="6667500" y="4619625"/>
                  <a:ext cx="1143000" cy="476250"/>
                </a:xfrm>
                <a:prstGeom prst="roundRect">
                  <a:avLst>
                    <a:gd name="adj" fmla="val 16000"/>
                  </a:avLst>
                </a:prstGeom>
                <a:solidFill>
                  <a:srgbClr val="E74C3C">
                    <a:alpha val="10000"/>
                  </a:srgbClr>
                </a:solidFill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90" name="TextBox 90"/>
                <p:cNvSpPr txBox="1"/>
                <p:nvPr/>
              </p:nvSpPr>
              <p:spPr>
                <a:xfrm>
                  <a:off x="6978539" y="4732020"/>
                  <a:ext cx="520922" cy="18288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7F8C8D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Severity</a:t>
                  </a:r>
                  <a:endPara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91" name="TextBox 91"/>
                <p:cNvSpPr txBox="1"/>
                <p:nvPr/>
              </p:nvSpPr>
              <p:spPr>
                <a:xfrm>
                  <a:off x="6983670" y="4876800"/>
                  <a:ext cx="510659" cy="30480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rgbClr val="E74C3C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S = 9</a:t>
                  </a:r>
                  <a:endParaRPr lang="zh-CN" sz="1500" b="1" dirty="0">
                    <a:solidFill>
                      <a:srgbClr val="E74C3C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92" name="Rectangle 92"/>
                <p:cNvSpPr/>
                <p:nvPr/>
              </p:nvSpPr>
              <p:spPr>
                <a:xfrm>
                  <a:off x="8001000" y="4619625"/>
                  <a:ext cx="1143000" cy="476250"/>
                </a:xfrm>
                <a:prstGeom prst="roundRect">
                  <a:avLst>
                    <a:gd name="adj" fmla="val 16000"/>
                  </a:avLst>
                </a:prstGeom>
                <a:solidFill>
                  <a:srgbClr val="E8B931">
                    <a:alpha val="10000"/>
                  </a:srgbClr>
                </a:solidFill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93" name="TextBox 93"/>
                <p:cNvSpPr txBox="1"/>
                <p:nvPr/>
              </p:nvSpPr>
              <p:spPr>
                <a:xfrm>
                  <a:off x="8219027" y="4732020"/>
                  <a:ext cx="706946" cy="18288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7F8C8D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Occurrence</a:t>
                  </a:r>
                  <a:endPara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94" name="TextBox 94"/>
                <p:cNvSpPr txBox="1"/>
                <p:nvPr/>
              </p:nvSpPr>
              <p:spPr>
                <a:xfrm>
                  <a:off x="8296168" y="4876800"/>
                  <a:ext cx="552664" cy="30480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rgbClr val="E8B931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O = 4</a:t>
                  </a:r>
                  <a:endParaRPr lang="zh-CN" sz="1500" b="1" dirty="0">
                    <a:solidFill>
                      <a:srgbClr val="E8B931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95" name="Rectangle 95"/>
                <p:cNvSpPr/>
                <p:nvPr/>
              </p:nvSpPr>
              <p:spPr>
                <a:xfrm>
                  <a:off x="9334500" y="4619625"/>
                  <a:ext cx="1143000" cy="476250"/>
                </a:xfrm>
                <a:prstGeom prst="roundRect">
                  <a:avLst>
                    <a:gd name="adj" fmla="val 16000"/>
                  </a:avLst>
                </a:prstGeom>
                <a:solidFill>
                  <a:srgbClr val="2E86DE">
                    <a:alpha val="10000"/>
                  </a:srgbClr>
                </a:solidFill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96" name="TextBox 96"/>
                <p:cNvSpPr txBox="1"/>
                <p:nvPr/>
              </p:nvSpPr>
              <p:spPr>
                <a:xfrm>
                  <a:off x="9612535" y="4732020"/>
                  <a:ext cx="586930" cy="18288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7F8C8D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Detection</a:t>
                  </a:r>
                  <a:endPara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97" name="TextBox 97"/>
                <p:cNvSpPr txBox="1"/>
                <p:nvPr/>
              </p:nvSpPr>
              <p:spPr>
                <a:xfrm>
                  <a:off x="9650670" y="4876800"/>
                  <a:ext cx="510659" cy="30480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rgbClr val="2E86DE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D = 6</a:t>
                  </a:r>
                  <a:endParaRPr lang="zh-CN" sz="1500" b="1" dirty="0">
                    <a:solidFill>
                      <a:srgbClr val="2E86D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</p:grpSp>
          <p:grpSp>
            <p:nvGrpSpPr>
              <p:cNvPr id="103" name="Group 103"/>
              <p:cNvGrpSpPr/>
              <p:nvPr/>
            </p:nvGrpSpPr>
            <p:grpSpPr>
              <a:xfrm>
                <a:off x="6652260" y="5238750"/>
                <a:ext cx="5158740" cy="438150"/>
                <a:chOff x="6652260" y="5238750"/>
                <a:chExt cx="5158740" cy="438150"/>
              </a:xfrm>
            </p:grpSpPr>
            <p:sp>
              <p:nvSpPr>
                <p:cNvPr id="99" name="TextBox 99"/>
                <p:cNvSpPr txBox="1"/>
                <p:nvPr/>
              </p:nvSpPr>
              <p:spPr>
                <a:xfrm>
                  <a:off x="6652260" y="5347335"/>
                  <a:ext cx="1862709" cy="24384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2C3E50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RPN = 100×9 + 10×4 + 6 =</a:t>
                  </a:r>
                  <a:endParaRPr lang="zh-CN" sz="12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100" name="TextBox 100"/>
                <p:cNvSpPr txBox="1"/>
                <p:nvPr/>
              </p:nvSpPr>
              <p:spPr>
                <a:xfrm>
                  <a:off x="9974580" y="5250180"/>
                  <a:ext cx="538501" cy="42672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b="1" dirty="0">
                      <a:solidFill>
                        <a:srgbClr val="E74C3C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946</a:t>
                  </a:r>
                  <a:endParaRPr lang="zh-CN" sz="2100" b="1" dirty="0">
                    <a:solidFill>
                      <a:srgbClr val="E74C3C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101" name="Rectangle 101"/>
                <p:cNvSpPr/>
                <p:nvPr/>
              </p:nvSpPr>
              <p:spPr>
                <a:xfrm>
                  <a:off x="10858500" y="5238750"/>
                  <a:ext cx="952500" cy="333375"/>
                </a:xfrm>
                <a:prstGeom prst="roundRect">
                  <a:avLst>
                    <a:gd name="adj" fmla="val 48571"/>
                  </a:avLst>
                </a:prstGeom>
                <a:solidFill>
                  <a:srgbClr val="E74C3C"/>
                </a:solidFill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102" name="TextBox 102"/>
                <p:cNvSpPr txBox="1"/>
                <p:nvPr/>
              </p:nvSpPr>
              <p:spPr>
                <a:xfrm>
                  <a:off x="11137642" y="5344478"/>
                  <a:ext cx="394216" cy="21336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&gt; 500</a:t>
                  </a:r>
                  <a:endPara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110" name="Group 110"/>
              <p:cNvGrpSpPr/>
              <p:nvPr/>
            </p:nvGrpSpPr>
            <p:grpSpPr>
              <a:xfrm>
                <a:off x="6682699" y="5593556"/>
                <a:ext cx="3384369" cy="228600"/>
                <a:chOff x="6682699" y="5593556"/>
                <a:chExt cx="3384369" cy="228600"/>
              </a:xfrm>
            </p:grpSpPr>
            <p:grpSp>
              <p:nvGrpSpPr>
                <p:cNvPr id="107" name="Group 107"/>
                <p:cNvGrpSpPr/>
                <p:nvPr/>
              </p:nvGrpSpPr>
              <p:grpSpPr>
                <a:xfrm>
                  <a:off x="6682699" y="5621876"/>
                  <a:ext cx="160095" cy="137543"/>
                  <a:chOff x="6682699" y="5621876"/>
                  <a:chExt cx="160095" cy="137543"/>
                </a:xfrm>
              </p:grpSpPr>
              <p:sp>
                <p:nvSpPr>
                  <p:cNvPr id="104" name="Freeform 104"/>
                  <p:cNvSpPr/>
                  <p:nvPr/>
                </p:nvSpPr>
                <p:spPr>
                  <a:xfrm>
                    <a:off x="6762750" y="5672138"/>
                    <a:ext cx="9525" cy="31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1750">
                        <a:moveTo>
                          <a:pt x="0" y="0"/>
                        </a:moveTo>
                        <a:lnTo>
                          <a:pt x="0" y="31750"/>
                        </a:lnTo>
                      </a:path>
                    </a:pathLst>
                  </a:custGeom>
                  <a:noFill/>
                  <a:ln w="19050">
                    <a:solidFill>
                      <a:srgbClr val="E74C3C"/>
                    </a:solidFill>
                  </a:ln>
                  <a:effectLst>
                    <a:outerShdw blurRad="76200" dist="19050" dir="5400000" algn="ctr" rotWithShape="0">
                      <a:srgbClr val="000000">
                        <a:alpha val="4500"/>
                      </a:srgbClr>
                    </a:outerShdw>
                  </a:effectLst>
                </p:spPr>
              </p:sp>
              <p:sp>
                <p:nvSpPr>
                  <p:cNvPr id="105" name="Freeform 105"/>
                  <p:cNvSpPr/>
                  <p:nvPr/>
                </p:nvSpPr>
                <p:spPr>
                  <a:xfrm>
                    <a:off x="6682699" y="5621876"/>
                    <a:ext cx="160095" cy="1375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095" h="137543">
                        <a:moveTo>
                          <a:pt x="67057" y="7328"/>
                        </a:moveTo>
                        <a:lnTo>
                          <a:pt x="2716" y="114754"/>
                        </a:lnTo>
                        <a:cubicBezTo>
                          <a:pt x="16" y="119428"/>
                          <a:pt x="0" y="125184"/>
                          <a:pt x="2672" y="129873"/>
                        </a:cubicBezTo>
                        <a:cubicBezTo>
                          <a:pt x="5344" y="134563"/>
                          <a:pt x="10304" y="137482"/>
                          <a:pt x="15701" y="137543"/>
                        </a:cubicBezTo>
                        <a:lnTo>
                          <a:pt x="144400" y="137543"/>
                        </a:lnTo>
                        <a:cubicBezTo>
                          <a:pt x="149795" y="137481"/>
                          <a:pt x="154752" y="134562"/>
                          <a:pt x="157423" y="129875"/>
                        </a:cubicBezTo>
                        <a:cubicBezTo>
                          <a:pt x="160095" y="125188"/>
                          <a:pt x="160081" y="119436"/>
                          <a:pt x="157386" y="114762"/>
                        </a:cubicBezTo>
                        <a:lnTo>
                          <a:pt x="93044" y="7320"/>
                        </a:lnTo>
                        <a:cubicBezTo>
                          <a:pt x="90291" y="2776"/>
                          <a:pt x="85364" y="0"/>
                          <a:pt x="80051" y="0"/>
                        </a:cubicBezTo>
                        <a:cubicBezTo>
                          <a:pt x="74737" y="0"/>
                          <a:pt x="69810" y="2776"/>
                          <a:pt x="67057" y="7320"/>
                        </a:cubicBezTo>
                      </a:path>
                    </a:pathLst>
                  </a:custGeom>
                  <a:noFill/>
                  <a:ln w="19050">
                    <a:solidFill>
                      <a:srgbClr val="E74C3C"/>
                    </a:solidFill>
                  </a:ln>
                  <a:effectLst>
                    <a:outerShdw blurRad="76200" dist="19050" dir="5400000" algn="ctr" rotWithShape="0">
                      <a:srgbClr val="000000">
                        <a:alpha val="4500"/>
                      </a:srgbClr>
                    </a:outerShdw>
                  </a:effectLst>
                </p:spPr>
              </p:sp>
              <p:sp>
                <p:nvSpPr>
                  <p:cNvPr id="106" name="Freeform 106"/>
                  <p:cNvSpPr/>
                  <p:nvPr/>
                </p:nvSpPr>
                <p:spPr>
                  <a:xfrm>
                    <a:off x="6762750" y="5727700"/>
                    <a:ext cx="9525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9525">
                        <a:moveTo>
                          <a:pt x="0" y="0"/>
                        </a:moveTo>
                        <a:lnTo>
                          <a:pt x="79" y="0"/>
                        </a:lnTo>
                      </a:path>
                    </a:pathLst>
                  </a:custGeom>
                  <a:noFill/>
                  <a:ln w="19050">
                    <a:solidFill>
                      <a:srgbClr val="E74C3C"/>
                    </a:solidFill>
                  </a:ln>
                  <a:effectLst>
                    <a:outerShdw blurRad="76200" dist="19050" dir="5400000" algn="ctr" rotWithShape="0">
                      <a:srgbClr val="000000">
                        <a:alpha val="4500"/>
                      </a:srgbClr>
                    </a:outerShdw>
                  </a:effectLst>
                </p:spPr>
              </p:sp>
            </p:grpSp>
            <p:sp>
              <p:nvSpPr>
                <p:cNvPr id="108" name="TextBox 108"/>
                <p:cNvSpPr txBox="1"/>
                <p:nvPr/>
              </p:nvSpPr>
              <p:spPr>
                <a:xfrm>
                  <a:off x="6919912" y="5593556"/>
                  <a:ext cx="816173" cy="22860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b="1" dirty="0">
                      <a:solidFill>
                        <a:srgbClr val="E74C3C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高风险告警</a:t>
                  </a:r>
                  <a:endParaRPr lang="zh-CN" sz="1125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109" name="TextBox 109"/>
                <p:cNvSpPr txBox="1"/>
                <p:nvPr/>
              </p:nvSpPr>
              <p:spPr>
                <a:xfrm>
                  <a:off x="8178165" y="5601652"/>
                  <a:ext cx="1888903" cy="21336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7F8C8D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触发条件：RPN &gt; 500 或 S ≥ 9</a:t>
                  </a:r>
                  <a:endParaRPr lang="zh-CN" sz="105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</p:grpSp>
        <p:sp>
          <p:nvSpPr>
            <p:cNvPr id="112" name="TextBox 112"/>
            <p:cNvSpPr txBox="1"/>
            <p:nvPr/>
          </p:nvSpPr>
          <p:spPr>
            <a:xfrm>
              <a:off x="558165" y="6173152"/>
              <a:ext cx="57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这是 FMEA 工业工程方法论首次与 LLM 因果推理结合 —— 每条因果边都携带可量化的风险指标</a:t>
              </a:r>
              <a:endParaRPr lang="zh-CN" sz="1050" i="1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560070" y="6522720"/>
            <a:ext cx="11071860" cy="182880"/>
            <a:chOff x="560070" y="6522720"/>
            <a:chExt cx="11071860" cy="182880"/>
          </a:xfrm>
        </p:grpSpPr>
        <p:sp>
          <p:nvSpPr>
            <p:cNvPr id="114" name="TextBox 114"/>
            <p:cNvSpPr txBox="1"/>
            <p:nvPr/>
          </p:nvSpPr>
          <p:spPr>
            <a:xfrm>
              <a:off x="560070" y="652272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08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954988" y="6522720"/>
              <a:ext cx="6769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EdgeThemis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63" grpId="0"/>
      <p:bldP spid="78" grpId="0"/>
      <p:bldP spid="1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362902"/>
            <a:ext cx="11049000" cy="637223"/>
            <a:chOff x="571500" y="362902"/>
            <a:chExt cx="11049000" cy="637223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362902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自反思纠错闭环</a:t>
              </a:r>
              <a:endParaRPr lang="zh-CN" sz="255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080510" y="508635"/>
              <a:ext cx="24547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：LLM 自动修正因果图的迭代流程</a:t>
              </a:r>
              <a:endParaRPr lang="zh-CN" sz="12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29615" y="743902"/>
              <a:ext cx="37091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Self-Reflection Loop: Automated Iterative Correction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990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5619750" y="133350"/>
            <a:ext cx="6572250" cy="433388"/>
            <a:chOff x="5619750" y="133350"/>
            <a:chExt cx="6572250" cy="433388"/>
          </a:xfrm>
        </p:grpSpPr>
        <p:sp>
          <p:nvSpPr>
            <p:cNvPr id="9" name="Rectangle 9"/>
            <p:cNvSpPr/>
            <p:nvPr/>
          </p:nvSpPr>
          <p:spPr>
            <a:xfrm>
              <a:off x="5619750" y="133350"/>
              <a:ext cx="6096000" cy="400050"/>
            </a:xfrm>
            <a:prstGeom prst="roundRect">
              <a:avLst>
                <a:gd name="adj" fmla="val 1428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848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11322" y="438626"/>
              <a:ext cx="188357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Ellipse 12"/>
            <p:cNvSpPr/>
            <p:nvPr/>
          </p:nvSpPr>
          <p:spPr>
            <a:xfrm>
              <a:off x="6610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487561" y="438626"/>
              <a:ext cx="359878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Generator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72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67063" y="438626"/>
              <a:ext cx="32487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Interning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Ellipse 16"/>
            <p:cNvSpPr/>
            <p:nvPr/>
          </p:nvSpPr>
          <p:spPr>
            <a:xfrm>
              <a:off x="818197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57436" y="438626"/>
              <a:ext cx="363379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Kahn Cycle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Ellipse 18"/>
            <p:cNvSpPr/>
            <p:nvPr/>
          </p:nvSpPr>
          <p:spPr>
            <a:xfrm>
              <a:off x="903922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67430" y="438626"/>
              <a:ext cx="457891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d-Separation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Ellipse 20"/>
            <p:cNvSpPr/>
            <p:nvPr/>
          </p:nvSpPr>
          <p:spPr>
            <a:xfrm>
              <a:off x="9848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47063" y="438626"/>
              <a:ext cx="317873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FMEA RPN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Ellipse 22"/>
            <p:cNvSpPr/>
            <p:nvPr/>
          </p:nvSpPr>
          <p:spPr>
            <a:xfrm>
              <a:off x="10572750" y="171450"/>
              <a:ext cx="190500" cy="190500"/>
            </a:xfrm>
            <a:prstGeom prst="ellipse">
              <a:avLst/>
            </a:prstGeom>
            <a:solidFill>
              <a:srgbClr val="E8B93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411694" y="414338"/>
              <a:ext cx="5126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E8B93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Reflector</a:t>
              </a:r>
              <a:endParaRPr lang="zh-CN" sz="750" b="1" dirty="0">
                <a:solidFill>
                  <a:srgbClr val="E8B93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Ellipse 24"/>
            <p:cNvSpPr/>
            <p:nvPr/>
          </p:nvSpPr>
          <p:spPr>
            <a:xfrm>
              <a:off x="1132522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253192" y="438626"/>
              <a:ext cx="25836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Output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6000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6762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7524750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334375" y="2667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191625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00012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0763250" y="26670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1620500" y="180975"/>
              <a:ext cx="571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D5D8DC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1687175" y="238125"/>
              <a:ext cx="57150" cy="57150"/>
            </a:xfrm>
            <a:prstGeom prst="ellipse">
              <a:avLst/>
            </a:prstGeom>
            <a:solidFill>
              <a:srgbClr val="E8B93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785282" y="238601"/>
              <a:ext cx="24436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Ellipse 36"/>
            <p:cNvSpPr/>
            <p:nvPr/>
          </p:nvSpPr>
          <p:spPr>
            <a:xfrm>
              <a:off x="11687175" y="352425"/>
              <a:ext cx="57150" cy="57150"/>
            </a:xfrm>
            <a:prstGeom prst="ellipse">
              <a:avLst/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785282" y="352901"/>
              <a:ext cx="16735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714500" y="1733550"/>
            <a:ext cx="3695700" cy="3867150"/>
            <a:chOff x="1714500" y="1733550"/>
            <a:chExt cx="3695700" cy="3867150"/>
          </a:xfrm>
        </p:grpSpPr>
        <p:sp>
          <p:nvSpPr>
            <p:cNvPr id="39" name="Ellipse 39"/>
            <p:cNvSpPr/>
            <p:nvPr/>
          </p:nvSpPr>
          <p:spPr>
            <a:xfrm>
              <a:off x="1714500" y="2095500"/>
              <a:ext cx="3238500" cy="3238500"/>
            </a:xfrm>
            <a:prstGeom prst="ellipse">
              <a:avLst/>
            </a:prstGeom>
            <a:noFill/>
            <a:ln w="14288">
              <a:solidFill>
                <a:srgbClr val="E8E8E8"/>
              </a:solidFill>
              <a:custDash>
                <a:ds d="400000" sp="266666"/>
              </a:custDash>
            </a:ln>
          </p:spPr>
        </p:sp>
        <p:sp>
          <p:nvSpPr>
            <p:cNvPr id="40" name="Ellipse 40"/>
            <p:cNvSpPr/>
            <p:nvPr/>
          </p:nvSpPr>
          <p:spPr>
            <a:xfrm>
              <a:off x="2286000" y="2667000"/>
              <a:ext cx="2095500" cy="2095500"/>
            </a:xfrm>
            <a:prstGeom prst="ellipse">
              <a:avLst/>
            </a:prstGeom>
            <a:noFill/>
            <a:ln w="9525">
              <a:solidFill>
                <a:srgbClr val="E8E8E8"/>
              </a:solidFill>
              <a:prstDash val="dash"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789634" y="34575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Reflection</a:t>
              </a:r>
              <a:endParaRPr lang="zh-CN" sz="15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921568" y="3752374"/>
              <a:ext cx="8243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最多 5 轮熔断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Freeform 43"/>
            <p:cNvSpPr/>
            <p:nvPr/>
          </p:nvSpPr>
          <p:spPr>
            <a:xfrm>
              <a:off x="3905250" y="2286000"/>
              <a:ext cx="952500" cy="1047750"/>
            </a:xfrm>
            <a:custGeom>
              <a:avLst/>
              <a:gdLst/>
              <a:ahLst/>
              <a:cxnLst/>
              <a:rect l="l" t="t" r="r" b="b"/>
              <a:pathLst>
                <a:path w="952500" h="1047750">
                  <a:moveTo>
                    <a:pt x="0" y="0"/>
                  </a:moveTo>
                  <a:cubicBezTo>
                    <a:pt x="571500" y="127000"/>
                    <a:pt x="889000" y="476250"/>
                    <a:pt x="952500" y="1047750"/>
                  </a:cubicBezTo>
                </a:path>
              </a:pathLst>
            </a:custGeom>
            <a:noFill/>
            <a:ln w="23812">
              <a:solidFill>
                <a:srgbClr val="2E86DE">
                  <a:alpha val="50000"/>
                </a:srgbClr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4838700" y="3276600"/>
              <a:ext cx="66675" cy="133350"/>
            </a:xfrm>
            <a:custGeom>
              <a:avLst/>
              <a:gdLst/>
              <a:ahLst/>
              <a:cxnLst/>
              <a:rect l="l" t="t" r="r" b="b"/>
              <a:pathLst>
                <a:path w="66675" h="133350">
                  <a:moveTo>
                    <a:pt x="66675" y="76200"/>
                  </a:moveTo>
                  <a:lnTo>
                    <a:pt x="0" y="0"/>
                  </a:lnTo>
                  <a:lnTo>
                    <a:pt x="38100" y="133350"/>
                  </a:lnTo>
                  <a:close/>
                </a:path>
              </a:pathLst>
            </a:custGeom>
            <a:solidFill>
              <a:srgbClr val="2E86DE">
                <a:alpha val="60000"/>
              </a:srgbClr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4095750" y="3905250"/>
              <a:ext cx="825500" cy="1238250"/>
            </a:xfrm>
            <a:custGeom>
              <a:avLst/>
              <a:gdLst/>
              <a:ahLst/>
              <a:cxnLst/>
              <a:rect l="l" t="t" r="r" b="b"/>
              <a:pathLst>
                <a:path w="825500" h="1238250">
                  <a:moveTo>
                    <a:pt x="762000" y="0"/>
                  </a:moveTo>
                  <a:cubicBezTo>
                    <a:pt x="825500" y="571500"/>
                    <a:pt x="571500" y="984250"/>
                    <a:pt x="0" y="1238250"/>
                  </a:cubicBezTo>
                </a:path>
              </a:pathLst>
            </a:custGeom>
            <a:noFill/>
            <a:ln w="23812">
              <a:solidFill>
                <a:srgbClr val="E74C3C">
                  <a:alpha val="50000"/>
                </a:srgbClr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4038600" y="5124450"/>
              <a:ext cx="133350" cy="66675"/>
            </a:xfrm>
            <a:custGeom>
              <a:avLst/>
              <a:gdLst/>
              <a:ahLst/>
              <a:cxnLst/>
              <a:rect l="l" t="t" r="r" b="b"/>
              <a:pathLst>
                <a:path w="133350" h="66675">
                  <a:moveTo>
                    <a:pt x="38100" y="66675"/>
                  </a:moveTo>
                  <a:lnTo>
                    <a:pt x="1333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4C3C">
                <a:alpha val="60000"/>
              </a:srgbClr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2381250" y="4857750"/>
              <a:ext cx="1238250" cy="508000"/>
            </a:xfrm>
            <a:custGeom>
              <a:avLst/>
              <a:gdLst/>
              <a:ahLst/>
              <a:cxnLst/>
              <a:rect l="l" t="t" r="r" b="b"/>
              <a:pathLst>
                <a:path w="1238250" h="508000">
                  <a:moveTo>
                    <a:pt x="1238250" y="381000"/>
                  </a:moveTo>
                  <a:cubicBezTo>
                    <a:pt x="730250" y="508000"/>
                    <a:pt x="317500" y="381000"/>
                    <a:pt x="0" y="0"/>
                  </a:cubicBezTo>
                </a:path>
              </a:pathLst>
            </a:custGeom>
            <a:noFill/>
            <a:ln w="23812">
              <a:solidFill>
                <a:srgbClr val="E8B931">
                  <a:alpha val="50000"/>
                </a:srgbClr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2286000" y="4819650"/>
              <a:ext cx="133350" cy="95250"/>
            </a:xfrm>
            <a:custGeom>
              <a:avLst/>
              <a:gdLst/>
              <a:ahLst/>
              <a:cxnLst/>
              <a:rect l="l" t="t" r="r" b="b"/>
              <a:pathLst>
                <a:path w="133350" h="95250">
                  <a:moveTo>
                    <a:pt x="66675" y="0"/>
                  </a:moveTo>
                  <a:lnTo>
                    <a:pt x="133350" y="952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E8B931">
                <a:alpha val="60000"/>
              </a:srgbClr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2095500" y="2381250"/>
              <a:ext cx="571500" cy="1809750"/>
            </a:xfrm>
            <a:custGeom>
              <a:avLst/>
              <a:gdLst/>
              <a:ahLst/>
              <a:cxnLst/>
              <a:rect l="l" t="t" r="r" b="b"/>
              <a:pathLst>
                <a:path w="571500" h="1809750">
                  <a:moveTo>
                    <a:pt x="190500" y="1809750"/>
                  </a:moveTo>
                  <a:cubicBezTo>
                    <a:pt x="0" y="1238250"/>
                    <a:pt x="127000" y="635000"/>
                    <a:pt x="571500" y="0"/>
                  </a:cubicBezTo>
                </a:path>
              </a:pathLst>
            </a:custGeom>
            <a:noFill/>
            <a:ln w="23812">
              <a:solidFill>
                <a:srgbClr val="27AE60">
                  <a:alpha val="50000"/>
                </a:srgbClr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2609850" y="2362200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133350" h="76200">
                  <a:moveTo>
                    <a:pt x="85725" y="0"/>
                  </a:moveTo>
                  <a:lnTo>
                    <a:pt x="0" y="76200"/>
                  </a:lnTo>
                  <a:lnTo>
                    <a:pt x="133350" y="76200"/>
                  </a:lnTo>
                  <a:close/>
                </a:path>
              </a:pathLst>
            </a:custGeom>
            <a:solidFill>
              <a:srgbClr val="27AE60">
                <a:alpha val="60000"/>
              </a:srgbClr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2876550" y="1733550"/>
              <a:ext cx="914400" cy="914400"/>
              <a:chOff x="2876550" y="1733550"/>
              <a:chExt cx="914400" cy="914400"/>
            </a:xfrm>
          </p:grpSpPr>
          <p:sp>
            <p:nvSpPr>
              <p:cNvPr id="51" name="Ellipse 51"/>
              <p:cNvSpPr/>
              <p:nvPr/>
            </p:nvSpPr>
            <p:spPr>
              <a:xfrm>
                <a:off x="2876550" y="1733550"/>
                <a:ext cx="914400" cy="914400"/>
              </a:xfrm>
              <a:prstGeom prst="ellipse">
                <a:avLst/>
              </a:prstGeom>
              <a:solidFill>
                <a:srgbClr val="2E86DE"/>
              </a:solidFill>
              <a:ln>
                <a:noFill/>
              </a:ln>
              <a:effectLst>
                <a:outerShdw blurRad="114300" dist="28575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3239555" y="2029778"/>
                <a:ext cx="1883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01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3058287" y="2236470"/>
                <a:ext cx="55092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85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Generate</a:t>
                </a:r>
                <a:endParaRPr lang="zh-CN" sz="900" dirty="0">
                  <a:solidFill>
                    <a:srgbClr val="FFFFFF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4495800" y="3162300"/>
              <a:ext cx="914400" cy="914400"/>
              <a:chOff x="4495800" y="3162300"/>
              <a:chExt cx="914400" cy="914400"/>
            </a:xfrm>
          </p:grpSpPr>
          <p:sp>
            <p:nvSpPr>
              <p:cNvPr id="55" name="Ellipse 55"/>
              <p:cNvSpPr/>
              <p:nvPr/>
            </p:nvSpPr>
            <p:spPr>
              <a:xfrm>
                <a:off x="4495800" y="3162300"/>
                <a:ext cx="914400" cy="914400"/>
              </a:xfrm>
              <a:prstGeom prst="ellipse">
                <a:avLst/>
              </a:prstGeom>
              <a:solidFill>
                <a:srgbClr val="E74C3C"/>
              </a:solidFill>
              <a:ln>
                <a:noFill/>
              </a:ln>
              <a:effectLst>
                <a:outerShdw blurRad="114300" dist="28575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4858805" y="3458528"/>
                <a:ext cx="1883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02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4707541" y="3665220"/>
                <a:ext cx="49091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85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Validate</a:t>
                </a:r>
                <a:endParaRPr lang="zh-CN" sz="900" dirty="0">
                  <a:solidFill>
                    <a:srgbClr val="FFFFFF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3162300" y="4686300"/>
              <a:ext cx="914400" cy="914400"/>
              <a:chOff x="3162300" y="4686300"/>
              <a:chExt cx="914400" cy="914400"/>
            </a:xfrm>
          </p:grpSpPr>
          <p:sp>
            <p:nvSpPr>
              <p:cNvPr id="59" name="Ellipse 59"/>
              <p:cNvSpPr/>
              <p:nvPr/>
            </p:nvSpPr>
            <p:spPr>
              <a:xfrm>
                <a:off x="3162300" y="4686300"/>
                <a:ext cx="914400" cy="914400"/>
              </a:xfrm>
              <a:prstGeom prst="ellipse">
                <a:avLst/>
              </a:prstGeom>
              <a:solidFill>
                <a:srgbClr val="E8B931"/>
              </a:solidFill>
              <a:ln>
                <a:noFill/>
              </a:ln>
              <a:effectLst>
                <a:outerShdw blurRad="114300" dist="28575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3525305" y="4982528"/>
                <a:ext cx="1883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03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3326035" y="5189220"/>
                <a:ext cx="58693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85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Intercept</a:t>
                </a:r>
                <a:endParaRPr lang="zh-CN" sz="900" dirty="0">
                  <a:solidFill>
                    <a:srgbClr val="FFFFFF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1733550" y="3638550"/>
              <a:ext cx="914400" cy="914400"/>
              <a:chOff x="1733550" y="3638550"/>
              <a:chExt cx="914400" cy="914400"/>
            </a:xfrm>
          </p:grpSpPr>
          <p:sp>
            <p:nvSpPr>
              <p:cNvPr id="63" name="Ellipse 63"/>
              <p:cNvSpPr/>
              <p:nvPr/>
            </p:nvSpPr>
            <p:spPr>
              <a:xfrm>
                <a:off x="1733550" y="3638550"/>
                <a:ext cx="914400" cy="914400"/>
              </a:xfrm>
              <a:prstGeom prst="ellipse">
                <a:avLst/>
              </a:prstGeom>
              <a:solidFill>
                <a:srgbClr val="27AE60"/>
              </a:solidFill>
              <a:ln>
                <a:noFill/>
              </a:ln>
              <a:effectLst>
                <a:outerShdw blurRad="114300" dist="28575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2096555" y="3934778"/>
                <a:ext cx="1883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04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2014299" y="4141470"/>
                <a:ext cx="35290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85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Retry</a:t>
                </a:r>
                <a:endParaRPr lang="zh-CN" sz="900" dirty="0">
                  <a:solidFill>
                    <a:srgbClr val="FFFFFF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95" name="Group 95"/>
          <p:cNvGrpSpPr/>
          <p:nvPr/>
        </p:nvGrpSpPr>
        <p:grpSpPr>
          <a:xfrm>
            <a:off x="6096000" y="1238250"/>
            <a:ext cx="5524500" cy="4381500"/>
            <a:chOff x="6096000" y="1238250"/>
            <a:chExt cx="5524500" cy="4381500"/>
          </a:xfrm>
        </p:grpSpPr>
        <p:grpSp>
          <p:nvGrpSpPr>
            <p:cNvPr id="76" name="Group 76"/>
            <p:cNvGrpSpPr/>
            <p:nvPr/>
          </p:nvGrpSpPr>
          <p:grpSpPr>
            <a:xfrm>
              <a:off x="6096000" y="1238250"/>
              <a:ext cx="5524500" cy="1333500"/>
              <a:chOff x="6096000" y="1238250"/>
              <a:chExt cx="5524500" cy="1333500"/>
            </a:xfrm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grpSpPr>
          <p:sp>
            <p:nvSpPr>
              <p:cNvPr id="68" name="Rectangle 68"/>
              <p:cNvSpPr/>
              <p:nvPr/>
            </p:nvSpPr>
            <p:spPr>
              <a:xfrm>
                <a:off x="6096000" y="1238250"/>
                <a:ext cx="5524500" cy="13335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6096000" y="1238250"/>
                <a:ext cx="57150" cy="1333500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6286500" y="1381125"/>
                <a:ext cx="7620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6409387" y="1456849"/>
                <a:ext cx="516226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Round 1</a:t>
                </a:r>
                <a:endPara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7224712" y="1440656"/>
                <a:ext cx="2044827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LLM 提取 → Rust 检测到环路</a:t>
                </a:r>
                <a:endParaRPr lang="zh-CN" sz="112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6273165" y="1744028"/>
                <a:ext cx="1965912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提取结果：A→B→C→A（含循环）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6273165" y="1982152"/>
                <a:ext cx="2722007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Rust Kahn 检测：发现</a:t>
                </a:r>
                <a:r>
                  <a:rPr lang="zh-CN" sz="10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环路</a:t>
                </a:r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，违反 DAG 约束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6274118" y="2256949"/>
                <a:ext cx="1623965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→ 拦截报告反馈 LLM 生成器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6096000" y="2762250"/>
              <a:ext cx="5524500" cy="1333500"/>
              <a:chOff x="6096000" y="2762250"/>
              <a:chExt cx="5524500" cy="1333500"/>
            </a:xfrm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grpSpPr>
          <p:sp>
            <p:nvSpPr>
              <p:cNvPr id="77" name="Rectangle 77"/>
              <p:cNvSpPr/>
              <p:nvPr/>
            </p:nvSpPr>
            <p:spPr>
              <a:xfrm>
                <a:off x="6096000" y="2762250"/>
                <a:ext cx="5524500" cy="13335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6096000" y="2762250"/>
                <a:ext cx="57150" cy="1333500"/>
              </a:xfrm>
              <a:prstGeom prst="roundRect">
                <a:avLst>
                  <a:gd name="adj" fmla="val 50000"/>
                </a:avLst>
              </a:prstGeom>
              <a:solidFill>
                <a:srgbClr val="E8B931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79" name="Rectangle 79"/>
              <p:cNvSpPr/>
              <p:nvPr/>
            </p:nvSpPr>
            <p:spPr>
              <a:xfrm>
                <a:off x="6286500" y="2905125"/>
                <a:ext cx="7620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8B931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6409387" y="2980849"/>
                <a:ext cx="516226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Round 2</a:t>
                </a:r>
                <a:endPara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7224712" y="2964656"/>
                <a:ext cx="2659154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LLM 修正 → 环路消除，但 d-分离违反</a:t>
                </a:r>
                <a:endParaRPr lang="zh-CN" sz="112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6273165" y="3268028"/>
                <a:ext cx="1839897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环路已消除，DAG 合法性通过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6273165" y="3506152"/>
                <a:ext cx="3450098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Bayesian Ball 检测：X 和 Y 应</a:t>
                </a:r>
                <a:r>
                  <a:rPr lang="zh-CN" sz="1050" b="1" dirty="0">
                    <a:solidFill>
                      <a:srgbClr val="E8B93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条件独立</a:t>
                </a:r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但存在活跃路径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6274118" y="37809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→ 拦截报告再次反馈 LLM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6096000" y="4286250"/>
              <a:ext cx="5524500" cy="1333500"/>
              <a:chOff x="6096000" y="4286250"/>
              <a:chExt cx="5524500" cy="1333500"/>
            </a:xfrm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grpSpPr>
          <p:sp>
            <p:nvSpPr>
              <p:cNvPr id="86" name="Rectangle 86"/>
              <p:cNvSpPr/>
              <p:nvPr/>
            </p:nvSpPr>
            <p:spPr>
              <a:xfrm>
                <a:off x="6096000" y="4286250"/>
                <a:ext cx="5524500" cy="13335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87" name="Rectangle 87"/>
              <p:cNvSpPr/>
              <p:nvPr/>
            </p:nvSpPr>
            <p:spPr>
              <a:xfrm>
                <a:off x="6096000" y="4286250"/>
                <a:ext cx="57150" cy="1333500"/>
              </a:xfrm>
              <a:prstGeom prst="roundRect">
                <a:avLst>
                  <a:gd name="adj" fmla="val 50000"/>
                </a:avLst>
              </a:prstGeom>
              <a:solidFill>
                <a:srgbClr val="27AE60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88" name="Rectangle 88"/>
              <p:cNvSpPr/>
              <p:nvPr/>
            </p:nvSpPr>
            <p:spPr>
              <a:xfrm>
                <a:off x="6286500" y="4429125"/>
                <a:ext cx="7620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27AE60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6409387" y="4504849"/>
                <a:ext cx="516226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Round 3</a:t>
                </a:r>
                <a:endPara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7224712" y="4488656"/>
                <a:ext cx="2123587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LLM 再次修正 → 全部验证通过</a:t>
                </a:r>
                <a:endParaRPr lang="zh-CN" sz="112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6273165" y="4792028"/>
                <a:ext cx="1398842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DAG 合法性：</a:t>
                </a:r>
                <a:r>
                  <a:rPr lang="zh-CN" sz="1050" b="1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✓ 无环路</a:t>
                </a:r>
                <a:endParaRPr lang="zh-CN" sz="105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6273165" y="5030152"/>
                <a:ext cx="2259949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d-分离一致性：</a:t>
                </a:r>
                <a:r>
                  <a:rPr lang="zh-CN" sz="1050" b="1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✓ 条件独立关系正确</a:t>
                </a:r>
                <a:endParaRPr lang="zh-CN" sz="105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6273165" y="5296852"/>
                <a:ext cx="1734884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FMEA RPN：</a:t>
                </a:r>
                <a:r>
                  <a:rPr lang="zh-CN" sz="1050" b="1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✓ 风险标注完成</a:t>
                </a:r>
                <a:endParaRPr lang="zh-CN" sz="105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01" name="Group 101"/>
          <p:cNvGrpSpPr/>
          <p:nvPr/>
        </p:nvGrpSpPr>
        <p:grpSpPr>
          <a:xfrm>
            <a:off x="571500" y="6000750"/>
            <a:ext cx="4762500" cy="381000"/>
            <a:chOff x="571500" y="6000750"/>
            <a:chExt cx="4762500" cy="381000"/>
          </a:xfrm>
        </p:grpSpPr>
        <p:sp>
          <p:nvSpPr>
            <p:cNvPr id="96" name="Rectangle 96"/>
            <p:cNvSpPr/>
            <p:nvPr/>
          </p:nvSpPr>
          <p:spPr>
            <a:xfrm>
              <a:off x="571500" y="6000750"/>
              <a:ext cx="4762500" cy="381000"/>
            </a:xfrm>
            <a:prstGeom prst="roundRect">
              <a:avLst>
                <a:gd name="adj" fmla="val 20000"/>
              </a:avLst>
            </a:prstGeom>
            <a:solidFill>
              <a:srgbClr val="1A3C6E">
                <a:alpha val="8000"/>
              </a:srgbClr>
            </a:solidFill>
            <a:ln>
              <a:noFill/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730096" y="6105525"/>
              <a:ext cx="186006" cy="171450"/>
              <a:chOff x="730096" y="6105525"/>
              <a:chExt cx="186006" cy="171450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730096" y="6105525"/>
                <a:ext cx="186006" cy="169983"/>
              </a:xfrm>
              <a:custGeom>
                <a:avLst/>
                <a:gdLst/>
                <a:ahLst/>
                <a:cxnLst/>
                <a:rect l="l" t="t" r="r" b="b"/>
                <a:pathLst>
                  <a:path w="186006" h="169983">
                    <a:moveTo>
                      <a:pt x="93436" y="169983"/>
                    </a:moveTo>
                    <a:cubicBezTo>
                      <a:pt x="33766" y="151487"/>
                      <a:pt x="0" y="88510"/>
                      <a:pt x="17617" y="28575"/>
                    </a:cubicBezTo>
                    <a:cubicBezTo>
                      <a:pt x="47292" y="29933"/>
                      <a:pt x="76331" y="19684"/>
                      <a:pt x="98579" y="0"/>
                    </a:cubicBezTo>
                    <a:cubicBezTo>
                      <a:pt x="120828" y="19684"/>
                      <a:pt x="149867" y="29933"/>
                      <a:pt x="179542" y="28575"/>
                    </a:cubicBezTo>
                    <a:cubicBezTo>
                      <a:pt x="186006" y="50569"/>
                      <a:pt x="185708" y="73999"/>
                      <a:pt x="178685" y="95821"/>
                    </a:cubicBez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857250" y="62388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1034415" y="6125528"/>
              <a:ext cx="24010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熔断机制：最多 5 轮，防止无限循环</a:t>
              </a:r>
              <a:endParaRPr lang="zh-CN" sz="1050" b="1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560070" y="6522720"/>
            <a:ext cx="11071860" cy="182880"/>
            <a:chOff x="560070" y="6522720"/>
            <a:chExt cx="11071860" cy="182880"/>
          </a:xfrm>
        </p:grpSpPr>
        <p:sp>
          <p:nvSpPr>
            <p:cNvPr id="102" name="TextBox 102"/>
            <p:cNvSpPr txBox="1"/>
            <p:nvPr/>
          </p:nvSpPr>
          <p:spPr>
            <a:xfrm>
              <a:off x="560070" y="652272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09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0954988" y="6522720"/>
              <a:ext cx="6769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EdgeThemis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67" grpId="0"/>
      <p:bldP spid="95" grpId="0"/>
      <p:bldP spid="10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346710"/>
            <a:ext cx="11049000" cy="691515"/>
            <a:chOff x="571500" y="346710"/>
            <a:chExt cx="11049000" cy="69151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8660" y="346710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实验配置</a:t>
              </a:r>
              <a:endParaRPr lang="zh-CN" sz="27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935605" y="492442"/>
              <a:ext cx="261761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：Qwen 2.5-3B + 三组消融对比</a:t>
              </a:r>
              <a:endParaRPr lang="zh-CN" sz="13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28662" y="754856"/>
              <a:ext cx="1431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Experimental Setup</a:t>
              </a:r>
              <a:endParaRPr lang="zh-CN" sz="11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0287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5619750" y="133350"/>
            <a:ext cx="6572250" cy="433388"/>
            <a:chOff x="5619750" y="133350"/>
            <a:chExt cx="6572250" cy="433388"/>
          </a:xfrm>
        </p:grpSpPr>
        <p:sp>
          <p:nvSpPr>
            <p:cNvPr id="9" name="Rectangle 9"/>
            <p:cNvSpPr/>
            <p:nvPr/>
          </p:nvSpPr>
          <p:spPr>
            <a:xfrm>
              <a:off x="5619750" y="133350"/>
              <a:ext cx="6096000" cy="400050"/>
            </a:xfrm>
            <a:prstGeom prst="roundRect">
              <a:avLst>
                <a:gd name="adj" fmla="val 1428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848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11322" y="438626"/>
              <a:ext cx="188357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Ellipse 12"/>
            <p:cNvSpPr/>
            <p:nvPr/>
          </p:nvSpPr>
          <p:spPr>
            <a:xfrm>
              <a:off x="6610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487561" y="438626"/>
              <a:ext cx="359878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Generator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72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67063" y="438626"/>
              <a:ext cx="32487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Interning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Ellipse 16"/>
            <p:cNvSpPr/>
            <p:nvPr/>
          </p:nvSpPr>
          <p:spPr>
            <a:xfrm>
              <a:off x="818197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57436" y="438626"/>
              <a:ext cx="363379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Kahn Cycle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Ellipse 18"/>
            <p:cNvSpPr/>
            <p:nvPr/>
          </p:nvSpPr>
          <p:spPr>
            <a:xfrm>
              <a:off x="903922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67430" y="438626"/>
              <a:ext cx="457891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d-Separation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Ellipse 20"/>
            <p:cNvSpPr/>
            <p:nvPr/>
          </p:nvSpPr>
          <p:spPr>
            <a:xfrm>
              <a:off x="9848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47063" y="438626"/>
              <a:ext cx="317873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FMEA RPN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Ellipse 22"/>
            <p:cNvSpPr/>
            <p:nvPr/>
          </p:nvSpPr>
          <p:spPr>
            <a:xfrm>
              <a:off x="10610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496812" y="438626"/>
              <a:ext cx="34237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Reflector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Ellipse 24"/>
            <p:cNvSpPr/>
            <p:nvPr/>
          </p:nvSpPr>
          <p:spPr>
            <a:xfrm>
              <a:off x="11287125" y="171450"/>
              <a:ext cx="190500" cy="190500"/>
            </a:xfrm>
            <a:prstGeom prst="ellipse">
              <a:avLst/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189077" y="414338"/>
              <a:ext cx="38659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Output</a:t>
              </a:r>
              <a:endParaRPr lang="zh-CN" sz="75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6000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6762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7524750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334375" y="2667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191625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00012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0763250" y="26670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1620500" y="180975"/>
              <a:ext cx="571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D5D8DC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1687175" y="238125"/>
              <a:ext cx="57150" cy="57150"/>
            </a:xfrm>
            <a:prstGeom prst="ellipse">
              <a:avLst/>
            </a:prstGeom>
            <a:solidFill>
              <a:srgbClr val="E8B93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785282" y="238601"/>
              <a:ext cx="24436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Ellipse 36"/>
            <p:cNvSpPr/>
            <p:nvPr/>
          </p:nvSpPr>
          <p:spPr>
            <a:xfrm>
              <a:off x="11687175" y="352425"/>
              <a:ext cx="57150" cy="57150"/>
            </a:xfrm>
            <a:prstGeom prst="ellipse">
              <a:avLst/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785282" y="352901"/>
              <a:ext cx="16735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71500" y="1238250"/>
            <a:ext cx="11049000" cy="4762500"/>
            <a:chOff x="571500" y="1238250"/>
            <a:chExt cx="11049000" cy="4762500"/>
          </a:xfrm>
        </p:grpSpPr>
        <p:grpSp>
          <p:nvGrpSpPr>
            <p:cNvPr id="44" name="Group 44"/>
            <p:cNvGrpSpPr/>
            <p:nvPr/>
          </p:nvGrpSpPr>
          <p:grpSpPr>
            <a:xfrm>
              <a:off x="571500" y="1238250"/>
              <a:ext cx="11049000" cy="619125"/>
              <a:chOff x="571500" y="1238250"/>
              <a:chExt cx="11049000" cy="619125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571500" y="1238250"/>
                <a:ext cx="26670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1A3C6E">
                  <a:alpha val="8000"/>
                </a:srgbClr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541116" y="1470660"/>
                <a:ext cx="72776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3C6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LLM 模型</a:t>
                </a:r>
                <a:endParaRPr lang="zh-CN" sz="120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3429000" y="1238250"/>
                <a:ext cx="81915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F5F7FA"/>
              </a:solidFill>
              <a:ln w="9525">
                <a:solidFill>
                  <a:srgbClr val="D5D8DC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854619" y="1362075"/>
                <a:ext cx="1340263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C3E50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Qwen 2.5-3B</a:t>
                </a:r>
                <a:endParaRPr lang="zh-CN" sz="1500" b="1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943546" y="1628299"/>
                <a:ext cx="116240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Q4 量化 · 本地部署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571500" y="1952625"/>
              <a:ext cx="11049000" cy="619125"/>
              <a:chOff x="571500" y="1952625"/>
              <a:chExt cx="11049000" cy="619125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571500" y="1952625"/>
                <a:ext cx="26670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1A3C6E">
                  <a:alpha val="8000"/>
                </a:srgbClr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553718" y="2185035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3C6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推理框架</a:t>
                </a:r>
                <a:endParaRPr lang="zh-CN" sz="120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3429000" y="1952625"/>
                <a:ext cx="81915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FFFFFF"/>
              </a:solidFill>
              <a:ln w="9525">
                <a:solidFill>
                  <a:srgbClr val="D5D8DC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6912181" y="2092642"/>
                <a:ext cx="122513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C3E50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llama-server</a:t>
                </a:r>
                <a:endParaRPr lang="zh-CN" sz="1350" b="1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273963" y="2342674"/>
                <a:ext cx="25015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OpenAI-compatible API · localhost:8080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571500" y="2667000"/>
              <a:ext cx="11049000" cy="619125"/>
              <a:chOff x="571500" y="2667000"/>
              <a:chExt cx="11049000" cy="619125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571500" y="2667000"/>
                <a:ext cx="26670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1A3C6E">
                  <a:alpha val="8000"/>
                </a:srgbClr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469708" y="2899410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3C6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上下文窗口</a:t>
                </a:r>
                <a:endParaRPr lang="zh-CN" sz="120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3429000" y="2667000"/>
                <a:ext cx="81915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F5F7FA"/>
              </a:solidFill>
              <a:ln w="9525">
                <a:solidFill>
                  <a:srgbClr val="D5D8DC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6896624" y="2867025"/>
                <a:ext cx="12562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C3E50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4096 tokens</a:t>
                </a:r>
                <a:endParaRPr lang="zh-CN" sz="1500" b="1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571500" y="3381375"/>
              <a:ext cx="11049000" cy="619125"/>
              <a:chOff x="571500" y="3381375"/>
              <a:chExt cx="11049000" cy="619125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571500" y="3381375"/>
                <a:ext cx="26670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1A3C6E">
                  <a:alpha val="8000"/>
                </a:srgbClr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1494911" y="3613785"/>
                <a:ext cx="82017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3C6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JSON 约束</a:t>
                </a:r>
                <a:endParaRPr lang="zh-CN" sz="120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3429000" y="3381375"/>
                <a:ext cx="81915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FFFFFF"/>
              </a:solidFill>
              <a:ln w="9525">
                <a:solidFill>
                  <a:srgbClr val="D5D8DC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5526862" y="3537585"/>
                <a:ext cx="399577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C3E50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Pydantic schema → json_schema response format</a:t>
                </a:r>
                <a:endParaRPr lang="zh-CN" sz="1200" b="1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5877413" y="3771424"/>
                <a:ext cx="32946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强制 LLM 输出符合 CausalEdge / ExtractedGraph 结构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571500" y="4095750"/>
              <a:ext cx="11049000" cy="619125"/>
              <a:chOff x="571500" y="4095750"/>
              <a:chExt cx="11049000" cy="619125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571500" y="4095750"/>
                <a:ext cx="26670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1A3C6E">
                  <a:alpha val="8000"/>
                </a:srgbClr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1553718" y="43281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3C6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测试场景</a:t>
                </a:r>
                <a:endParaRPr lang="zh-CN" sz="120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4" name="Rectangle 64"/>
              <p:cNvSpPr/>
              <p:nvPr/>
            </p:nvSpPr>
            <p:spPr>
              <a:xfrm>
                <a:off x="3429000" y="4095750"/>
                <a:ext cx="81915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F5F7FA"/>
              </a:solidFill>
              <a:ln w="9525">
                <a:solidFill>
                  <a:srgbClr val="D5D8DC"/>
                </a:solidFill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6264775" y="4235768"/>
                <a:ext cx="251995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医院感染链路 · 工业故障传播</a:t>
                </a:r>
                <a:endParaRPr lang="zh-CN" sz="13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6277213" y="4485799"/>
                <a:ext cx="24950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真实领域场景，含复杂因果关系和多层依赖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571500" y="4857750"/>
              <a:ext cx="11049000" cy="1143000"/>
              <a:chOff x="571500" y="4857750"/>
              <a:chExt cx="11049000" cy="114300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571500" y="4857750"/>
                <a:ext cx="266700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1A3C6E">
                  <a:alpha val="8000"/>
                </a:srgbClr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1553718" y="52044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3C6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对比配置</a:t>
                </a:r>
                <a:endParaRPr lang="zh-CN" sz="1200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0" name="Rectangle 70"/>
              <p:cNvSpPr/>
              <p:nvPr/>
            </p:nvSpPr>
            <p:spPr>
              <a:xfrm>
                <a:off x="3429000" y="4857750"/>
                <a:ext cx="257175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E74C3C">
                  <a:alpha val="8000"/>
                </a:srgbClr>
              </a:solidFill>
              <a:ln w="14288">
                <a:solidFill>
                  <a:srgbClr val="E74C3C"/>
                </a:solidFill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4393424" y="5069681"/>
                <a:ext cx="64290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Config A</a:t>
                </a:r>
                <a:endParaRPr lang="zh-CN" sz="11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4481012" y="5315902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纯 LLM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4232386" y="5541645"/>
                <a:ext cx="96497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无验证 · 无 FMEA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4" name="Rectangle 74"/>
              <p:cNvSpPr/>
              <p:nvPr/>
            </p:nvSpPr>
            <p:spPr>
              <a:xfrm>
                <a:off x="6191250" y="4857750"/>
                <a:ext cx="257175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E8B931">
                  <a:alpha val="8000"/>
                </a:srgbClr>
              </a:solidFill>
              <a:ln w="14288">
                <a:solidFill>
                  <a:srgbClr val="E8B931"/>
                </a:solidFill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7155674" y="5069681"/>
                <a:ext cx="64290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E8B93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Config B</a:t>
                </a:r>
                <a:endParaRPr lang="zh-CN" sz="1125" b="1" dirty="0">
                  <a:solidFill>
                    <a:srgbClr val="E8B93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6763702" y="53159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+ Schema + Rust 验证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6757606" y="5541645"/>
                <a:ext cx="143903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环路检测 + d-分离 + FMEA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8953500" y="4857750"/>
                <a:ext cx="266700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27AE60">
                  <a:alpha val="8000"/>
                </a:srgbClr>
              </a:solidFill>
              <a:ln w="14288">
                <a:solidFill>
                  <a:srgbClr val="27AE60"/>
                </a:solidFill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9965549" y="5069681"/>
                <a:ext cx="64290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Config C</a:t>
                </a:r>
                <a:endParaRPr lang="zh-CN" sz="1125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9703094" y="5315902"/>
                <a:ext cx="116781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+ Reflection 闭环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9810512" y="5541645"/>
                <a:ext cx="95297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完整 EdgeThemis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86" name="Group 86"/>
          <p:cNvGrpSpPr/>
          <p:nvPr/>
        </p:nvGrpSpPr>
        <p:grpSpPr>
          <a:xfrm>
            <a:off x="560070" y="6522720"/>
            <a:ext cx="11071860" cy="182880"/>
            <a:chOff x="560070" y="6522720"/>
            <a:chExt cx="11071860" cy="182880"/>
          </a:xfrm>
        </p:grpSpPr>
        <p:sp>
          <p:nvSpPr>
            <p:cNvPr id="84" name="TextBox 84"/>
            <p:cNvSpPr txBox="1"/>
            <p:nvPr/>
          </p:nvSpPr>
          <p:spPr>
            <a:xfrm>
              <a:off x="560070" y="652272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954988" y="6522720"/>
              <a:ext cx="6769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EdgeThemis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8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3845"/>
            <a:ext cx="11049000" cy="621030"/>
            <a:chOff x="571500" y="283845"/>
            <a:chExt cx="11049000" cy="621030"/>
          </a:xfrm>
        </p:grpSpPr>
        <p:sp>
          <p:nvSpPr>
            <p:cNvPr id="3" name="Rectangle 3"/>
            <p:cNvSpPr/>
            <p:nvPr/>
          </p:nvSpPr>
          <p:spPr>
            <a:xfrm>
              <a:off x="571500" y="28575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2470" y="283845"/>
              <a:ext cx="14051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消融实验</a:t>
              </a:r>
              <a:endParaRPr lang="zh-CN" sz="24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651760" y="413385"/>
              <a:ext cx="34149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：形式化验证 + 自反思闭环显著提升因果图质量</a:t>
              </a:r>
              <a:endParaRPr lang="zh-CN" sz="12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29615" y="648652"/>
              <a:ext cx="60894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Ablation Study: Formal Verification + Self-Reflection Significantly Improve Graph Quality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8953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5619750" y="133350"/>
            <a:ext cx="6572250" cy="433388"/>
            <a:chOff x="5619750" y="133350"/>
            <a:chExt cx="6572250" cy="433388"/>
          </a:xfrm>
        </p:grpSpPr>
        <p:sp>
          <p:nvSpPr>
            <p:cNvPr id="9" name="Rectangle 9"/>
            <p:cNvSpPr/>
            <p:nvPr/>
          </p:nvSpPr>
          <p:spPr>
            <a:xfrm>
              <a:off x="5619750" y="133350"/>
              <a:ext cx="6096000" cy="400050"/>
            </a:xfrm>
            <a:prstGeom prst="roundRect">
              <a:avLst>
                <a:gd name="adj" fmla="val 1428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848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11322" y="438626"/>
              <a:ext cx="188357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Ellipse 12"/>
            <p:cNvSpPr/>
            <p:nvPr/>
          </p:nvSpPr>
          <p:spPr>
            <a:xfrm>
              <a:off x="6610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487561" y="438626"/>
              <a:ext cx="359878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Generator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72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67063" y="438626"/>
              <a:ext cx="32487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Interning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Ellipse 16"/>
            <p:cNvSpPr/>
            <p:nvPr/>
          </p:nvSpPr>
          <p:spPr>
            <a:xfrm>
              <a:off x="818197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57436" y="438626"/>
              <a:ext cx="363379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Kahn Cycle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Ellipse 18"/>
            <p:cNvSpPr/>
            <p:nvPr/>
          </p:nvSpPr>
          <p:spPr>
            <a:xfrm>
              <a:off x="903922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67430" y="438626"/>
              <a:ext cx="457891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d-Separation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Ellipse 20"/>
            <p:cNvSpPr/>
            <p:nvPr/>
          </p:nvSpPr>
          <p:spPr>
            <a:xfrm>
              <a:off x="9848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47063" y="438626"/>
              <a:ext cx="317873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FMEA RPN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Ellipse 22"/>
            <p:cNvSpPr/>
            <p:nvPr/>
          </p:nvSpPr>
          <p:spPr>
            <a:xfrm>
              <a:off x="10610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496812" y="438626"/>
              <a:ext cx="34237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Reflector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Ellipse 24"/>
            <p:cNvSpPr/>
            <p:nvPr/>
          </p:nvSpPr>
          <p:spPr>
            <a:xfrm>
              <a:off x="11287125" y="171450"/>
              <a:ext cx="190500" cy="190500"/>
            </a:xfrm>
            <a:prstGeom prst="ellipse">
              <a:avLst/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189077" y="414338"/>
              <a:ext cx="38659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Output</a:t>
              </a:r>
              <a:endParaRPr lang="zh-CN" sz="75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6000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6762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7524750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334375" y="2667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191625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00012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0763250" y="26670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1620500" y="180975"/>
              <a:ext cx="571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D5D8DC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1687175" y="238125"/>
              <a:ext cx="57150" cy="57150"/>
            </a:xfrm>
            <a:prstGeom prst="ellipse">
              <a:avLst/>
            </a:prstGeom>
            <a:solidFill>
              <a:srgbClr val="E8B93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785282" y="238601"/>
              <a:ext cx="24436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Ellipse 36"/>
            <p:cNvSpPr/>
            <p:nvPr/>
          </p:nvSpPr>
          <p:spPr>
            <a:xfrm>
              <a:off x="11687175" y="352425"/>
              <a:ext cx="57150" cy="57150"/>
            </a:xfrm>
            <a:prstGeom prst="ellipse">
              <a:avLst/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785282" y="352901"/>
              <a:ext cx="16735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571500" y="923925"/>
            <a:ext cx="9763125" cy="4219575"/>
            <a:chOff x="571500" y="923925"/>
            <a:chExt cx="9763125" cy="4219575"/>
          </a:xfrm>
        </p:grpSpPr>
        <p:sp>
          <p:nvSpPr>
            <p:cNvPr id="39" name="Rectangle 39"/>
            <p:cNvSpPr/>
            <p:nvPr/>
          </p:nvSpPr>
          <p:spPr>
            <a:xfrm>
              <a:off x="571500" y="1047750"/>
              <a:ext cx="2095500" cy="457200"/>
            </a:xfrm>
            <a:prstGeom prst="roundRect">
              <a:avLst>
                <a:gd name="adj" fmla="val 125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311878" y="12201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评估指标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809875" y="1047750"/>
              <a:ext cx="2381250" cy="457200"/>
            </a:xfrm>
            <a:prstGeom prst="roundRect">
              <a:avLst>
                <a:gd name="adj" fmla="val 12500"/>
              </a:avLst>
            </a:prstGeom>
            <a:solidFill>
              <a:srgbClr val="E74C3C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42" name="TextBox 42"/>
            <p:cNvSpPr txBox="1"/>
            <p:nvPr/>
          </p:nvSpPr>
          <p:spPr>
            <a:xfrm>
              <a:off x="3657619" y="1137285"/>
              <a:ext cx="6857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Config A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816751" y="1339691"/>
              <a:ext cx="3674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纯 LLM</a:t>
              </a:r>
              <a:endParaRPr lang="zh-CN" sz="825" dirty="0">
                <a:solidFill>
                  <a:srgbClr val="FFFFFF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0" y="1047750"/>
              <a:ext cx="2381250" cy="457200"/>
            </a:xfrm>
            <a:prstGeom prst="roundRect">
              <a:avLst>
                <a:gd name="adj" fmla="val 12500"/>
              </a:avLst>
            </a:prstGeom>
            <a:solidFill>
              <a:srgbClr val="E8B931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45" name="TextBox 45"/>
            <p:cNvSpPr txBox="1"/>
            <p:nvPr/>
          </p:nvSpPr>
          <p:spPr>
            <a:xfrm>
              <a:off x="6181744" y="1137285"/>
              <a:ext cx="6857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Config B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90595" y="1339691"/>
              <a:ext cx="86806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+ Schema + Rust</a:t>
              </a:r>
              <a:endParaRPr lang="zh-CN" sz="825" dirty="0">
                <a:solidFill>
                  <a:srgbClr val="FFFFFF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858125" y="1000125"/>
              <a:ext cx="2476500" cy="533400"/>
            </a:xfrm>
            <a:prstGeom prst="roundRect">
              <a:avLst>
                <a:gd name="adj" fmla="val 10714"/>
              </a:avLst>
            </a:prstGeom>
            <a:solidFill>
              <a:srgbClr val="27AE60"/>
            </a:solidFill>
            <a:ln>
              <a:noFill/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48" name="Rectangle 48"/>
            <p:cNvSpPr/>
            <p:nvPr/>
          </p:nvSpPr>
          <p:spPr>
            <a:xfrm>
              <a:off x="9001125" y="923925"/>
              <a:ext cx="571500" cy="190500"/>
            </a:xfrm>
            <a:prstGeom prst="roundRect">
              <a:avLst>
                <a:gd name="adj" fmla="val 5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161836" y="976312"/>
              <a:ext cx="25007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Best</a:t>
              </a:r>
              <a:endParaRPr lang="zh-CN" sz="7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53494" y="1137285"/>
              <a:ext cx="6857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Config C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64107" y="1339691"/>
              <a:ext cx="6645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+ Reflection</a:t>
              </a:r>
              <a:endParaRPr lang="zh-CN" sz="825" dirty="0">
                <a:solidFill>
                  <a:srgbClr val="FFFFFF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571500" y="1600200"/>
              <a:ext cx="9763125" cy="647700"/>
              <a:chOff x="571500" y="1600200"/>
              <a:chExt cx="9763125" cy="6477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1600200"/>
                <a:ext cx="2095500" cy="647700"/>
              </a:xfrm>
              <a:prstGeom prst="roundRect">
                <a:avLst>
                  <a:gd name="adj" fmla="val 8824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215101" y="1859756"/>
                <a:ext cx="80829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DAG 合法性</a:t>
                </a:r>
                <a:endParaRPr lang="zh-CN" sz="112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2809875" y="1600200"/>
                <a:ext cx="2381250" cy="647700"/>
              </a:xfrm>
              <a:prstGeom prst="roundRect">
                <a:avLst>
                  <a:gd name="adj" fmla="val 5882"/>
                </a:avLst>
              </a:prstGeom>
              <a:solidFill>
                <a:srgbClr val="E74C3C">
                  <a:alpha val="6000"/>
                </a:srgbClr>
              </a:solidFill>
              <a:ln>
                <a:noFill/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3771900" y="1819275"/>
                <a:ext cx="114300" cy="114300"/>
                <a:chOff x="3771900" y="1819275"/>
                <a:chExt cx="114300" cy="114300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3771900" y="181927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11430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3771900" y="181927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0"/>
                      </a:moveTo>
                      <a:lnTo>
                        <a:pt x="114300" y="11430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3663077" y="1894999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可能含环路</a:t>
                </a:r>
                <a:endParaRPr lang="zh-CN" sz="975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5334000" y="1600200"/>
                <a:ext cx="2381250" cy="647700"/>
              </a:xfrm>
              <a:prstGeom prst="roundRect">
                <a:avLst>
                  <a:gd name="adj" fmla="val 5882"/>
                </a:avLst>
              </a:prstGeom>
              <a:solidFill>
                <a:srgbClr val="27AE60">
                  <a:alpha val="6000"/>
                </a:srgbClr>
              </a:solidFill>
              <a:ln>
                <a:noFill/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6267450" y="1790700"/>
                <a:ext cx="171450" cy="171450"/>
                <a:chOff x="6267450" y="1790700"/>
                <a:chExt cx="171450" cy="171450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6267450" y="179070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6324600" y="185737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6187202" y="1894999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环路被拦截</a:t>
                </a:r>
                <a:endParaRPr lang="zh-CN" sz="975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4" name="Rectangle 64"/>
              <p:cNvSpPr/>
              <p:nvPr/>
            </p:nvSpPr>
            <p:spPr>
              <a:xfrm>
                <a:off x="7858125" y="1600200"/>
                <a:ext cx="2476500" cy="647700"/>
              </a:xfrm>
              <a:prstGeom prst="roundRect">
                <a:avLst>
                  <a:gd name="adj" fmla="val 5882"/>
                </a:avLst>
              </a:prstGeom>
              <a:solidFill>
                <a:srgbClr val="27AE60">
                  <a:alpha val="6000"/>
                </a:srgbClr>
              </a:solidFill>
              <a:ln>
                <a:noFill/>
              </a:ln>
            </p:spPr>
          </p:sp>
          <p:grpSp>
            <p:nvGrpSpPr>
              <p:cNvPr id="67" name="Group 67"/>
              <p:cNvGrpSpPr/>
              <p:nvPr/>
            </p:nvGrpSpPr>
            <p:grpSpPr>
              <a:xfrm>
                <a:off x="8791575" y="1790700"/>
                <a:ext cx="171450" cy="171450"/>
                <a:chOff x="8791575" y="1790700"/>
                <a:chExt cx="171450" cy="171450"/>
              </a:xfrm>
            </p:grpSpPr>
            <p:sp>
              <p:nvSpPr>
                <p:cNvPr id="65" name="Freeform 65"/>
                <p:cNvSpPr/>
                <p:nvPr/>
              </p:nvSpPr>
              <p:spPr>
                <a:xfrm>
                  <a:off x="8791575" y="179070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8848725" y="185737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</p:grpSp>
          <p:sp>
            <p:nvSpPr>
              <p:cNvPr id="68" name="TextBox 68"/>
              <p:cNvSpPr txBox="1"/>
              <p:nvPr/>
            </p:nvSpPr>
            <p:spPr>
              <a:xfrm>
                <a:off x="8758952" y="1894999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环路被拦截</a:t>
                </a:r>
                <a:endParaRPr lang="zh-CN" sz="975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571500" y="2324100"/>
              <a:ext cx="9763125" cy="647700"/>
              <a:chOff x="571500" y="2324100"/>
              <a:chExt cx="9763125" cy="647700"/>
            </a:xfrm>
          </p:grpSpPr>
          <p:sp>
            <p:nvSpPr>
              <p:cNvPr id="70" name="Rectangle 70"/>
              <p:cNvSpPr/>
              <p:nvPr/>
            </p:nvSpPr>
            <p:spPr>
              <a:xfrm>
                <a:off x="571500" y="2324100"/>
                <a:ext cx="2095500" cy="647700"/>
              </a:xfrm>
              <a:prstGeom prst="roundRect">
                <a:avLst>
                  <a:gd name="adj" fmla="val 8824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1124527" y="2583656"/>
                <a:ext cx="98944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d-分离一致性</a:t>
                </a:r>
                <a:endParaRPr lang="zh-CN" sz="112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2" name="Rectangle 72"/>
              <p:cNvSpPr/>
              <p:nvPr/>
            </p:nvSpPr>
            <p:spPr>
              <a:xfrm>
                <a:off x="2809875" y="2324100"/>
                <a:ext cx="2381250" cy="647700"/>
              </a:xfrm>
              <a:prstGeom prst="roundRect">
                <a:avLst>
                  <a:gd name="adj" fmla="val 5882"/>
                </a:avLst>
              </a:prstGeom>
              <a:solidFill>
                <a:srgbClr val="E74C3C">
                  <a:alpha val="6000"/>
                </a:srgbClr>
              </a:solidFill>
              <a:ln>
                <a:noFill/>
              </a:ln>
            </p:spPr>
          </p:sp>
          <p:grpSp>
            <p:nvGrpSpPr>
              <p:cNvPr id="75" name="Group 75"/>
              <p:cNvGrpSpPr/>
              <p:nvPr/>
            </p:nvGrpSpPr>
            <p:grpSpPr>
              <a:xfrm>
                <a:off x="3771900" y="2543175"/>
                <a:ext cx="114300" cy="114300"/>
                <a:chOff x="3771900" y="2543175"/>
                <a:chExt cx="114300" cy="114300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3771900" y="254317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11430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3771900" y="254317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0"/>
                      </a:moveTo>
                      <a:lnTo>
                        <a:pt x="114300" y="11430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</p:grpSp>
          <p:sp>
            <p:nvSpPr>
              <p:cNvPr id="76" name="TextBox 76"/>
              <p:cNvSpPr txBox="1"/>
              <p:nvPr/>
            </p:nvSpPr>
            <p:spPr>
              <a:xfrm>
                <a:off x="3793093" y="2618899"/>
                <a:ext cx="4148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未验证</a:t>
                </a:r>
                <a:endParaRPr lang="zh-CN" sz="975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7" name="Rectangle 77"/>
              <p:cNvSpPr/>
              <p:nvPr/>
            </p:nvSpPr>
            <p:spPr>
              <a:xfrm>
                <a:off x="5334000" y="2324100"/>
                <a:ext cx="2381250" cy="647700"/>
              </a:xfrm>
              <a:prstGeom prst="roundRect">
                <a:avLst>
                  <a:gd name="adj" fmla="val 5882"/>
                </a:avLst>
              </a:prstGeom>
              <a:solidFill>
                <a:srgbClr val="E8B931">
                  <a:alpha val="6000"/>
                </a:srgbClr>
              </a:solidFill>
              <a:ln>
                <a:noFill/>
              </a:ln>
            </p:spPr>
          </p:sp>
          <p:grpSp>
            <p:nvGrpSpPr>
              <p:cNvPr id="81" name="Group 81"/>
              <p:cNvGrpSpPr/>
              <p:nvPr/>
            </p:nvGrpSpPr>
            <p:grpSpPr>
              <a:xfrm>
                <a:off x="6257114" y="2511436"/>
                <a:ext cx="192114" cy="165051"/>
                <a:chOff x="6257114" y="2511436"/>
                <a:chExt cx="192114" cy="165051"/>
              </a:xfrm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6353175" y="257175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E8B931"/>
                  </a:solidFill>
                </a:ln>
              </p:spPr>
            </p:sp>
            <p:sp>
              <p:nvSpPr>
                <p:cNvPr id="79" name="Freeform 79"/>
                <p:cNvSpPr/>
                <p:nvPr/>
              </p:nvSpPr>
              <p:spPr>
                <a:xfrm>
                  <a:off x="6257114" y="2511436"/>
                  <a:ext cx="192114" cy="165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114" h="165051">
                      <a:moveTo>
                        <a:pt x="80468" y="8794"/>
                      </a:moveTo>
                      <a:lnTo>
                        <a:pt x="3259" y="137705"/>
                      </a:lnTo>
                      <a:cubicBezTo>
                        <a:pt x="20" y="143314"/>
                        <a:pt x="0" y="150220"/>
                        <a:pt x="3207" y="155848"/>
                      </a:cubicBezTo>
                      <a:cubicBezTo>
                        <a:pt x="6413" y="161475"/>
                        <a:pt x="12365" y="164979"/>
                        <a:pt x="18842" y="165051"/>
                      </a:cubicBezTo>
                      <a:lnTo>
                        <a:pt x="173280" y="165051"/>
                      </a:lnTo>
                      <a:cubicBezTo>
                        <a:pt x="179753" y="164977"/>
                        <a:pt x="185702" y="161474"/>
                        <a:pt x="188908" y="155850"/>
                      </a:cubicBezTo>
                      <a:cubicBezTo>
                        <a:pt x="192114" y="150226"/>
                        <a:pt x="192097" y="143323"/>
                        <a:pt x="188863" y="137715"/>
                      </a:cubicBezTo>
                      <a:lnTo>
                        <a:pt x="111653" y="8784"/>
                      </a:lnTo>
                      <a:cubicBezTo>
                        <a:pt x="108349" y="3331"/>
                        <a:pt x="102437" y="0"/>
                        <a:pt x="96061" y="0"/>
                      </a:cubicBezTo>
                      <a:cubicBezTo>
                        <a:pt x="89685" y="0"/>
                        <a:pt x="83772" y="3331"/>
                        <a:pt x="80468" y="8784"/>
                      </a:cubicBezTo>
                    </a:path>
                  </a:pathLst>
                </a:custGeom>
                <a:noFill/>
                <a:ln w="19050">
                  <a:solidFill>
                    <a:srgbClr val="E8B931"/>
                  </a:solidFill>
                </a:ln>
              </p:spPr>
            </p:sp>
            <p:sp>
              <p:nvSpPr>
                <p:cNvPr id="80" name="Freeform 80"/>
                <p:cNvSpPr/>
                <p:nvPr/>
              </p:nvSpPr>
              <p:spPr>
                <a:xfrm>
                  <a:off x="6353175" y="26384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" y="0"/>
                      </a:lnTo>
                    </a:path>
                  </a:pathLst>
                </a:custGeom>
                <a:noFill/>
                <a:ln w="19050">
                  <a:solidFill>
                    <a:srgbClr val="E8B931"/>
                  </a:solidFill>
                </a:ln>
              </p:spPr>
            </p:sp>
          </p:grpSp>
          <p:sp>
            <p:nvSpPr>
              <p:cNvPr id="82" name="TextBox 82"/>
              <p:cNvSpPr txBox="1"/>
              <p:nvPr/>
            </p:nvSpPr>
            <p:spPr>
              <a:xfrm>
                <a:off x="6187202" y="2561749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E8B93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检测不修正</a:t>
                </a:r>
                <a:endParaRPr lang="zh-CN" sz="975" dirty="0">
                  <a:solidFill>
                    <a:srgbClr val="E8B93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6129099" y="2749391"/>
                <a:ext cx="79105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仅报告，不反馈</a:t>
                </a:r>
                <a:endPara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4" name="Rectangle 84"/>
              <p:cNvSpPr/>
              <p:nvPr/>
            </p:nvSpPr>
            <p:spPr>
              <a:xfrm>
                <a:off x="7858125" y="2324100"/>
                <a:ext cx="2476500" cy="647700"/>
              </a:xfrm>
              <a:prstGeom prst="roundRect">
                <a:avLst>
                  <a:gd name="adj" fmla="val 5882"/>
                </a:avLst>
              </a:prstGeom>
              <a:solidFill>
                <a:srgbClr val="27AE60">
                  <a:alpha val="6000"/>
                </a:srgbClr>
              </a:solidFill>
              <a:ln>
                <a:noFill/>
              </a:ln>
            </p:spPr>
          </p:sp>
          <p:grpSp>
            <p:nvGrpSpPr>
              <p:cNvPr id="87" name="Group 87"/>
              <p:cNvGrpSpPr/>
              <p:nvPr/>
            </p:nvGrpSpPr>
            <p:grpSpPr>
              <a:xfrm>
                <a:off x="8791575" y="2514600"/>
                <a:ext cx="171450" cy="171450"/>
                <a:chOff x="8791575" y="2514600"/>
                <a:chExt cx="171450" cy="171450"/>
              </a:xfrm>
            </p:grpSpPr>
            <p:sp>
              <p:nvSpPr>
                <p:cNvPr id="85" name="Freeform 85"/>
                <p:cNvSpPr/>
                <p:nvPr/>
              </p:nvSpPr>
              <p:spPr>
                <a:xfrm>
                  <a:off x="8791575" y="251460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  <p:sp>
              <p:nvSpPr>
                <p:cNvPr id="86" name="Freeform 86"/>
                <p:cNvSpPr/>
                <p:nvPr/>
              </p:nvSpPr>
              <p:spPr>
                <a:xfrm>
                  <a:off x="8848725" y="258127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</p:grpSp>
          <p:sp>
            <p:nvSpPr>
              <p:cNvPr id="88" name="TextBox 88"/>
              <p:cNvSpPr txBox="1"/>
              <p:nvPr/>
            </p:nvSpPr>
            <p:spPr>
              <a:xfrm>
                <a:off x="8658189" y="2561749"/>
                <a:ext cx="8763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检测+自动修正</a:t>
                </a:r>
                <a:endParaRPr lang="zh-CN" sz="975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8621089" y="2749391"/>
                <a:ext cx="95057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Bayesian Ball 反馈</a:t>
                </a:r>
                <a:endPara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08" name="Group 108"/>
            <p:cNvGrpSpPr/>
            <p:nvPr/>
          </p:nvGrpSpPr>
          <p:grpSpPr>
            <a:xfrm>
              <a:off x="571500" y="3048000"/>
              <a:ext cx="9763125" cy="647700"/>
              <a:chOff x="571500" y="3048000"/>
              <a:chExt cx="9763125" cy="647700"/>
            </a:xfrm>
          </p:grpSpPr>
          <p:sp>
            <p:nvSpPr>
              <p:cNvPr id="91" name="Rectangle 91"/>
              <p:cNvSpPr/>
              <p:nvPr/>
            </p:nvSpPr>
            <p:spPr>
              <a:xfrm>
                <a:off x="571500" y="3048000"/>
                <a:ext cx="2095500" cy="647700"/>
              </a:xfrm>
              <a:prstGeom prst="roundRect">
                <a:avLst>
                  <a:gd name="adj" fmla="val 8824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1077272" y="3307556"/>
                <a:ext cx="108395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FMEA 风险标注</a:t>
                </a:r>
                <a:endParaRPr lang="zh-CN" sz="112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3" name="Rectangle 93"/>
              <p:cNvSpPr/>
              <p:nvPr/>
            </p:nvSpPr>
            <p:spPr>
              <a:xfrm>
                <a:off x="2809875" y="3048000"/>
                <a:ext cx="2381250" cy="647700"/>
              </a:xfrm>
              <a:prstGeom prst="roundRect">
                <a:avLst>
                  <a:gd name="adj" fmla="val 5882"/>
                </a:avLst>
              </a:prstGeom>
              <a:solidFill>
                <a:srgbClr val="E74C3C">
                  <a:alpha val="6000"/>
                </a:srgbClr>
              </a:solidFill>
              <a:ln>
                <a:noFill/>
              </a:ln>
            </p:spPr>
          </p:sp>
          <p:grpSp>
            <p:nvGrpSpPr>
              <p:cNvPr id="96" name="Group 96"/>
              <p:cNvGrpSpPr/>
              <p:nvPr/>
            </p:nvGrpSpPr>
            <p:grpSpPr>
              <a:xfrm>
                <a:off x="3771900" y="3267075"/>
                <a:ext cx="114300" cy="114300"/>
                <a:chOff x="3771900" y="3267075"/>
                <a:chExt cx="114300" cy="114300"/>
              </a:xfrm>
            </p:grpSpPr>
            <p:sp>
              <p:nvSpPr>
                <p:cNvPr id="94" name="Freeform 94"/>
                <p:cNvSpPr/>
                <p:nvPr/>
              </p:nvSpPr>
              <p:spPr>
                <a:xfrm>
                  <a:off x="3771900" y="326707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11430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  <p:sp>
              <p:nvSpPr>
                <p:cNvPr id="95" name="Freeform 95"/>
                <p:cNvSpPr/>
                <p:nvPr/>
              </p:nvSpPr>
              <p:spPr>
                <a:xfrm>
                  <a:off x="3771900" y="326707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0"/>
                      </a:moveTo>
                      <a:lnTo>
                        <a:pt x="114300" y="11430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</p:grpSp>
          <p:sp>
            <p:nvSpPr>
              <p:cNvPr id="97" name="TextBox 97"/>
              <p:cNvSpPr txBox="1"/>
              <p:nvPr/>
            </p:nvSpPr>
            <p:spPr>
              <a:xfrm>
                <a:off x="3923109" y="3342799"/>
                <a:ext cx="1547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无</a:t>
                </a:r>
                <a:endParaRPr lang="zh-CN" sz="975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8" name="Rectangle 98"/>
              <p:cNvSpPr/>
              <p:nvPr/>
            </p:nvSpPr>
            <p:spPr>
              <a:xfrm>
                <a:off x="5334000" y="3048000"/>
                <a:ext cx="2381250" cy="647700"/>
              </a:xfrm>
              <a:prstGeom prst="roundRect">
                <a:avLst>
                  <a:gd name="adj" fmla="val 5882"/>
                </a:avLst>
              </a:prstGeom>
              <a:solidFill>
                <a:srgbClr val="27AE60">
                  <a:alpha val="6000"/>
                </a:srgbClr>
              </a:solidFill>
              <a:ln>
                <a:noFill/>
              </a:ln>
            </p:spPr>
          </p:sp>
          <p:grpSp>
            <p:nvGrpSpPr>
              <p:cNvPr id="101" name="Group 101"/>
              <p:cNvGrpSpPr/>
              <p:nvPr/>
            </p:nvGrpSpPr>
            <p:grpSpPr>
              <a:xfrm>
                <a:off x="6267450" y="3238500"/>
                <a:ext cx="171450" cy="171450"/>
                <a:chOff x="6267450" y="3238500"/>
                <a:chExt cx="171450" cy="171450"/>
              </a:xfrm>
            </p:grpSpPr>
            <p:sp>
              <p:nvSpPr>
                <p:cNvPr id="99" name="Freeform 99"/>
                <p:cNvSpPr/>
                <p:nvPr/>
              </p:nvSpPr>
              <p:spPr>
                <a:xfrm>
                  <a:off x="6267450" y="323850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  <p:sp>
              <p:nvSpPr>
                <p:cNvPr id="100" name="Freeform 100"/>
                <p:cNvSpPr/>
                <p:nvPr/>
              </p:nvSpPr>
              <p:spPr>
                <a:xfrm>
                  <a:off x="6324600" y="330517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</p:grpSp>
          <p:sp>
            <p:nvSpPr>
              <p:cNvPr id="102" name="TextBox 102"/>
              <p:cNvSpPr txBox="1"/>
              <p:nvPr/>
            </p:nvSpPr>
            <p:spPr>
              <a:xfrm>
                <a:off x="6164449" y="3342799"/>
                <a:ext cx="7203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有 (S/O/D)</a:t>
                </a:r>
                <a:endParaRPr lang="zh-CN" sz="975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3" name="Rectangle 103"/>
              <p:cNvSpPr/>
              <p:nvPr/>
            </p:nvSpPr>
            <p:spPr>
              <a:xfrm>
                <a:off x="7858125" y="3048000"/>
                <a:ext cx="2476500" cy="647700"/>
              </a:xfrm>
              <a:prstGeom prst="roundRect">
                <a:avLst>
                  <a:gd name="adj" fmla="val 5882"/>
                </a:avLst>
              </a:prstGeom>
              <a:solidFill>
                <a:srgbClr val="27AE60">
                  <a:alpha val="6000"/>
                </a:srgbClr>
              </a:solidFill>
              <a:ln>
                <a:noFill/>
              </a:ln>
            </p:spPr>
          </p:sp>
          <p:grpSp>
            <p:nvGrpSpPr>
              <p:cNvPr id="106" name="Group 106"/>
              <p:cNvGrpSpPr/>
              <p:nvPr/>
            </p:nvGrpSpPr>
            <p:grpSpPr>
              <a:xfrm>
                <a:off x="8791575" y="3238500"/>
                <a:ext cx="171450" cy="171450"/>
                <a:chOff x="8791575" y="3238500"/>
                <a:chExt cx="171450" cy="171450"/>
              </a:xfrm>
            </p:grpSpPr>
            <p:sp>
              <p:nvSpPr>
                <p:cNvPr id="104" name="Freeform 104"/>
                <p:cNvSpPr/>
                <p:nvPr/>
              </p:nvSpPr>
              <p:spPr>
                <a:xfrm>
                  <a:off x="8791575" y="323850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  <p:sp>
              <p:nvSpPr>
                <p:cNvPr id="105" name="Freeform 105"/>
                <p:cNvSpPr/>
                <p:nvPr/>
              </p:nvSpPr>
              <p:spPr>
                <a:xfrm>
                  <a:off x="8848725" y="330517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</p:grpSp>
          <p:sp>
            <p:nvSpPr>
              <p:cNvPr id="107" name="TextBox 107"/>
              <p:cNvSpPr txBox="1"/>
              <p:nvPr/>
            </p:nvSpPr>
            <p:spPr>
              <a:xfrm>
                <a:off x="8736199" y="3342799"/>
                <a:ext cx="7203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有 (S/O/D)</a:t>
                </a:r>
                <a:endParaRPr lang="zh-CN" sz="975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27" name="Group 127"/>
            <p:cNvGrpSpPr/>
            <p:nvPr/>
          </p:nvGrpSpPr>
          <p:grpSpPr>
            <a:xfrm>
              <a:off x="571500" y="3771900"/>
              <a:ext cx="9763125" cy="647700"/>
              <a:chOff x="571500" y="3771900"/>
              <a:chExt cx="9763125" cy="647700"/>
            </a:xfrm>
          </p:grpSpPr>
          <p:sp>
            <p:nvSpPr>
              <p:cNvPr id="109" name="Rectangle 109"/>
              <p:cNvSpPr/>
              <p:nvPr/>
            </p:nvSpPr>
            <p:spPr>
              <a:xfrm>
                <a:off x="571500" y="3771900"/>
                <a:ext cx="2095500" cy="647700"/>
              </a:xfrm>
              <a:prstGeom prst="roundRect">
                <a:avLst>
                  <a:gd name="adj" fmla="val 8824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1211163" y="40314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自纠错能力</a:t>
                </a:r>
                <a:endParaRPr lang="zh-CN" sz="112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1" name="Rectangle 111"/>
              <p:cNvSpPr/>
              <p:nvPr/>
            </p:nvSpPr>
            <p:spPr>
              <a:xfrm>
                <a:off x="2809875" y="3771900"/>
                <a:ext cx="2381250" cy="647700"/>
              </a:xfrm>
              <a:prstGeom prst="roundRect">
                <a:avLst>
                  <a:gd name="adj" fmla="val 5882"/>
                </a:avLst>
              </a:prstGeom>
              <a:solidFill>
                <a:srgbClr val="E74C3C">
                  <a:alpha val="6000"/>
                </a:srgbClr>
              </a:solidFill>
              <a:ln>
                <a:noFill/>
              </a:ln>
            </p:spPr>
          </p:sp>
          <p:grpSp>
            <p:nvGrpSpPr>
              <p:cNvPr id="114" name="Group 114"/>
              <p:cNvGrpSpPr/>
              <p:nvPr/>
            </p:nvGrpSpPr>
            <p:grpSpPr>
              <a:xfrm>
                <a:off x="3771900" y="3990975"/>
                <a:ext cx="114300" cy="114300"/>
                <a:chOff x="3771900" y="3990975"/>
                <a:chExt cx="114300" cy="114300"/>
              </a:xfrm>
            </p:grpSpPr>
            <p:sp>
              <p:nvSpPr>
                <p:cNvPr id="112" name="Freeform 112"/>
                <p:cNvSpPr/>
                <p:nvPr/>
              </p:nvSpPr>
              <p:spPr>
                <a:xfrm>
                  <a:off x="3771900" y="399097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11430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  <p:sp>
              <p:nvSpPr>
                <p:cNvPr id="113" name="Freeform 113"/>
                <p:cNvSpPr/>
                <p:nvPr/>
              </p:nvSpPr>
              <p:spPr>
                <a:xfrm>
                  <a:off x="3771900" y="399097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0"/>
                      </a:moveTo>
                      <a:lnTo>
                        <a:pt x="114300" y="11430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</p:grpSp>
          <p:sp>
            <p:nvSpPr>
              <p:cNvPr id="115" name="TextBox 115"/>
              <p:cNvSpPr txBox="1"/>
              <p:nvPr/>
            </p:nvSpPr>
            <p:spPr>
              <a:xfrm>
                <a:off x="3923109" y="4066699"/>
                <a:ext cx="1547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无</a:t>
                </a:r>
                <a:endParaRPr lang="zh-CN" sz="975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6" name="Rectangle 116"/>
              <p:cNvSpPr/>
              <p:nvPr/>
            </p:nvSpPr>
            <p:spPr>
              <a:xfrm>
                <a:off x="5334000" y="3771900"/>
                <a:ext cx="2381250" cy="647700"/>
              </a:xfrm>
              <a:prstGeom prst="roundRect">
                <a:avLst>
                  <a:gd name="adj" fmla="val 5882"/>
                </a:avLst>
              </a:prstGeom>
              <a:solidFill>
                <a:srgbClr val="E74C3C">
                  <a:alpha val="6000"/>
                </a:srgbClr>
              </a:solidFill>
              <a:ln>
                <a:noFill/>
              </a:ln>
            </p:spPr>
          </p:sp>
          <p:grpSp>
            <p:nvGrpSpPr>
              <p:cNvPr id="119" name="Group 119"/>
              <p:cNvGrpSpPr/>
              <p:nvPr/>
            </p:nvGrpSpPr>
            <p:grpSpPr>
              <a:xfrm>
                <a:off x="6296025" y="3990975"/>
                <a:ext cx="114300" cy="114300"/>
                <a:chOff x="6296025" y="3990975"/>
                <a:chExt cx="114300" cy="114300"/>
              </a:xfrm>
            </p:grpSpPr>
            <p:sp>
              <p:nvSpPr>
                <p:cNvPr id="117" name="Freeform 117"/>
                <p:cNvSpPr/>
                <p:nvPr/>
              </p:nvSpPr>
              <p:spPr>
                <a:xfrm>
                  <a:off x="6296025" y="399097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11430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  <p:sp>
              <p:nvSpPr>
                <p:cNvPr id="118" name="Freeform 118"/>
                <p:cNvSpPr/>
                <p:nvPr/>
              </p:nvSpPr>
              <p:spPr>
                <a:xfrm>
                  <a:off x="6296025" y="3990975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0"/>
                      </a:moveTo>
                      <a:lnTo>
                        <a:pt x="114300" y="11430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</p:grpSp>
          <p:sp>
            <p:nvSpPr>
              <p:cNvPr id="120" name="TextBox 120"/>
              <p:cNvSpPr txBox="1"/>
              <p:nvPr/>
            </p:nvSpPr>
            <p:spPr>
              <a:xfrm>
                <a:off x="6447234" y="4066699"/>
                <a:ext cx="1547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无</a:t>
                </a:r>
                <a:endParaRPr lang="zh-CN" sz="975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1" name="Rectangle 121"/>
              <p:cNvSpPr/>
              <p:nvPr/>
            </p:nvSpPr>
            <p:spPr>
              <a:xfrm>
                <a:off x="7858125" y="3771900"/>
                <a:ext cx="2476500" cy="647700"/>
              </a:xfrm>
              <a:prstGeom prst="roundRect">
                <a:avLst>
                  <a:gd name="adj" fmla="val 5882"/>
                </a:avLst>
              </a:prstGeom>
              <a:solidFill>
                <a:srgbClr val="27AE60">
                  <a:alpha val="6000"/>
                </a:srgbClr>
              </a:solidFill>
              <a:ln>
                <a:noFill/>
              </a:ln>
            </p:spPr>
          </p:sp>
          <p:grpSp>
            <p:nvGrpSpPr>
              <p:cNvPr id="124" name="Group 124"/>
              <p:cNvGrpSpPr/>
              <p:nvPr/>
            </p:nvGrpSpPr>
            <p:grpSpPr>
              <a:xfrm>
                <a:off x="8791575" y="3962400"/>
                <a:ext cx="171450" cy="171450"/>
                <a:chOff x="8791575" y="3962400"/>
                <a:chExt cx="171450" cy="171450"/>
              </a:xfrm>
            </p:grpSpPr>
            <p:sp>
              <p:nvSpPr>
                <p:cNvPr id="122" name="Freeform 122"/>
                <p:cNvSpPr/>
                <p:nvPr/>
              </p:nvSpPr>
              <p:spPr>
                <a:xfrm>
                  <a:off x="8791575" y="396240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  <p:sp>
              <p:nvSpPr>
                <p:cNvPr id="123" name="Freeform 123"/>
                <p:cNvSpPr/>
                <p:nvPr/>
              </p:nvSpPr>
              <p:spPr>
                <a:xfrm>
                  <a:off x="8848725" y="402907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</p:grpSp>
          <p:sp>
            <p:nvSpPr>
              <p:cNvPr id="125" name="TextBox 125"/>
              <p:cNvSpPr txBox="1"/>
              <p:nvPr/>
            </p:nvSpPr>
            <p:spPr>
              <a:xfrm>
                <a:off x="8814209" y="4009549"/>
                <a:ext cx="5643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最多 5 轮</a:t>
                </a:r>
                <a:endParaRPr lang="zh-CN" sz="975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6" name="TextBox 126"/>
              <p:cNvSpPr txBox="1"/>
              <p:nvPr/>
            </p:nvSpPr>
            <p:spPr>
              <a:xfrm>
                <a:off x="8755856" y="4197191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自动反思修正</a:t>
                </a:r>
                <a:endPara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36" name="Group 136"/>
            <p:cNvGrpSpPr/>
            <p:nvPr/>
          </p:nvGrpSpPr>
          <p:grpSpPr>
            <a:xfrm>
              <a:off x="571500" y="4495800"/>
              <a:ext cx="9763125" cy="647700"/>
              <a:chOff x="571500" y="4495800"/>
              <a:chExt cx="9763125" cy="647700"/>
            </a:xfrm>
          </p:grpSpPr>
          <p:sp>
            <p:nvSpPr>
              <p:cNvPr id="128" name="Rectangle 128"/>
              <p:cNvSpPr/>
              <p:nvPr/>
            </p:nvSpPr>
            <p:spPr>
              <a:xfrm>
                <a:off x="571500" y="4495800"/>
                <a:ext cx="2095500" cy="647700"/>
              </a:xfrm>
              <a:prstGeom prst="roundRect">
                <a:avLst>
                  <a:gd name="adj" fmla="val 8824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29" name="TextBox 129"/>
              <p:cNvSpPr txBox="1"/>
              <p:nvPr/>
            </p:nvSpPr>
            <p:spPr>
              <a:xfrm>
                <a:off x="1211163" y="47553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A3C6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综合图质量</a:t>
                </a:r>
                <a:endParaRPr lang="zh-CN" sz="1125" b="1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0" name="Rectangle 130"/>
              <p:cNvSpPr/>
              <p:nvPr/>
            </p:nvSpPr>
            <p:spPr>
              <a:xfrm>
                <a:off x="2809875" y="4495800"/>
                <a:ext cx="2381250" cy="647700"/>
              </a:xfrm>
              <a:prstGeom prst="roundRect">
                <a:avLst>
                  <a:gd name="adj" fmla="val 5882"/>
                </a:avLst>
              </a:prstGeom>
              <a:solidFill>
                <a:srgbClr val="E74C3C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31" name="TextBox 131"/>
              <p:cNvSpPr txBox="1"/>
              <p:nvPr/>
            </p:nvSpPr>
            <p:spPr>
              <a:xfrm>
                <a:off x="3876437" y="4714875"/>
                <a:ext cx="24812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低</a:t>
                </a:r>
                <a:endParaRPr lang="zh-CN" sz="15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2" name="Rectangle 132"/>
              <p:cNvSpPr/>
              <p:nvPr/>
            </p:nvSpPr>
            <p:spPr>
              <a:xfrm>
                <a:off x="5334000" y="4495800"/>
                <a:ext cx="2381250" cy="647700"/>
              </a:xfrm>
              <a:prstGeom prst="roundRect">
                <a:avLst>
                  <a:gd name="adj" fmla="val 5882"/>
                </a:avLst>
              </a:prstGeom>
              <a:solidFill>
                <a:srgbClr val="E8B931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33" name="TextBox 133"/>
              <p:cNvSpPr txBox="1"/>
              <p:nvPr/>
            </p:nvSpPr>
            <p:spPr>
              <a:xfrm>
                <a:off x="6400562" y="4714875"/>
                <a:ext cx="24812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E8B93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中</a:t>
                </a:r>
                <a:endParaRPr lang="zh-CN" sz="1500" b="1" dirty="0">
                  <a:solidFill>
                    <a:srgbClr val="E8B93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4" name="Rectangle 134"/>
              <p:cNvSpPr/>
              <p:nvPr/>
            </p:nvSpPr>
            <p:spPr>
              <a:xfrm>
                <a:off x="7858125" y="4495800"/>
                <a:ext cx="2476500" cy="647700"/>
              </a:xfrm>
              <a:prstGeom prst="roundRect">
                <a:avLst>
                  <a:gd name="adj" fmla="val 5882"/>
                </a:avLst>
              </a:prstGeom>
              <a:solidFill>
                <a:srgbClr val="27AE60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35" name="TextBox 135"/>
              <p:cNvSpPr txBox="1"/>
              <p:nvPr/>
            </p:nvSpPr>
            <p:spPr>
              <a:xfrm>
                <a:off x="8959906" y="4698682"/>
                <a:ext cx="27293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高</a:t>
                </a:r>
                <a:endParaRPr lang="zh-CN" sz="165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52" name="Group 152"/>
          <p:cNvGrpSpPr/>
          <p:nvPr/>
        </p:nvGrpSpPr>
        <p:grpSpPr>
          <a:xfrm>
            <a:off x="571500" y="5286375"/>
            <a:ext cx="11049000" cy="1069181"/>
            <a:chOff x="571500" y="5286375"/>
            <a:chExt cx="11049000" cy="1069181"/>
          </a:xfrm>
        </p:grpSpPr>
        <p:sp>
          <p:nvSpPr>
            <p:cNvPr id="138" name="Rectangle 138"/>
            <p:cNvSpPr/>
            <p:nvPr/>
          </p:nvSpPr>
          <p:spPr>
            <a:xfrm>
              <a:off x="571500" y="5286375"/>
              <a:ext cx="11049000" cy="1047750"/>
            </a:xfrm>
            <a:prstGeom prst="roundRect">
              <a:avLst>
                <a:gd name="adj" fmla="val 9091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844868" y="5390674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综合评分对比</a:t>
              </a:r>
              <a:endParaRPr lang="zh-CN" sz="975" b="1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0" name="Line 140"/>
            <p:cNvSpPr/>
            <p:nvPr/>
          </p:nvSpPr>
          <p:spPr>
            <a:xfrm>
              <a:off x="1333500" y="61912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1063704" y="5605462"/>
              <a:ext cx="18407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100</a:t>
              </a:r>
              <a:endParaRPr lang="zh-CN" sz="7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1173718" y="6110288"/>
              <a:ext cx="740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</a:t>
              </a:r>
              <a:endParaRPr lang="zh-CN" sz="7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3" name="Rectangle 143"/>
            <p:cNvSpPr/>
            <p:nvPr/>
          </p:nvSpPr>
          <p:spPr>
            <a:xfrm>
              <a:off x="2476500" y="5981700"/>
              <a:ext cx="1714500" cy="209550"/>
            </a:xfrm>
            <a:prstGeom prst="roundRect">
              <a:avLst>
                <a:gd name="adj" fmla="val 18182"/>
              </a:avLst>
            </a:prstGeom>
            <a:solidFill>
              <a:srgbClr val="E74C3C">
                <a:alpha val="70000"/>
              </a:srgbClr>
            </a:solidFill>
            <a:ln>
              <a:noFill/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3239555" y="5820728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40</a:t>
              </a:r>
              <a:endParaRPr lang="zh-CN" sz="1050" b="1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3108746" y="6187916"/>
              <a:ext cx="4500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Config A</a:t>
              </a:r>
              <a:endParaRPr lang="zh-CN" sz="8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6" name="Rectangle 146"/>
            <p:cNvSpPr/>
            <p:nvPr/>
          </p:nvSpPr>
          <p:spPr>
            <a:xfrm>
              <a:off x="5238750" y="5829300"/>
              <a:ext cx="1714500" cy="361950"/>
            </a:xfrm>
            <a:prstGeom prst="roundRect">
              <a:avLst>
                <a:gd name="adj" fmla="val 10526"/>
              </a:avLst>
            </a:prstGeom>
            <a:solidFill>
              <a:srgbClr val="E8B931">
                <a:alpha val="70000"/>
              </a:srgbClr>
            </a:solidFill>
            <a:ln>
              <a:noFill/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6001805" y="5668328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B93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70</a:t>
              </a:r>
              <a:endParaRPr lang="zh-CN" sz="1050" b="1" dirty="0">
                <a:solidFill>
                  <a:srgbClr val="E8B93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5870996" y="6187916"/>
              <a:ext cx="4500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Config B</a:t>
              </a:r>
              <a:endParaRPr lang="zh-CN" sz="8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9" name="Rectangle 149"/>
            <p:cNvSpPr/>
            <p:nvPr/>
          </p:nvSpPr>
          <p:spPr>
            <a:xfrm>
              <a:off x="8001000" y="5705475"/>
              <a:ext cx="1714500" cy="485775"/>
            </a:xfrm>
            <a:prstGeom prst="roundRect">
              <a:avLst>
                <a:gd name="adj" fmla="val 7843"/>
              </a:avLst>
            </a:prstGeom>
            <a:solidFill>
              <a:srgbClr val="27AE60">
                <a:alpha val="70000"/>
              </a:srgbClr>
            </a:solidFill>
            <a:ln>
              <a:noFill/>
            </a:ln>
          </p:spPr>
        </p:sp>
        <p:sp>
          <p:nvSpPr>
            <p:cNvPr id="150" name="TextBox 150"/>
            <p:cNvSpPr txBox="1"/>
            <p:nvPr/>
          </p:nvSpPr>
          <p:spPr>
            <a:xfrm>
              <a:off x="8764055" y="5544502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7AE6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95</a:t>
              </a:r>
              <a:endParaRPr lang="zh-CN" sz="1050" b="1" dirty="0">
                <a:solidFill>
                  <a:srgbClr val="27AE6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8633246" y="6187916"/>
              <a:ext cx="4500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Config C</a:t>
              </a:r>
              <a:endParaRPr lang="zh-CN" sz="8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560070" y="6522720"/>
            <a:ext cx="11071860" cy="182880"/>
            <a:chOff x="560070" y="6522720"/>
            <a:chExt cx="11071860" cy="182880"/>
          </a:xfrm>
        </p:grpSpPr>
        <p:sp>
          <p:nvSpPr>
            <p:cNvPr id="153" name="TextBox 153"/>
            <p:cNvSpPr txBox="1"/>
            <p:nvPr/>
          </p:nvSpPr>
          <p:spPr>
            <a:xfrm>
              <a:off x="560070" y="652272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11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10954988" y="6522720"/>
              <a:ext cx="6769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EdgeThemis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137" grpId="0"/>
      <p:bldP spid="15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362902"/>
            <a:ext cx="11049000" cy="637223"/>
            <a:chOff x="571500" y="362902"/>
            <a:chExt cx="11049000" cy="637223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362902"/>
              <a:ext cx="149294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案例对比</a:t>
              </a:r>
              <a:endParaRPr lang="zh-CN" sz="255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651760" y="508635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：自反思闭环前后的因果图质量差异</a:t>
              </a:r>
              <a:endParaRPr lang="zh-CN" sz="12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29615" y="743902"/>
              <a:ext cx="30580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Case Study: Before vs After Self-Reflection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990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5619750" y="133350"/>
            <a:ext cx="6572250" cy="433388"/>
            <a:chOff x="5619750" y="133350"/>
            <a:chExt cx="6572250" cy="433388"/>
          </a:xfrm>
        </p:grpSpPr>
        <p:sp>
          <p:nvSpPr>
            <p:cNvPr id="9" name="Rectangle 9"/>
            <p:cNvSpPr/>
            <p:nvPr/>
          </p:nvSpPr>
          <p:spPr>
            <a:xfrm>
              <a:off x="5619750" y="133350"/>
              <a:ext cx="6096000" cy="400050"/>
            </a:xfrm>
            <a:prstGeom prst="roundRect">
              <a:avLst>
                <a:gd name="adj" fmla="val 1428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848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11322" y="438626"/>
              <a:ext cx="188357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Ellipse 12"/>
            <p:cNvSpPr/>
            <p:nvPr/>
          </p:nvSpPr>
          <p:spPr>
            <a:xfrm>
              <a:off x="6610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487561" y="438626"/>
              <a:ext cx="359878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Generator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72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67063" y="438626"/>
              <a:ext cx="32487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Interning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Ellipse 16"/>
            <p:cNvSpPr/>
            <p:nvPr/>
          </p:nvSpPr>
          <p:spPr>
            <a:xfrm>
              <a:off x="818197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57436" y="438626"/>
              <a:ext cx="363379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Kahn Cycle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Ellipse 18"/>
            <p:cNvSpPr/>
            <p:nvPr/>
          </p:nvSpPr>
          <p:spPr>
            <a:xfrm>
              <a:off x="903922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67430" y="438626"/>
              <a:ext cx="457891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d-Separation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Ellipse 20"/>
            <p:cNvSpPr/>
            <p:nvPr/>
          </p:nvSpPr>
          <p:spPr>
            <a:xfrm>
              <a:off x="9848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47063" y="438626"/>
              <a:ext cx="317873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FMEA RPN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Ellipse 22"/>
            <p:cNvSpPr/>
            <p:nvPr/>
          </p:nvSpPr>
          <p:spPr>
            <a:xfrm>
              <a:off x="10610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496812" y="438626"/>
              <a:ext cx="34237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Reflector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Ellipse 24"/>
            <p:cNvSpPr/>
            <p:nvPr/>
          </p:nvSpPr>
          <p:spPr>
            <a:xfrm>
              <a:off x="11287125" y="171450"/>
              <a:ext cx="190500" cy="190500"/>
            </a:xfrm>
            <a:prstGeom prst="ellipse">
              <a:avLst/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189077" y="414338"/>
              <a:ext cx="38659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Output</a:t>
              </a:r>
              <a:endParaRPr lang="zh-CN" sz="75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6000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6762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7524750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334375" y="2667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191625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00012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0763250" y="26670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1620500" y="180975"/>
              <a:ext cx="571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D5D8DC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1687175" y="238125"/>
              <a:ext cx="57150" cy="57150"/>
            </a:xfrm>
            <a:prstGeom prst="ellipse">
              <a:avLst/>
            </a:prstGeom>
            <a:solidFill>
              <a:srgbClr val="E8B93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785282" y="238601"/>
              <a:ext cx="24436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Ellipse 36"/>
            <p:cNvSpPr/>
            <p:nvPr/>
          </p:nvSpPr>
          <p:spPr>
            <a:xfrm>
              <a:off x="11687175" y="352425"/>
              <a:ext cx="57150" cy="57150"/>
            </a:xfrm>
            <a:prstGeom prst="ellipse">
              <a:avLst/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785282" y="352901"/>
              <a:ext cx="16735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71500" y="1143000"/>
            <a:ext cx="5143500" cy="4953000"/>
            <a:chOff x="571500" y="1143000"/>
            <a:chExt cx="5143500" cy="4953000"/>
          </a:xfrm>
        </p:grpSpPr>
        <p:sp>
          <p:nvSpPr>
            <p:cNvPr id="39" name="Rectangle 39"/>
            <p:cNvSpPr/>
            <p:nvPr/>
          </p:nvSpPr>
          <p:spPr>
            <a:xfrm>
              <a:off x="571500" y="1143000"/>
              <a:ext cx="5143500" cy="4953000"/>
            </a:xfrm>
            <a:prstGeom prst="roundRect">
              <a:avLst>
                <a:gd name="adj" fmla="val 2308"/>
              </a:avLst>
            </a:prstGeom>
            <a:solidFill>
              <a:srgbClr val="FFFFFF"/>
            </a:solidFill>
            <a:ln w="19050">
              <a:solidFill>
                <a:srgbClr val="E74C3C"/>
              </a:solidFill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40" name="Rectangle 40"/>
            <p:cNvSpPr/>
            <p:nvPr/>
          </p:nvSpPr>
          <p:spPr>
            <a:xfrm>
              <a:off x="571500" y="1143000"/>
              <a:ext cx="5143500" cy="428625"/>
            </a:xfrm>
            <a:prstGeom prst="roundRect">
              <a:avLst>
                <a:gd name="adj" fmla="val 26667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71500" y="1381125"/>
              <a:ext cx="5143500" cy="190500"/>
            </a:xfrm>
            <a:prstGeom prst="rect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906903" y="1283018"/>
              <a:ext cx="2472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Before — Config A (纯 LLM)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1066800" y="1733550"/>
              <a:ext cx="2819400" cy="2152650"/>
              <a:chOff x="1066800" y="1733550"/>
              <a:chExt cx="2819400" cy="2152650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1066800" y="2305050"/>
                <a:ext cx="533400" cy="533400"/>
              </a:xfrm>
              <a:prstGeom prst="ellipse">
                <a:avLst/>
              </a:prstGeom>
              <a:noFill/>
              <a:ln w="23812">
                <a:solidFill>
                  <a:srgbClr val="E74C3C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272054" y="2499360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</a:t>
                </a:r>
                <a:endPara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5" name="Line 45"/>
              <p:cNvSpPr/>
              <p:nvPr/>
            </p:nvSpPr>
            <p:spPr>
              <a:xfrm>
                <a:off x="1600200" y="2057400"/>
                <a:ext cx="6096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381000">
                    <a:moveTo>
                      <a:pt x="0" y="381000"/>
                    </a:moveTo>
                    <a:lnTo>
                      <a:pt x="609600" y="0"/>
                    </a:lnTo>
                  </a:path>
                </a:pathLst>
              </a:custGeom>
              <a:noFill/>
              <a:ln w="23812">
                <a:solidFill>
                  <a:srgbClr val="E74C3C"/>
                </a:solidFill>
              </a:ln>
            </p:spPr>
          </p:sp>
          <p:sp>
            <p:nvSpPr>
              <p:cNvPr id="46" name="Polygon 46"/>
              <p:cNvSpPr/>
              <p:nvPr/>
            </p:nvSpPr>
            <p:spPr>
              <a:xfrm>
                <a:off x="2114550" y="20193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38100"/>
                    </a:moveTo>
                    <a:lnTo>
                      <a:pt x="0" y="952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2209800" y="1733550"/>
                <a:ext cx="533400" cy="533400"/>
              </a:xfrm>
              <a:prstGeom prst="ellipse">
                <a:avLst/>
              </a:prstGeom>
              <a:noFill/>
              <a:ln w="23812">
                <a:solidFill>
                  <a:srgbClr val="E74C3C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2415054" y="1927860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B</a:t>
                </a:r>
                <a:endPara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9" name="Line 49"/>
              <p:cNvSpPr/>
              <p:nvPr/>
            </p:nvSpPr>
            <p:spPr>
              <a:xfrm>
                <a:off x="2743200" y="2133600"/>
                <a:ext cx="6096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571500">
                    <a:moveTo>
                      <a:pt x="0" y="0"/>
                    </a:moveTo>
                    <a:lnTo>
                      <a:pt x="609600" y="571500"/>
                    </a:lnTo>
                  </a:path>
                </a:pathLst>
              </a:custGeom>
              <a:noFill/>
              <a:ln w="23812">
                <a:solidFill>
                  <a:srgbClr val="E74C3C"/>
                </a:solidFill>
              </a:ln>
            </p:spPr>
          </p:sp>
          <p:sp>
            <p:nvSpPr>
              <p:cNvPr id="50" name="Polygon 50"/>
              <p:cNvSpPr/>
              <p:nvPr/>
            </p:nvSpPr>
            <p:spPr>
              <a:xfrm>
                <a:off x="3276600" y="264795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76200" y="57150"/>
                    </a:moveTo>
                    <a:lnTo>
                      <a:pt x="0" y="0"/>
                    </a:lnTo>
                    <a:lnTo>
                      <a:pt x="57150" y="114300"/>
                    </a:lnTo>
                    <a:close/>
                  </a:path>
                </a:pathLst>
              </a:cu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3352800" y="2305050"/>
                <a:ext cx="533400" cy="533400"/>
              </a:xfrm>
              <a:prstGeom prst="ellipse">
                <a:avLst/>
              </a:prstGeom>
              <a:noFill/>
              <a:ln w="23812">
                <a:solidFill>
                  <a:srgbClr val="E74C3C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3558054" y="2499360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</a:t>
                </a:r>
                <a:endPara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3" name="Line 53"/>
              <p:cNvSpPr/>
              <p:nvPr/>
            </p:nvSpPr>
            <p:spPr>
              <a:xfrm>
                <a:off x="3619500" y="2838450"/>
                <a:ext cx="9525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14350">
                    <a:moveTo>
                      <a:pt x="0" y="0"/>
                    </a:moveTo>
                    <a:lnTo>
                      <a:pt x="0" y="514350"/>
                    </a:lnTo>
                  </a:path>
                </a:pathLst>
              </a:custGeom>
              <a:noFill/>
              <a:ln w="19050">
                <a:solidFill>
                  <a:srgbClr val="E74C3C"/>
                </a:solidFill>
              </a:ln>
            </p:spPr>
          </p:sp>
          <p:sp>
            <p:nvSpPr>
              <p:cNvPr id="54" name="Polygon 54"/>
              <p:cNvSpPr/>
              <p:nvPr/>
            </p:nvSpPr>
            <p:spPr>
              <a:xfrm>
                <a:off x="3562350" y="3257550"/>
                <a:ext cx="1143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0">
                    <a:moveTo>
                      <a:pt x="57150" y="95250"/>
                    </a:moveTo>
                    <a:lnTo>
                      <a:pt x="0" y="0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3352800" y="3352800"/>
                <a:ext cx="533400" cy="533400"/>
              </a:xfrm>
              <a:prstGeom prst="ellipse">
                <a:avLst/>
              </a:prstGeom>
              <a:noFill/>
              <a:ln w="23812">
                <a:solidFill>
                  <a:srgbClr val="E74C3C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3558054" y="3547110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</a:t>
                </a:r>
                <a:endPara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1524000" y="2762250"/>
                <a:ext cx="18288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952500">
                    <a:moveTo>
                      <a:pt x="1828800" y="762000"/>
                    </a:moveTo>
                    <a:cubicBezTo>
                      <a:pt x="1117600" y="952500"/>
                      <a:pt x="508000" y="698500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E74C3C"/>
                </a:solidFill>
                <a:prstDash val="lgDash"/>
              </a:ln>
            </p:spPr>
          </p:sp>
          <p:sp>
            <p:nvSpPr>
              <p:cNvPr id="58" name="Polygon 58"/>
              <p:cNvSpPr/>
              <p:nvPr/>
            </p:nvSpPr>
            <p:spPr>
              <a:xfrm>
                <a:off x="1466850" y="2743200"/>
                <a:ext cx="133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0">
                    <a:moveTo>
                      <a:pt x="76200" y="0"/>
                    </a:moveTo>
                    <a:lnTo>
                      <a:pt x="0" y="95250"/>
                    </a:lnTo>
                    <a:lnTo>
                      <a:pt x="133350" y="76200"/>
                    </a:lnTo>
                    <a:close/>
                  </a:path>
                </a:pathLst>
              </a:cu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2095500" y="3190875"/>
                <a:ext cx="7620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2307123" y="3266599"/>
                <a:ext cx="3387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环路!</a:t>
                </a:r>
                <a:endPara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904875" y="4134802"/>
              <a:ext cx="2080641" cy="1127760"/>
              <a:chOff x="904875" y="4134802"/>
              <a:chExt cx="2080641" cy="1127760"/>
            </a:xfrm>
          </p:grpSpPr>
          <p:grpSp>
            <p:nvGrpSpPr>
              <p:cNvPr id="64" name="Group 64"/>
              <p:cNvGrpSpPr/>
              <p:nvPr/>
            </p:nvGrpSpPr>
            <p:grpSpPr>
              <a:xfrm>
                <a:off x="904875" y="4143375"/>
                <a:ext cx="95250" cy="95250"/>
                <a:chOff x="904875" y="4143375"/>
                <a:chExt cx="95250" cy="95250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904875" y="41433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904875" y="41433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</p:grpSp>
          <p:sp>
            <p:nvSpPr>
              <p:cNvPr id="65" name="TextBox 65"/>
              <p:cNvSpPr txBox="1"/>
              <p:nvPr/>
            </p:nvSpPr>
            <p:spPr>
              <a:xfrm>
                <a:off x="1110615" y="4134802"/>
                <a:ext cx="187490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存在环路 D→A，违反 DAG 约束</a:t>
                </a:r>
                <a:endParaRPr lang="zh-CN" sz="1050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68" name="Group 68"/>
              <p:cNvGrpSpPr/>
              <p:nvPr/>
            </p:nvGrpSpPr>
            <p:grpSpPr>
              <a:xfrm>
                <a:off x="904875" y="4448175"/>
                <a:ext cx="95250" cy="95250"/>
                <a:chOff x="904875" y="4448175"/>
                <a:chExt cx="95250" cy="95250"/>
              </a:xfrm>
            </p:grpSpPr>
            <p:sp>
              <p:nvSpPr>
                <p:cNvPr id="66" name="Freeform 66"/>
                <p:cNvSpPr/>
                <p:nvPr/>
              </p:nvSpPr>
              <p:spPr>
                <a:xfrm>
                  <a:off x="904875" y="44481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904875" y="44481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</p:grpSp>
          <p:sp>
            <p:nvSpPr>
              <p:cNvPr id="69" name="TextBox 69"/>
              <p:cNvSpPr txBox="1"/>
              <p:nvPr/>
            </p:nvSpPr>
            <p:spPr>
              <a:xfrm>
                <a:off x="1110615" y="4439602"/>
                <a:ext cx="12028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未进行 d-分离验证</a:t>
                </a:r>
                <a:endParaRPr lang="zh-CN" sz="1050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72" name="Group 72"/>
              <p:cNvGrpSpPr/>
              <p:nvPr/>
            </p:nvGrpSpPr>
            <p:grpSpPr>
              <a:xfrm>
                <a:off x="904875" y="4752975"/>
                <a:ext cx="95250" cy="95250"/>
                <a:chOff x="904875" y="4752975"/>
                <a:chExt cx="95250" cy="95250"/>
              </a:xfrm>
            </p:grpSpPr>
            <p:sp>
              <p:nvSpPr>
                <p:cNvPr id="70" name="Freeform 70"/>
                <p:cNvSpPr/>
                <p:nvPr/>
              </p:nvSpPr>
              <p:spPr>
                <a:xfrm>
                  <a:off x="904875" y="47529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904875" y="47529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</p:grpSp>
          <p:sp>
            <p:nvSpPr>
              <p:cNvPr id="73" name="TextBox 73"/>
              <p:cNvSpPr txBox="1"/>
              <p:nvPr/>
            </p:nvSpPr>
            <p:spPr>
              <a:xfrm>
                <a:off x="1110615" y="474440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无 FMEA 风险标注</a:t>
                </a:r>
                <a:endParaRPr lang="zh-CN" sz="1050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76" name="Group 76"/>
              <p:cNvGrpSpPr/>
              <p:nvPr/>
            </p:nvGrpSpPr>
            <p:grpSpPr>
              <a:xfrm>
                <a:off x="904875" y="5057775"/>
                <a:ext cx="95250" cy="95250"/>
                <a:chOff x="904875" y="5057775"/>
                <a:chExt cx="95250" cy="95250"/>
              </a:xfrm>
            </p:grpSpPr>
            <p:sp>
              <p:nvSpPr>
                <p:cNvPr id="74" name="Freeform 74"/>
                <p:cNvSpPr/>
                <p:nvPr/>
              </p:nvSpPr>
              <p:spPr>
                <a:xfrm>
                  <a:off x="904875" y="50577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904875" y="50577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</p:grpSp>
          <p:sp>
            <p:nvSpPr>
              <p:cNvPr id="77" name="TextBox 77"/>
              <p:cNvSpPr txBox="1"/>
              <p:nvPr/>
            </p:nvSpPr>
            <p:spPr>
              <a:xfrm>
                <a:off x="1110615" y="504920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无自纠错能力</a:t>
                </a:r>
                <a:endParaRPr lang="zh-CN" sz="1050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84" name="Group 84"/>
          <p:cNvGrpSpPr/>
          <p:nvPr/>
        </p:nvGrpSpPr>
        <p:grpSpPr>
          <a:xfrm>
            <a:off x="5810250" y="3048000"/>
            <a:ext cx="571500" cy="840581"/>
            <a:chOff x="5810250" y="3048000"/>
            <a:chExt cx="571500" cy="840581"/>
          </a:xfrm>
        </p:grpSpPr>
        <p:sp>
          <p:nvSpPr>
            <p:cNvPr id="80" name="Rectangle 80"/>
            <p:cNvSpPr/>
            <p:nvPr/>
          </p:nvSpPr>
          <p:spPr>
            <a:xfrm>
              <a:off x="5810250" y="3048000"/>
              <a:ext cx="571500" cy="762000"/>
            </a:xfrm>
            <a:prstGeom prst="roundRect">
              <a:avLst>
                <a:gd name="adj" fmla="val 50000"/>
              </a:avLst>
            </a:prstGeom>
            <a:solidFill>
              <a:srgbClr val="1A3C6E">
                <a:alpha val="10000"/>
              </a:srgbClr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003831" y="3187065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A3C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</a:t>
              </a:r>
              <a:endParaRPr lang="zh-CN" sz="1800" b="1" dirty="0">
                <a:solidFill>
                  <a:srgbClr val="1A3C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983760" y="3578066"/>
              <a:ext cx="2244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 轮</a:t>
              </a:r>
              <a:endParaRPr lang="zh-CN" sz="825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975509" y="3720941"/>
              <a:ext cx="24098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A3C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反思</a:t>
              </a:r>
              <a:endParaRPr lang="zh-CN" sz="825" dirty="0">
                <a:solidFill>
                  <a:srgbClr val="1A3C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6477000" y="1143000"/>
            <a:ext cx="5143500" cy="4953000"/>
            <a:chOff x="6477000" y="1143000"/>
            <a:chExt cx="5143500" cy="4953000"/>
          </a:xfrm>
        </p:grpSpPr>
        <p:sp>
          <p:nvSpPr>
            <p:cNvPr id="85" name="Rectangle 85"/>
            <p:cNvSpPr/>
            <p:nvPr/>
          </p:nvSpPr>
          <p:spPr>
            <a:xfrm>
              <a:off x="6477000" y="1143000"/>
              <a:ext cx="5143500" cy="4953000"/>
            </a:xfrm>
            <a:prstGeom prst="roundRect">
              <a:avLst>
                <a:gd name="adj" fmla="val 2308"/>
              </a:avLst>
            </a:prstGeom>
            <a:solidFill>
              <a:srgbClr val="FFFFFF"/>
            </a:solidFill>
            <a:ln w="19050">
              <a:solidFill>
                <a:srgbClr val="27AE60"/>
              </a:solidFill>
            </a:ln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86" name="Rectangle 86"/>
            <p:cNvSpPr/>
            <p:nvPr/>
          </p:nvSpPr>
          <p:spPr>
            <a:xfrm>
              <a:off x="6477000" y="1143000"/>
              <a:ext cx="5143500" cy="428625"/>
            </a:xfrm>
            <a:prstGeom prst="roundRect">
              <a:avLst>
                <a:gd name="adj" fmla="val 26667"/>
              </a:avLst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6477000" y="1381125"/>
              <a:ext cx="5143500" cy="190500"/>
            </a:xfrm>
            <a:prstGeom prst="rect">
              <a:avLst/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429630" y="1283018"/>
              <a:ext cx="32382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After — Config C (完整 EdgeThemis)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11" name="Group 111"/>
            <p:cNvGrpSpPr/>
            <p:nvPr/>
          </p:nvGrpSpPr>
          <p:grpSpPr>
            <a:xfrm>
              <a:off x="6715125" y="1733550"/>
              <a:ext cx="2886075" cy="2152650"/>
              <a:chOff x="6715125" y="1733550"/>
              <a:chExt cx="2886075" cy="2152650"/>
            </a:xfrm>
          </p:grpSpPr>
          <p:sp>
            <p:nvSpPr>
              <p:cNvPr id="89" name="Ellipse 89"/>
              <p:cNvSpPr/>
              <p:nvPr/>
            </p:nvSpPr>
            <p:spPr>
              <a:xfrm>
                <a:off x="6781800" y="2305050"/>
                <a:ext cx="533400" cy="533400"/>
              </a:xfrm>
              <a:prstGeom prst="ellipse">
                <a:avLst/>
              </a:pr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6987054" y="2499360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</a:t>
                </a:r>
                <a:endParaRPr lang="zh-CN" sz="120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1" name="Line 91"/>
              <p:cNvSpPr/>
              <p:nvPr/>
            </p:nvSpPr>
            <p:spPr>
              <a:xfrm>
                <a:off x="7315200" y="2057400"/>
                <a:ext cx="6096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381000">
                    <a:moveTo>
                      <a:pt x="0" y="381000"/>
                    </a:moveTo>
                    <a:lnTo>
                      <a:pt x="609600" y="0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92" name="Polygon 92"/>
              <p:cNvSpPr/>
              <p:nvPr/>
            </p:nvSpPr>
            <p:spPr>
              <a:xfrm>
                <a:off x="7829550" y="20193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38100"/>
                    </a:moveTo>
                    <a:lnTo>
                      <a:pt x="0" y="952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7AE60"/>
              </a:solidFill>
              <a:ln>
                <a:noFill/>
              </a:ln>
            </p:spPr>
          </p:sp>
          <p:sp>
            <p:nvSpPr>
              <p:cNvPr id="93" name="Rectangle 93"/>
              <p:cNvSpPr/>
              <p:nvPr/>
            </p:nvSpPr>
            <p:spPr>
              <a:xfrm>
                <a:off x="7334250" y="2095500"/>
                <a:ext cx="523875" cy="171450"/>
              </a:xfrm>
              <a:prstGeom prst="roundRect">
                <a:avLst>
                  <a:gd name="adj" fmla="val 22222"/>
                </a:avLst>
              </a:prstGeom>
              <a:solidFill>
                <a:srgbClr val="E74C3C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7411402" y="2138362"/>
                <a:ext cx="379095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E74C3C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RPN 850</a:t>
                </a:r>
                <a:endParaRPr lang="zh-CN" sz="750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95" name="Ellipse 95"/>
              <p:cNvSpPr/>
              <p:nvPr/>
            </p:nvSpPr>
            <p:spPr>
              <a:xfrm>
                <a:off x="7924800" y="1733550"/>
                <a:ext cx="533400" cy="533400"/>
              </a:xfrm>
              <a:prstGeom prst="ellipse">
                <a:avLst/>
              </a:pr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8130054" y="1927860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B</a:t>
                </a:r>
                <a:endParaRPr lang="zh-CN" sz="120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7" name="Line 97"/>
              <p:cNvSpPr/>
              <p:nvPr/>
            </p:nvSpPr>
            <p:spPr>
              <a:xfrm>
                <a:off x="8458200" y="2133600"/>
                <a:ext cx="6096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571500">
                    <a:moveTo>
                      <a:pt x="0" y="0"/>
                    </a:moveTo>
                    <a:lnTo>
                      <a:pt x="609600" y="571500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98" name="Polygon 98"/>
              <p:cNvSpPr/>
              <p:nvPr/>
            </p:nvSpPr>
            <p:spPr>
              <a:xfrm>
                <a:off x="8991600" y="264795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76200" y="57150"/>
                    </a:moveTo>
                    <a:lnTo>
                      <a:pt x="0" y="0"/>
                    </a:lnTo>
                    <a:lnTo>
                      <a:pt x="57150" y="114300"/>
                    </a:lnTo>
                    <a:close/>
                  </a:path>
                </a:pathLst>
              </a:custGeom>
              <a:solidFill>
                <a:srgbClr val="27AE60"/>
              </a:solidFill>
              <a:ln>
                <a:noFill/>
              </a:ln>
            </p:spPr>
          </p:sp>
          <p:sp>
            <p:nvSpPr>
              <p:cNvPr id="99" name="Rectangle 99"/>
              <p:cNvSpPr/>
              <p:nvPr/>
            </p:nvSpPr>
            <p:spPr>
              <a:xfrm>
                <a:off x="8524875" y="2305050"/>
                <a:ext cx="523875" cy="171450"/>
              </a:xfrm>
              <a:prstGeom prst="roundRect">
                <a:avLst>
                  <a:gd name="adj" fmla="val 22222"/>
                </a:avLst>
              </a:prstGeom>
              <a:solidFill>
                <a:srgbClr val="E8B931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00" name="TextBox 100"/>
              <p:cNvSpPr txBox="1"/>
              <p:nvPr/>
            </p:nvSpPr>
            <p:spPr>
              <a:xfrm>
                <a:off x="8592502" y="2347912"/>
                <a:ext cx="379095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E8B931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RPN 420</a:t>
                </a:r>
                <a:endParaRPr lang="zh-CN" sz="750" dirty="0">
                  <a:solidFill>
                    <a:srgbClr val="E8B93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01" name="Ellipse 101"/>
              <p:cNvSpPr/>
              <p:nvPr/>
            </p:nvSpPr>
            <p:spPr>
              <a:xfrm>
                <a:off x="9067800" y="2305050"/>
                <a:ext cx="533400" cy="533400"/>
              </a:xfrm>
              <a:prstGeom prst="ellipse">
                <a:avLst/>
              </a:pr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9273054" y="2499360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</a:t>
                </a:r>
                <a:endParaRPr lang="zh-CN" sz="120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3" name="Line 103"/>
              <p:cNvSpPr/>
              <p:nvPr/>
            </p:nvSpPr>
            <p:spPr>
              <a:xfrm>
                <a:off x="9334500" y="2838450"/>
                <a:ext cx="9525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14350">
                    <a:moveTo>
                      <a:pt x="0" y="0"/>
                    </a:moveTo>
                    <a:lnTo>
                      <a:pt x="0" y="514350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104" name="Polygon 104"/>
              <p:cNvSpPr/>
              <p:nvPr/>
            </p:nvSpPr>
            <p:spPr>
              <a:xfrm>
                <a:off x="9277350" y="3257550"/>
                <a:ext cx="1143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0">
                    <a:moveTo>
                      <a:pt x="57150" y="95250"/>
                    </a:moveTo>
                    <a:lnTo>
                      <a:pt x="0" y="0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27AE60"/>
              </a:solidFill>
              <a:ln>
                <a:noFill/>
              </a:ln>
            </p:spPr>
          </p:sp>
          <p:sp>
            <p:nvSpPr>
              <p:cNvPr id="105" name="Ellipse 105"/>
              <p:cNvSpPr/>
              <p:nvPr/>
            </p:nvSpPr>
            <p:spPr>
              <a:xfrm>
                <a:off x="9067800" y="3352800"/>
                <a:ext cx="533400" cy="533400"/>
              </a:xfrm>
              <a:prstGeom prst="ellipse">
                <a:avLst/>
              </a:pr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106" name="TextBox 106"/>
              <p:cNvSpPr txBox="1"/>
              <p:nvPr/>
            </p:nvSpPr>
            <p:spPr>
              <a:xfrm>
                <a:off x="9273054" y="3547110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</a:t>
                </a:r>
                <a:endParaRPr lang="zh-CN" sz="120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7" name="Line 107"/>
              <p:cNvSpPr/>
              <p:nvPr/>
            </p:nvSpPr>
            <p:spPr>
              <a:xfrm>
                <a:off x="7048500" y="2838450"/>
                <a:ext cx="9525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14350">
                    <a:moveTo>
                      <a:pt x="0" y="0"/>
                    </a:moveTo>
                    <a:lnTo>
                      <a:pt x="0" y="514350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108" name="Polygon 108"/>
              <p:cNvSpPr/>
              <p:nvPr/>
            </p:nvSpPr>
            <p:spPr>
              <a:xfrm>
                <a:off x="6991350" y="3257550"/>
                <a:ext cx="1143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0">
                    <a:moveTo>
                      <a:pt x="57150" y="95250"/>
                    </a:moveTo>
                    <a:lnTo>
                      <a:pt x="0" y="0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27AE60"/>
              </a:solidFill>
              <a:ln>
                <a:noFill/>
              </a:ln>
            </p:spPr>
          </p:sp>
          <p:sp>
            <p:nvSpPr>
              <p:cNvPr id="109" name="Rectangle 109"/>
              <p:cNvSpPr/>
              <p:nvPr/>
            </p:nvSpPr>
            <p:spPr>
              <a:xfrm>
                <a:off x="6715125" y="2952750"/>
                <a:ext cx="523875" cy="171450"/>
              </a:xfrm>
              <a:prstGeom prst="roundRect">
                <a:avLst>
                  <a:gd name="adj" fmla="val 22222"/>
                </a:avLst>
              </a:prstGeom>
              <a:solidFill>
                <a:srgbClr val="27AE60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6782752" y="2995612"/>
                <a:ext cx="379095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27AE60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RPN 210</a:t>
                </a:r>
                <a:endParaRPr lang="zh-CN" sz="750" dirty="0">
                  <a:solidFill>
                    <a:srgbClr val="27AE6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grpSp>
          <p:nvGrpSpPr>
            <p:cNvPr id="128" name="Group 128"/>
            <p:cNvGrpSpPr/>
            <p:nvPr/>
          </p:nvGrpSpPr>
          <p:grpSpPr>
            <a:xfrm>
              <a:off x="6786562" y="4119562"/>
              <a:ext cx="2195465" cy="1143000"/>
              <a:chOff x="6786562" y="4119562"/>
              <a:chExt cx="2195465" cy="1143000"/>
            </a:xfrm>
          </p:grpSpPr>
          <p:grpSp>
            <p:nvGrpSpPr>
              <p:cNvPr id="114" name="Group 114"/>
              <p:cNvGrpSpPr/>
              <p:nvPr/>
            </p:nvGrpSpPr>
            <p:grpSpPr>
              <a:xfrm>
                <a:off x="6786562" y="4119562"/>
                <a:ext cx="142875" cy="142875"/>
                <a:chOff x="6786562" y="4119562"/>
                <a:chExt cx="142875" cy="142875"/>
              </a:xfrm>
            </p:grpSpPr>
            <p:sp>
              <p:nvSpPr>
                <p:cNvPr id="112" name="Freeform 112"/>
                <p:cNvSpPr/>
                <p:nvPr/>
              </p:nvSpPr>
              <p:spPr>
                <a:xfrm>
                  <a:off x="6786562" y="411956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  <p:sp>
              <p:nvSpPr>
                <p:cNvPr id="113" name="Freeform 113"/>
                <p:cNvSpPr/>
                <p:nvPr/>
              </p:nvSpPr>
              <p:spPr>
                <a:xfrm>
                  <a:off x="6834188" y="417512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</p:grpSp>
          <p:sp>
            <p:nvSpPr>
              <p:cNvPr id="115" name="TextBox 115"/>
              <p:cNvSpPr txBox="1"/>
              <p:nvPr/>
            </p:nvSpPr>
            <p:spPr>
              <a:xfrm>
                <a:off x="7016115" y="4134802"/>
                <a:ext cx="16998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环路消除，DAG 合法性通过</a:t>
                </a:r>
                <a:endParaRPr lang="zh-CN" sz="1050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118" name="Group 118"/>
              <p:cNvGrpSpPr/>
              <p:nvPr/>
            </p:nvGrpSpPr>
            <p:grpSpPr>
              <a:xfrm>
                <a:off x="6786562" y="4424362"/>
                <a:ext cx="142875" cy="142875"/>
                <a:chOff x="6786562" y="4424362"/>
                <a:chExt cx="142875" cy="142875"/>
              </a:xfrm>
            </p:grpSpPr>
            <p:sp>
              <p:nvSpPr>
                <p:cNvPr id="116" name="Freeform 116"/>
                <p:cNvSpPr/>
                <p:nvPr/>
              </p:nvSpPr>
              <p:spPr>
                <a:xfrm>
                  <a:off x="6786562" y="442436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  <p:sp>
              <p:nvSpPr>
                <p:cNvPr id="117" name="Freeform 117"/>
                <p:cNvSpPr/>
                <p:nvPr/>
              </p:nvSpPr>
              <p:spPr>
                <a:xfrm>
                  <a:off x="6834188" y="447992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</p:grpSp>
          <p:sp>
            <p:nvSpPr>
              <p:cNvPr id="119" name="TextBox 119"/>
              <p:cNvSpPr txBox="1"/>
              <p:nvPr/>
            </p:nvSpPr>
            <p:spPr>
              <a:xfrm>
                <a:off x="7016115" y="4439602"/>
                <a:ext cx="144084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d-分离一致性验证通过</a:t>
                </a:r>
                <a:endParaRPr lang="zh-CN" sz="1050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122" name="Group 122"/>
              <p:cNvGrpSpPr/>
              <p:nvPr/>
            </p:nvGrpSpPr>
            <p:grpSpPr>
              <a:xfrm>
                <a:off x="6786562" y="4729162"/>
                <a:ext cx="142875" cy="142875"/>
                <a:chOff x="6786562" y="4729162"/>
                <a:chExt cx="142875" cy="142875"/>
              </a:xfrm>
            </p:grpSpPr>
            <p:sp>
              <p:nvSpPr>
                <p:cNvPr id="120" name="Freeform 120"/>
                <p:cNvSpPr/>
                <p:nvPr/>
              </p:nvSpPr>
              <p:spPr>
                <a:xfrm>
                  <a:off x="6786562" y="472916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  <p:sp>
              <p:nvSpPr>
                <p:cNvPr id="121" name="Freeform 121"/>
                <p:cNvSpPr/>
                <p:nvPr/>
              </p:nvSpPr>
              <p:spPr>
                <a:xfrm>
                  <a:off x="6834188" y="478472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</p:grpSp>
          <p:sp>
            <p:nvSpPr>
              <p:cNvPr id="123" name="TextBox 123"/>
              <p:cNvSpPr txBox="1"/>
              <p:nvPr/>
            </p:nvSpPr>
            <p:spPr>
              <a:xfrm>
                <a:off x="7016115" y="4744402"/>
                <a:ext cx="183989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每条边标注 FMEA RPN 风险值</a:t>
                </a:r>
                <a:endParaRPr lang="zh-CN" sz="1050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126" name="Group 126"/>
              <p:cNvGrpSpPr/>
              <p:nvPr/>
            </p:nvGrpSpPr>
            <p:grpSpPr>
              <a:xfrm>
                <a:off x="6786562" y="5033962"/>
                <a:ext cx="142875" cy="142875"/>
                <a:chOff x="6786562" y="5033962"/>
                <a:chExt cx="142875" cy="142875"/>
              </a:xfrm>
            </p:grpSpPr>
            <p:sp>
              <p:nvSpPr>
                <p:cNvPr id="124" name="Freeform 124"/>
                <p:cNvSpPr/>
                <p:nvPr/>
              </p:nvSpPr>
              <p:spPr>
                <a:xfrm>
                  <a:off x="6786562" y="503396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  <p:sp>
              <p:nvSpPr>
                <p:cNvPr id="125" name="Freeform 125"/>
                <p:cNvSpPr/>
                <p:nvPr/>
              </p:nvSpPr>
              <p:spPr>
                <a:xfrm>
                  <a:off x="6834188" y="508952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</p:spPr>
            </p:sp>
          </p:grpSp>
          <p:sp>
            <p:nvSpPr>
              <p:cNvPr id="127" name="TextBox 127"/>
              <p:cNvSpPr txBox="1"/>
              <p:nvPr/>
            </p:nvSpPr>
            <p:spPr>
              <a:xfrm>
                <a:off x="7016115" y="5049202"/>
                <a:ext cx="196591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7AE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高风险边自动告警 (RPN &gt; 500)</a:t>
                </a:r>
                <a:endParaRPr lang="zh-CN" sz="1050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32" name="Group 132"/>
          <p:cNvGrpSpPr/>
          <p:nvPr/>
        </p:nvGrpSpPr>
        <p:grpSpPr>
          <a:xfrm>
            <a:off x="560070" y="6522720"/>
            <a:ext cx="11071860" cy="182880"/>
            <a:chOff x="560070" y="6522720"/>
            <a:chExt cx="11071860" cy="182880"/>
          </a:xfrm>
        </p:grpSpPr>
        <p:sp>
          <p:nvSpPr>
            <p:cNvPr id="130" name="TextBox 130"/>
            <p:cNvSpPr txBox="1"/>
            <p:nvPr/>
          </p:nvSpPr>
          <p:spPr>
            <a:xfrm>
              <a:off x="560070" y="652272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10954988" y="6522720"/>
              <a:ext cx="6769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EdgeThemis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79" grpId="0"/>
      <p:bldP spid="84" grpId="0"/>
      <p:bldP spid="1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46710"/>
            <a:ext cx="11049000" cy="548640"/>
            <a:chOff x="571500" y="346710"/>
            <a:chExt cx="11049000" cy="548640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1A3C6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8660" y="346710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结论与展望</a:t>
              </a:r>
              <a:endParaRPr lang="zh-CN" sz="270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030855" y="492442"/>
              <a:ext cx="22215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Conclusion &amp; Future Work</a:t>
              </a:r>
              <a:endParaRPr lang="zh-CN" sz="13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619750" y="133350"/>
            <a:ext cx="6572250" cy="433388"/>
            <a:chOff x="5619750" y="133350"/>
            <a:chExt cx="6572250" cy="433388"/>
          </a:xfrm>
        </p:grpSpPr>
        <p:sp>
          <p:nvSpPr>
            <p:cNvPr id="8" name="Rectangle 8"/>
            <p:cNvSpPr/>
            <p:nvPr/>
          </p:nvSpPr>
          <p:spPr>
            <a:xfrm>
              <a:off x="5619750" y="133350"/>
              <a:ext cx="6096000" cy="400050"/>
            </a:xfrm>
            <a:prstGeom prst="roundRect">
              <a:avLst>
                <a:gd name="adj" fmla="val 14286"/>
              </a:avLst>
            </a:prstGeom>
            <a:solidFill>
              <a:srgbClr val="F5F7FA"/>
            </a:solidFill>
            <a:ln w="9525">
              <a:solidFill>
                <a:srgbClr val="D5D8DC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5848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11322" y="438626"/>
              <a:ext cx="188357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Ellipse 11"/>
            <p:cNvSpPr/>
            <p:nvPr/>
          </p:nvSpPr>
          <p:spPr>
            <a:xfrm>
              <a:off x="6610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87561" y="438626"/>
              <a:ext cx="359878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Generator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Ellipse 13"/>
            <p:cNvSpPr/>
            <p:nvPr/>
          </p:nvSpPr>
          <p:spPr>
            <a:xfrm>
              <a:off x="73723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67063" y="438626"/>
              <a:ext cx="32487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Interning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818197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57436" y="438626"/>
              <a:ext cx="363379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Kahn Cycle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9039225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67430" y="438626"/>
              <a:ext cx="457891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d-Separation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9848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47063" y="438626"/>
              <a:ext cx="317873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FMEA RPN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Ellipse 21"/>
            <p:cNvSpPr/>
            <p:nvPr/>
          </p:nvSpPr>
          <p:spPr>
            <a:xfrm>
              <a:off x="10610850" y="209550"/>
              <a:ext cx="114300" cy="114300"/>
            </a:xfrm>
            <a:prstGeom prst="ellipse">
              <a:avLst/>
            </a:prstGeom>
            <a:solidFill>
              <a:srgbClr val="D5D8D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96812" y="438626"/>
              <a:ext cx="342376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Reflector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11287125" y="171450"/>
              <a:ext cx="190500" cy="190500"/>
            </a:xfrm>
            <a:prstGeom prst="ellipse">
              <a:avLst/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189077" y="414338"/>
              <a:ext cx="38659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27AE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Output</a:t>
              </a:r>
              <a:endParaRPr lang="zh-CN" sz="750" b="1" dirty="0">
                <a:solidFill>
                  <a:srgbClr val="27AE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6000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7627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524750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334375" y="2667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91625" y="2667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0001250" y="2667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0763250" y="26670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14288">
              <a:solidFill>
                <a:srgbClr val="D5D8D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1620500" y="180975"/>
              <a:ext cx="571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D5D8DC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1687175" y="238125"/>
              <a:ext cx="57150" cy="57150"/>
            </a:xfrm>
            <a:prstGeom prst="ellipse">
              <a:avLst/>
            </a:prstGeom>
            <a:solidFill>
              <a:srgbClr val="E8B93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785282" y="238601"/>
              <a:ext cx="24436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Ellipse 35"/>
            <p:cNvSpPr/>
            <p:nvPr/>
          </p:nvSpPr>
          <p:spPr>
            <a:xfrm>
              <a:off x="11687175" y="352425"/>
              <a:ext cx="57150" cy="57150"/>
            </a:xfrm>
            <a:prstGeom prst="ellipse">
              <a:avLst/>
            </a:prstGeom>
            <a:solidFill>
              <a:srgbClr val="2E86D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785282" y="352901"/>
              <a:ext cx="167354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Rust</a:t>
              </a:r>
              <a:endParaRPr lang="zh-CN" sz="5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50545" y="1060132"/>
            <a:ext cx="5307330" cy="4464368"/>
            <a:chOff x="550545" y="1060132"/>
            <a:chExt cx="5307330" cy="4464368"/>
          </a:xfrm>
        </p:grpSpPr>
        <p:sp>
          <p:nvSpPr>
            <p:cNvPr id="38" name="TextBox 38"/>
            <p:cNvSpPr txBox="1"/>
            <p:nvPr/>
          </p:nvSpPr>
          <p:spPr>
            <a:xfrm>
              <a:off x="550545" y="10601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C6E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结论</a:t>
              </a:r>
              <a:endParaRPr lang="zh-CN" sz="1650" b="1" dirty="0">
                <a:solidFill>
                  <a:srgbClr val="1A3C6E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39" name="Line 39"/>
            <p:cNvSpPr/>
            <p:nvPr/>
          </p:nvSpPr>
          <p:spPr>
            <a:xfrm>
              <a:off x="571500" y="135255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19050">
              <a:solidFill>
                <a:srgbClr val="2E86DE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952500" y="1619250"/>
              <a:ext cx="9525" cy="3905250"/>
            </a:xfrm>
            <a:custGeom>
              <a:avLst/>
              <a:gdLst/>
              <a:ahLst/>
              <a:cxnLst/>
              <a:rect l="l" t="t" r="r" b="b"/>
              <a:pathLst>
                <a:path w="9525" h="3905250">
                  <a:moveTo>
                    <a:pt x="0" y="0"/>
                  </a:moveTo>
                  <a:lnTo>
                    <a:pt x="0" y="3905250"/>
                  </a:lnTo>
                </a:path>
              </a:pathLst>
            </a:custGeom>
            <a:noFill/>
            <a:ln w="28575">
              <a:solidFill>
                <a:srgbClr val="1A3C6E">
                  <a:alpha val="15000"/>
                </a:srgbClr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23900" y="1571625"/>
              <a:ext cx="5133975" cy="857250"/>
              <a:chOff x="723900" y="1571625"/>
              <a:chExt cx="5133975" cy="857250"/>
            </a:xfrm>
          </p:grpSpPr>
          <p:sp>
            <p:nvSpPr>
              <p:cNvPr id="41" name="Ellipse 41"/>
              <p:cNvSpPr/>
              <p:nvPr/>
            </p:nvSpPr>
            <p:spPr>
              <a:xfrm>
                <a:off x="723900" y="1676400"/>
                <a:ext cx="457200" cy="457200"/>
              </a:xfrm>
              <a:prstGeom prst="ellipse">
                <a:avLst/>
              </a:prstGeom>
              <a:solidFill>
                <a:srgbClr val="1A3C6E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800100" y="1752600"/>
                <a:ext cx="304800" cy="304800"/>
              </a:xfrm>
              <a:prstGeom prst="ellipse">
                <a:avLst/>
              </a:prstGeom>
              <a:solidFill>
                <a:srgbClr val="1A3C6E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98735" y="18488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Line 44"/>
              <p:cNvSpPr/>
              <p:nvPr/>
            </p:nvSpPr>
            <p:spPr>
              <a:xfrm>
                <a:off x="1181100" y="1905000"/>
                <a:ext cx="295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5275" h="9525">
                    <a:moveTo>
                      <a:pt x="0" y="0"/>
                    </a:moveTo>
                    <a:lnTo>
                      <a:pt x="295275" y="0"/>
                    </a:lnTo>
                  </a:path>
                </a:pathLst>
              </a:custGeom>
              <a:noFill/>
              <a:ln w="19050">
                <a:solidFill>
                  <a:srgbClr val="1A3C6E"/>
                </a:solidFill>
                <a:custDash>
                  <a:ds d="200000" sp="150000"/>
                </a:custDash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1476375" y="1571625"/>
                <a:ext cx="4381500" cy="857250"/>
                <a:chOff x="1476375" y="1571625"/>
                <a:chExt cx="4381500" cy="857250"/>
              </a:xfrm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grpSpPr>
            <p:sp>
              <p:nvSpPr>
                <p:cNvPr id="45" name="Rectangle 45"/>
                <p:cNvSpPr/>
                <p:nvPr/>
              </p:nvSpPr>
              <p:spPr>
                <a:xfrm>
                  <a:off x="1476375" y="1571625"/>
                  <a:ext cx="4381500" cy="857250"/>
                </a:xfrm>
                <a:prstGeom prst="roundRect">
                  <a:avLst>
                    <a:gd name="adj" fmla="val 11111"/>
                  </a:avLst>
                </a:prstGeom>
                <a:solidFill>
                  <a:srgbClr val="FFFFFF"/>
                </a:solidFill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46" name="Rectangle 46"/>
                <p:cNvSpPr/>
                <p:nvPr/>
              </p:nvSpPr>
              <p:spPr>
                <a:xfrm>
                  <a:off x="1476375" y="1571625"/>
                  <a:ext cx="47625" cy="8572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A3C6E"/>
                </a:solidFill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1651635" y="1727835"/>
                <a:ext cx="204673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首次将 FMEA 工业风险评估</a:t>
                </a:r>
                <a:endParaRPr lang="zh-CN" sz="12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651635" y="1946910"/>
                <a:ext cx="161827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与 LLM 因果推理结合</a:t>
                </a:r>
                <a:endParaRPr lang="zh-CN" sz="12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654492" y="2209324"/>
                <a:ext cx="259258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实现因果边级别的风险量化（S/O/D → RPN）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723900" y="2809875"/>
              <a:ext cx="5133975" cy="857250"/>
              <a:chOff x="723900" y="2809875"/>
              <a:chExt cx="5133975" cy="857250"/>
            </a:xfrm>
          </p:grpSpPr>
          <p:sp>
            <p:nvSpPr>
              <p:cNvPr id="52" name="Ellipse 52"/>
              <p:cNvSpPr/>
              <p:nvPr/>
            </p:nvSpPr>
            <p:spPr>
              <a:xfrm>
                <a:off x="723900" y="2914650"/>
                <a:ext cx="457200" cy="457200"/>
              </a:xfrm>
              <a:prstGeom prst="ellipse">
                <a:avLst/>
              </a:prstGeom>
              <a:solidFill>
                <a:srgbClr val="2E86DE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800100" y="2990850"/>
                <a:ext cx="304800" cy="304800"/>
              </a:xfrm>
              <a:prstGeom prst="ellipse">
                <a:avLst/>
              </a:prstGeom>
              <a:solidFill>
                <a:srgbClr val="2E86DE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898735" y="30870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5" name="Line 55"/>
              <p:cNvSpPr/>
              <p:nvPr/>
            </p:nvSpPr>
            <p:spPr>
              <a:xfrm>
                <a:off x="1181100" y="3143250"/>
                <a:ext cx="295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5275" h="9525">
                    <a:moveTo>
                      <a:pt x="0" y="0"/>
                    </a:moveTo>
                    <a:lnTo>
                      <a:pt x="295275" y="0"/>
                    </a:lnTo>
                  </a:path>
                </a:pathLst>
              </a:custGeom>
              <a:noFill/>
              <a:ln w="19050">
                <a:solidFill>
                  <a:srgbClr val="2E86DE"/>
                </a:solidFill>
                <a:custDash>
                  <a:ds d="200000" sp="150000"/>
                </a:custDash>
              </a:ln>
            </p:spPr>
          </p:sp>
          <p:grpSp>
            <p:nvGrpSpPr>
              <p:cNvPr id="58" name="Group 58"/>
              <p:cNvGrpSpPr/>
              <p:nvPr/>
            </p:nvGrpSpPr>
            <p:grpSpPr>
              <a:xfrm>
                <a:off x="1476375" y="2809875"/>
                <a:ext cx="4381500" cy="857250"/>
                <a:chOff x="1476375" y="2809875"/>
                <a:chExt cx="4381500" cy="857250"/>
              </a:xfrm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grpSpPr>
            <p:sp>
              <p:nvSpPr>
                <p:cNvPr id="56" name="Rectangle 56"/>
                <p:cNvSpPr/>
                <p:nvPr/>
              </p:nvSpPr>
              <p:spPr>
                <a:xfrm>
                  <a:off x="1476375" y="2809875"/>
                  <a:ext cx="4381500" cy="857250"/>
                </a:xfrm>
                <a:prstGeom prst="roundRect">
                  <a:avLst>
                    <a:gd name="adj" fmla="val 11111"/>
                  </a:avLst>
                </a:prstGeom>
                <a:solidFill>
                  <a:srgbClr val="FFFFFF"/>
                </a:solidFill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57" name="Rectangle 57"/>
                <p:cNvSpPr/>
                <p:nvPr/>
              </p:nvSpPr>
              <p:spPr>
                <a:xfrm>
                  <a:off x="1476375" y="2809875"/>
                  <a:ext cx="47625" cy="8572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E86DE"/>
                </a:solidFill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</p:grpSp>
          <p:sp>
            <p:nvSpPr>
              <p:cNvPr id="59" name="TextBox 59"/>
              <p:cNvSpPr txBox="1"/>
              <p:nvPr/>
            </p:nvSpPr>
            <p:spPr>
              <a:xfrm>
                <a:off x="1651635" y="2966085"/>
                <a:ext cx="292044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Bayesian Ball d-分离 + Kahn 环路检测</a:t>
                </a:r>
                <a:endParaRPr lang="zh-CN" sz="12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1651635" y="3185160"/>
                <a:ext cx="171069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实现轻量级形式化验证</a:t>
                </a:r>
                <a:endParaRPr lang="zh-CN" sz="12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1654492" y="3447574"/>
                <a:ext cx="22350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O(V+E) 复杂度，Rust FFI 零拷贝调用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723900" y="4048125"/>
              <a:ext cx="5133975" cy="857250"/>
              <a:chOff x="723900" y="4048125"/>
              <a:chExt cx="5133975" cy="857250"/>
            </a:xfrm>
          </p:grpSpPr>
          <p:sp>
            <p:nvSpPr>
              <p:cNvPr id="63" name="Ellipse 63"/>
              <p:cNvSpPr/>
              <p:nvPr/>
            </p:nvSpPr>
            <p:spPr>
              <a:xfrm>
                <a:off x="723900" y="4152900"/>
                <a:ext cx="457200" cy="457200"/>
              </a:xfrm>
              <a:prstGeom prst="ellipse">
                <a:avLst/>
              </a:prstGeom>
              <a:solidFill>
                <a:srgbClr val="E8B931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800100" y="4229100"/>
                <a:ext cx="304800" cy="304800"/>
              </a:xfrm>
              <a:prstGeom prst="ellipse">
                <a:avLst/>
              </a:prstGeom>
              <a:solidFill>
                <a:srgbClr val="E8B931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898735" y="4325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3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6" name="Line 66"/>
              <p:cNvSpPr/>
              <p:nvPr/>
            </p:nvSpPr>
            <p:spPr>
              <a:xfrm>
                <a:off x="1181100" y="4381500"/>
                <a:ext cx="295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5275" h="9525">
                    <a:moveTo>
                      <a:pt x="0" y="0"/>
                    </a:moveTo>
                    <a:lnTo>
                      <a:pt x="295275" y="0"/>
                    </a:lnTo>
                  </a:path>
                </a:pathLst>
              </a:custGeom>
              <a:noFill/>
              <a:ln w="19050">
                <a:solidFill>
                  <a:srgbClr val="E8B931"/>
                </a:solidFill>
                <a:custDash>
                  <a:ds d="200000" sp="150000"/>
                </a:custDash>
              </a:ln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1476375" y="4048125"/>
                <a:ext cx="4381500" cy="857250"/>
                <a:chOff x="1476375" y="4048125"/>
                <a:chExt cx="4381500" cy="857250"/>
              </a:xfrm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grpSpPr>
            <p:sp>
              <p:nvSpPr>
                <p:cNvPr id="67" name="Rectangle 67"/>
                <p:cNvSpPr/>
                <p:nvPr/>
              </p:nvSpPr>
              <p:spPr>
                <a:xfrm>
                  <a:off x="1476375" y="4048125"/>
                  <a:ext cx="4381500" cy="857250"/>
                </a:xfrm>
                <a:prstGeom prst="roundRect">
                  <a:avLst>
                    <a:gd name="adj" fmla="val 11111"/>
                  </a:avLst>
                </a:prstGeom>
                <a:solidFill>
                  <a:srgbClr val="FFFFFF"/>
                </a:solidFill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68" name="Rectangle 68"/>
                <p:cNvSpPr/>
                <p:nvPr/>
              </p:nvSpPr>
              <p:spPr>
                <a:xfrm>
                  <a:off x="1476375" y="4048125"/>
                  <a:ext cx="47625" cy="8572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8B931"/>
                </a:solidFill>
                <a:ln>
                  <a:noFill/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1651635" y="4204335"/>
                <a:ext cx="288683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自反思闭环显著提升因果图逻辑一致性</a:t>
                </a:r>
                <a:endParaRPr lang="zh-CN" sz="12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1651635" y="4423410"/>
                <a:ext cx="151746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3 轮内修正率 &gt; 90%</a:t>
                </a:r>
                <a:endParaRPr lang="zh-CN" sz="12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1654492" y="4685824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熔断机制保障系统稳定性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75" name="Line 75"/>
          <p:cNvSpPr/>
          <p:nvPr/>
        </p:nvSpPr>
        <p:spPr>
          <a:xfrm>
            <a:off x="6096000" y="11430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9525">
            <a:solidFill>
              <a:srgbClr val="D5D8DC"/>
            </a:solidFill>
            <a:custDash>
              <a:ds d="600000" sp="400000"/>
            </a:custDash>
          </a:ln>
        </p:spPr>
      </p:sp>
      <p:grpSp>
        <p:nvGrpSpPr>
          <p:cNvPr id="113" name="Group 113"/>
          <p:cNvGrpSpPr/>
          <p:nvPr/>
        </p:nvGrpSpPr>
        <p:grpSpPr>
          <a:xfrm>
            <a:off x="6456045" y="1060132"/>
            <a:ext cx="5164455" cy="4083368"/>
            <a:chOff x="6456045" y="1060132"/>
            <a:chExt cx="5164455" cy="4083368"/>
          </a:xfrm>
        </p:grpSpPr>
        <p:sp>
          <p:nvSpPr>
            <p:cNvPr id="76" name="TextBox 76"/>
            <p:cNvSpPr txBox="1"/>
            <p:nvPr/>
          </p:nvSpPr>
          <p:spPr>
            <a:xfrm>
              <a:off x="6456045" y="106013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7F8C8D"/>
                  </a:solidFill>
                  <a:latin typeface="Georgia" panose="02040502050405020303"/>
                  <a:ea typeface="黑体" panose="02010609060101010101" charset="-122"/>
                  <a:cs typeface="Georgia" panose="02040502050405020303"/>
                </a:rPr>
                <a:t>Future Work</a:t>
              </a:r>
              <a:endParaRPr lang="zh-CN" sz="1650" b="1" dirty="0">
                <a:solidFill>
                  <a:srgbClr val="7F8C8D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endParaRPr>
            </a:p>
          </p:txBody>
        </p:sp>
        <p:sp>
          <p:nvSpPr>
            <p:cNvPr id="77" name="Line 77"/>
            <p:cNvSpPr/>
            <p:nvPr/>
          </p:nvSpPr>
          <p:spPr>
            <a:xfrm>
              <a:off x="6477000" y="1352550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19050">
              <a:solidFill>
                <a:srgbClr val="D5D8DC"/>
              </a:solidFill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6477000" y="1619250"/>
              <a:ext cx="5143500" cy="1047750"/>
              <a:chOff x="6477000" y="1619250"/>
              <a:chExt cx="5143500" cy="1047750"/>
            </a:xfrm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grpSpPr>
          <p:sp>
            <p:nvSpPr>
              <p:cNvPr id="78" name="Rectangle 78"/>
              <p:cNvSpPr/>
              <p:nvPr/>
            </p:nvSpPr>
            <p:spPr>
              <a:xfrm>
                <a:off x="6477000" y="1619250"/>
                <a:ext cx="51435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F5F7FA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79" name="Rectangle 79"/>
              <p:cNvSpPr/>
              <p:nvPr/>
            </p:nvSpPr>
            <p:spPr>
              <a:xfrm>
                <a:off x="6477000" y="1619250"/>
                <a:ext cx="47625" cy="1047750"/>
              </a:xfrm>
              <a:prstGeom prst="roundRect">
                <a:avLst>
                  <a:gd name="adj" fmla="val 50000"/>
                </a:avLst>
              </a:prstGeom>
              <a:solidFill>
                <a:srgbClr val="2E86DE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grpSp>
            <p:nvGrpSpPr>
              <p:cNvPr id="86" name="Group 86"/>
              <p:cNvGrpSpPr/>
              <p:nvPr/>
            </p:nvGrpSpPr>
            <p:grpSpPr>
              <a:xfrm>
                <a:off x="6711950" y="1854200"/>
                <a:ext cx="177800" cy="177800"/>
                <a:chOff x="6711950" y="1854200"/>
                <a:chExt cx="177800" cy="177800"/>
              </a:xfrm>
            </p:grpSpPr>
            <p:sp>
              <p:nvSpPr>
                <p:cNvPr id="80" name="Freeform 80"/>
                <p:cNvSpPr/>
                <p:nvPr/>
              </p:nvSpPr>
              <p:spPr>
                <a:xfrm>
                  <a:off x="6733408" y="1886826"/>
                  <a:ext cx="123715" cy="1237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15" h="123715">
                      <a:moveTo>
                        <a:pt x="0" y="0"/>
                      </a:moveTo>
                      <a:lnTo>
                        <a:pt x="14168" y="47217"/>
                      </a:lnTo>
                      <a:moveTo>
                        <a:pt x="76476" y="109547"/>
                      </a:moveTo>
                      <a:lnTo>
                        <a:pt x="123715" y="123715"/>
                      </a:lnTo>
                    </a:path>
                  </a:pathLst>
                </a:custGeom>
                <a:noFill/>
                <a:ln w="19050">
                  <a:solidFill>
                    <a:srgbClr val="2E86DE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81" name="Freeform 81"/>
                <p:cNvSpPr/>
                <p:nvPr/>
              </p:nvSpPr>
              <p:spPr>
                <a:xfrm>
                  <a:off x="6797327" y="1882626"/>
                  <a:ext cx="63997" cy="63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97" h="63997">
                      <a:moveTo>
                        <a:pt x="0" y="63997"/>
                      </a:moveTo>
                      <a:lnTo>
                        <a:pt x="63997" y="0"/>
                      </a:lnTo>
                    </a:path>
                  </a:pathLst>
                </a:custGeom>
                <a:noFill/>
                <a:ln w="19050">
                  <a:solidFill>
                    <a:srgbClr val="2E86DE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82" name="Freeform 82"/>
                <p:cNvSpPr/>
                <p:nvPr/>
              </p:nvSpPr>
              <p:spPr>
                <a:xfrm>
                  <a:off x="6711950" y="1854200"/>
                  <a:ext cx="33338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33338">
                      <a:moveTo>
                        <a:pt x="0" y="16669"/>
                      </a:moveTo>
                      <a:cubicBezTo>
                        <a:pt x="0" y="25875"/>
                        <a:pt x="7463" y="33338"/>
                        <a:pt x="16669" y="33338"/>
                      </a:cubicBezTo>
                      <a:cubicBezTo>
                        <a:pt x="25875" y="33338"/>
                        <a:pt x="33338" y="25875"/>
                        <a:pt x="33338" y="16669"/>
                      </a:cubicBezTo>
                      <a:cubicBezTo>
                        <a:pt x="33338" y="7463"/>
                        <a:pt x="25875" y="0"/>
                        <a:pt x="16669" y="0"/>
                      </a:cubicBezTo>
                      <a:cubicBezTo>
                        <a:pt x="7463" y="0"/>
                        <a:pt x="0" y="7463"/>
                        <a:pt x="0" y="16669"/>
                      </a:cubicBezTo>
                    </a:path>
                  </a:pathLst>
                </a:custGeom>
                <a:noFill/>
                <a:ln w="19050">
                  <a:solidFill>
                    <a:srgbClr val="2E86DE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6856412" y="1854200"/>
                  <a:ext cx="33338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33338">
                      <a:moveTo>
                        <a:pt x="0" y="16669"/>
                      </a:moveTo>
                      <a:cubicBezTo>
                        <a:pt x="0" y="25875"/>
                        <a:pt x="7463" y="33338"/>
                        <a:pt x="16669" y="33338"/>
                      </a:cubicBezTo>
                      <a:cubicBezTo>
                        <a:pt x="25875" y="33338"/>
                        <a:pt x="33338" y="25875"/>
                        <a:pt x="33338" y="16669"/>
                      </a:cubicBezTo>
                      <a:cubicBezTo>
                        <a:pt x="33338" y="7463"/>
                        <a:pt x="25875" y="0"/>
                        <a:pt x="16669" y="0"/>
                      </a:cubicBezTo>
                      <a:cubicBezTo>
                        <a:pt x="7463" y="0"/>
                        <a:pt x="0" y="7463"/>
                        <a:pt x="0" y="16669"/>
                      </a:cubicBezTo>
                    </a:path>
                  </a:pathLst>
                </a:custGeom>
                <a:noFill/>
                <a:ln w="19050">
                  <a:solidFill>
                    <a:srgbClr val="2E86DE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84" name="Freeform 84"/>
                <p:cNvSpPr/>
                <p:nvPr/>
              </p:nvSpPr>
              <p:spPr>
                <a:xfrm>
                  <a:off x="6856412" y="1998662"/>
                  <a:ext cx="33338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33338">
                      <a:moveTo>
                        <a:pt x="0" y="16669"/>
                      </a:moveTo>
                      <a:cubicBezTo>
                        <a:pt x="0" y="25875"/>
                        <a:pt x="7463" y="33338"/>
                        <a:pt x="16669" y="33338"/>
                      </a:cubicBezTo>
                      <a:cubicBezTo>
                        <a:pt x="25875" y="33338"/>
                        <a:pt x="33338" y="25875"/>
                        <a:pt x="33338" y="16669"/>
                      </a:cubicBezTo>
                      <a:cubicBezTo>
                        <a:pt x="33338" y="7463"/>
                        <a:pt x="25875" y="0"/>
                        <a:pt x="16669" y="0"/>
                      </a:cubicBezTo>
                      <a:cubicBezTo>
                        <a:pt x="7463" y="0"/>
                        <a:pt x="0" y="7463"/>
                        <a:pt x="0" y="16669"/>
                      </a:cubicBezTo>
                    </a:path>
                  </a:pathLst>
                </a:custGeom>
                <a:noFill/>
                <a:ln w="19050">
                  <a:solidFill>
                    <a:srgbClr val="2E86DE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85" name="Freeform 85"/>
                <p:cNvSpPr/>
                <p:nvPr/>
              </p:nvSpPr>
              <p:spPr>
                <a:xfrm>
                  <a:off x="6711950" y="1931988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0" y="50006"/>
                      </a:moveTo>
                      <a:cubicBezTo>
                        <a:pt x="0" y="77624"/>
                        <a:pt x="22389" y="100012"/>
                        <a:pt x="50006" y="100012"/>
                      </a:cubicBezTo>
                      <a:cubicBezTo>
                        <a:pt x="77624" y="100012"/>
                        <a:pt x="100012" y="77624"/>
                        <a:pt x="100012" y="50006"/>
                      </a:cubicBezTo>
                      <a:cubicBezTo>
                        <a:pt x="100012" y="22389"/>
                        <a:pt x="77624" y="0"/>
                        <a:pt x="50006" y="0"/>
                      </a:cubicBezTo>
                      <a:cubicBezTo>
                        <a:pt x="22389" y="0"/>
                        <a:pt x="0" y="22389"/>
                        <a:pt x="0" y="50006"/>
                      </a:cubicBezTo>
                    </a:path>
                  </a:pathLst>
                </a:custGeom>
                <a:noFill/>
                <a:ln w="19050">
                  <a:solidFill>
                    <a:srgbClr val="2E86DE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</p:grpSp>
          <p:sp>
            <p:nvSpPr>
              <p:cNvPr id="87" name="TextBox 87"/>
              <p:cNvSpPr txBox="1"/>
              <p:nvPr/>
            </p:nvSpPr>
            <p:spPr>
              <a:xfrm>
                <a:off x="7033260" y="1870710"/>
                <a:ext cx="1710690" cy="2438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扩展至更大规模因果图</a:t>
                </a:r>
                <a:endParaRPr lang="zh-CN" sz="12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6654165" y="2172652"/>
                <a:ext cx="2932033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百节点级图结构，优化 Bayesian Ball 搜索效率</a:t>
                </a:r>
                <a:endPara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6654165" y="2382202"/>
                <a:ext cx="1762887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支持分层 d-分离和增量验证</a:t>
                </a:r>
                <a:endPara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6477000" y="2857500"/>
              <a:ext cx="5143500" cy="1047750"/>
              <a:chOff x="6477000" y="2857500"/>
              <a:chExt cx="5143500" cy="1047750"/>
            </a:xfrm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grpSpPr>
          <p:sp>
            <p:nvSpPr>
              <p:cNvPr id="91" name="Rectangle 91"/>
              <p:cNvSpPr/>
              <p:nvPr/>
            </p:nvSpPr>
            <p:spPr>
              <a:xfrm>
                <a:off x="6477000" y="2857500"/>
                <a:ext cx="51435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F5F7FA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92" name="Rectangle 92"/>
              <p:cNvSpPr/>
              <p:nvPr/>
            </p:nvSpPr>
            <p:spPr>
              <a:xfrm>
                <a:off x="6477000" y="2857500"/>
                <a:ext cx="47625" cy="1047750"/>
              </a:xfrm>
              <a:prstGeom prst="roundRect">
                <a:avLst>
                  <a:gd name="adj" fmla="val 50000"/>
                </a:avLst>
              </a:prstGeom>
              <a:solidFill>
                <a:srgbClr val="27AE60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grpSp>
            <p:nvGrpSpPr>
              <p:cNvPr id="99" name="Group 99"/>
              <p:cNvGrpSpPr/>
              <p:nvPr/>
            </p:nvGrpSpPr>
            <p:grpSpPr>
              <a:xfrm>
                <a:off x="6700838" y="3081338"/>
                <a:ext cx="200024" cy="200024"/>
                <a:chOff x="6700838" y="3081338"/>
                <a:chExt cx="200024" cy="200024"/>
              </a:xfrm>
            </p:grpSpPr>
            <p:sp>
              <p:nvSpPr>
                <p:cNvPr id="93" name="Freeform 93"/>
                <p:cNvSpPr/>
                <p:nvPr/>
              </p:nvSpPr>
              <p:spPr>
                <a:xfrm>
                  <a:off x="6800850" y="3192462"/>
                  <a:ext cx="77787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7" h="88900">
                      <a:moveTo>
                        <a:pt x="38894" y="0"/>
                      </a:moveTo>
                      <a:cubicBezTo>
                        <a:pt x="17413" y="0"/>
                        <a:pt x="0" y="17413"/>
                        <a:pt x="0" y="38894"/>
                      </a:cubicBezTo>
                      <a:lnTo>
                        <a:pt x="0" y="50006"/>
                      </a:lnTo>
                      <a:cubicBezTo>
                        <a:pt x="0" y="71487"/>
                        <a:pt x="17413" y="88900"/>
                        <a:pt x="38894" y="88900"/>
                      </a:cubicBezTo>
                      <a:cubicBezTo>
                        <a:pt x="60374" y="88900"/>
                        <a:pt x="77787" y="71487"/>
                        <a:pt x="77787" y="50006"/>
                      </a:cubicBezTo>
                      <a:lnTo>
                        <a:pt x="77787" y="30004"/>
                      </a:ln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94" name="Freeform 94"/>
                <p:cNvSpPr/>
                <p:nvPr/>
              </p:nvSpPr>
              <p:spPr>
                <a:xfrm>
                  <a:off x="6723062" y="3192462"/>
                  <a:ext cx="77787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7" h="88900">
                      <a:moveTo>
                        <a:pt x="38894" y="0"/>
                      </a:moveTo>
                      <a:cubicBezTo>
                        <a:pt x="60374" y="0"/>
                        <a:pt x="77787" y="17413"/>
                        <a:pt x="77787" y="38894"/>
                      </a:cubicBezTo>
                      <a:lnTo>
                        <a:pt x="77787" y="50006"/>
                      </a:lnTo>
                      <a:cubicBezTo>
                        <a:pt x="77787" y="71487"/>
                        <a:pt x="60374" y="88900"/>
                        <a:pt x="38894" y="88900"/>
                      </a:cubicBezTo>
                      <a:cubicBezTo>
                        <a:pt x="17413" y="88900"/>
                        <a:pt x="0" y="71487"/>
                        <a:pt x="0" y="50006"/>
                      </a:cubicBezTo>
                      <a:lnTo>
                        <a:pt x="0" y="30004"/>
                      </a:ln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95" name="Freeform 95"/>
                <p:cNvSpPr/>
                <p:nvPr/>
              </p:nvSpPr>
              <p:spPr>
                <a:xfrm>
                  <a:off x="6856412" y="3148012"/>
                  <a:ext cx="44450" cy="77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77788">
                      <a:moveTo>
                        <a:pt x="5556" y="77788"/>
                      </a:moveTo>
                      <a:cubicBezTo>
                        <a:pt x="27037" y="77788"/>
                        <a:pt x="44450" y="60374"/>
                        <a:pt x="44450" y="38894"/>
                      </a:cubicBezTo>
                      <a:cubicBezTo>
                        <a:pt x="44450" y="17413"/>
                        <a:pt x="27037" y="0"/>
                        <a:pt x="5556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96" name="Freeform 96"/>
                <p:cNvSpPr/>
                <p:nvPr/>
              </p:nvSpPr>
              <p:spPr>
                <a:xfrm>
                  <a:off x="6800850" y="3081338"/>
                  <a:ext cx="77787" cy="70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7" h="70009">
                      <a:moveTo>
                        <a:pt x="77787" y="70009"/>
                      </a:moveTo>
                      <a:lnTo>
                        <a:pt x="77787" y="38894"/>
                      </a:lnTo>
                      <a:cubicBezTo>
                        <a:pt x="77787" y="17413"/>
                        <a:pt x="60374" y="0"/>
                        <a:pt x="38894" y="0"/>
                      </a:cubicBezTo>
                      <a:cubicBezTo>
                        <a:pt x="17413" y="0"/>
                        <a:pt x="0" y="17413"/>
                        <a:pt x="0" y="38894"/>
                      </a:cubicBez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97" name="Freeform 97"/>
                <p:cNvSpPr/>
                <p:nvPr/>
              </p:nvSpPr>
              <p:spPr>
                <a:xfrm>
                  <a:off x="6700838" y="3148012"/>
                  <a:ext cx="44450" cy="77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77788">
                      <a:moveTo>
                        <a:pt x="38894" y="77788"/>
                      </a:moveTo>
                      <a:cubicBezTo>
                        <a:pt x="17413" y="77788"/>
                        <a:pt x="0" y="60374"/>
                        <a:pt x="0" y="38894"/>
                      </a:cubicBezTo>
                      <a:cubicBezTo>
                        <a:pt x="0" y="17413"/>
                        <a:pt x="17413" y="0"/>
                        <a:pt x="38894" y="0"/>
                      </a:cubicBezTo>
                      <a:lnTo>
                        <a:pt x="44450" y="0"/>
                      </a:ln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98" name="Freeform 98"/>
                <p:cNvSpPr/>
                <p:nvPr/>
              </p:nvSpPr>
              <p:spPr>
                <a:xfrm>
                  <a:off x="6723062" y="3081338"/>
                  <a:ext cx="77787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7" h="150019">
                      <a:moveTo>
                        <a:pt x="0" y="70009"/>
                      </a:moveTo>
                      <a:lnTo>
                        <a:pt x="0" y="38894"/>
                      </a:lnTo>
                      <a:cubicBezTo>
                        <a:pt x="0" y="17413"/>
                        <a:pt x="17413" y="0"/>
                        <a:pt x="38894" y="0"/>
                      </a:cubicBezTo>
                      <a:cubicBezTo>
                        <a:pt x="60374" y="0"/>
                        <a:pt x="77787" y="17413"/>
                        <a:pt x="77787" y="38894"/>
                      </a:cubicBezTo>
                      <a:lnTo>
                        <a:pt x="77787" y="150019"/>
                      </a:lnTo>
                    </a:path>
                  </a:pathLst>
                </a:custGeom>
                <a:noFill/>
                <a:ln w="19050">
                  <a:solidFill>
                    <a:srgbClr val="27AE60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</p:grpSp>
          <p:sp>
            <p:nvSpPr>
              <p:cNvPr id="100" name="TextBox 100"/>
              <p:cNvSpPr txBox="1"/>
              <p:nvPr/>
            </p:nvSpPr>
            <p:spPr>
              <a:xfrm>
                <a:off x="7033260" y="3108960"/>
                <a:ext cx="1937518" cy="2438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引入 Human-in-the-loop</a:t>
                </a:r>
                <a:endParaRPr lang="zh-CN" sz="12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6654165" y="3410902"/>
                <a:ext cx="170688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领域专家审核高风险因果边</a:t>
                </a:r>
                <a:endPara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6654165" y="3620452"/>
                <a:ext cx="2126932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结合人类反馈优化 FMEA 评分校准</a:t>
                </a:r>
                <a:endPara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6477000" y="4095750"/>
              <a:ext cx="5143500" cy="1047750"/>
              <a:chOff x="6477000" y="4095750"/>
              <a:chExt cx="5143500" cy="1047750"/>
            </a:xfrm>
            <a:effectLst>
              <a:outerShdw blurRad="76200" dist="19050" dir="5400000" algn="ctr" rotWithShape="0">
                <a:srgbClr val="000000">
                  <a:alpha val="4500"/>
                </a:srgbClr>
              </a:outerShdw>
            </a:effectLst>
          </p:grpSpPr>
          <p:sp>
            <p:nvSpPr>
              <p:cNvPr id="104" name="Rectangle 104"/>
              <p:cNvSpPr/>
              <p:nvPr/>
            </p:nvSpPr>
            <p:spPr>
              <a:xfrm>
                <a:off x="6477000" y="4095750"/>
                <a:ext cx="51435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F5F7FA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105" name="Rectangle 105"/>
              <p:cNvSpPr/>
              <p:nvPr/>
            </p:nvSpPr>
            <p:spPr>
              <a:xfrm>
                <a:off x="6477000" y="4095750"/>
                <a:ext cx="47625" cy="1047750"/>
              </a:xfrm>
              <a:prstGeom prst="roundRect">
                <a:avLst>
                  <a:gd name="adj" fmla="val 50000"/>
                </a:avLst>
              </a:prstGeom>
              <a:solidFill>
                <a:srgbClr val="E8B931"/>
              </a:solidFill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</p:sp>
          <p:grpSp>
            <p:nvGrpSpPr>
              <p:cNvPr id="108" name="Group 108"/>
              <p:cNvGrpSpPr/>
              <p:nvPr/>
            </p:nvGrpSpPr>
            <p:grpSpPr>
              <a:xfrm>
                <a:off x="6711950" y="4326412"/>
                <a:ext cx="177800" cy="186375"/>
                <a:chOff x="6711950" y="4326412"/>
                <a:chExt cx="177800" cy="186375"/>
              </a:xfrm>
            </p:grpSpPr>
            <p:sp>
              <p:nvSpPr>
                <p:cNvPr id="106" name="Freeform 106"/>
                <p:cNvSpPr/>
                <p:nvPr/>
              </p:nvSpPr>
              <p:spPr>
                <a:xfrm>
                  <a:off x="6711950" y="4326412"/>
                  <a:ext cx="177800" cy="82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82075">
                      <a:moveTo>
                        <a:pt x="177800" y="82075"/>
                      </a:moveTo>
                      <a:cubicBezTo>
                        <a:pt x="172213" y="41876"/>
                        <a:pt x="140416" y="10388"/>
                        <a:pt x="100164" y="5194"/>
                      </a:cubicBezTo>
                      <a:cubicBezTo>
                        <a:pt x="59913" y="0"/>
                        <a:pt x="21164" y="22386"/>
                        <a:pt x="5556" y="59850"/>
                      </a:cubicBezTo>
                      <a:moveTo>
                        <a:pt x="0" y="15400"/>
                      </a:moveTo>
                      <a:lnTo>
                        <a:pt x="0" y="59850"/>
                      </a:lnTo>
                      <a:lnTo>
                        <a:pt x="44450" y="59850"/>
                      </a:lnTo>
                    </a:path>
                  </a:pathLst>
                </a:custGeom>
                <a:noFill/>
                <a:ln w="19050">
                  <a:solidFill>
                    <a:srgbClr val="E8B931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  <p:sp>
              <p:nvSpPr>
                <p:cNvPr id="107" name="Freeform 107"/>
                <p:cNvSpPr/>
                <p:nvPr/>
              </p:nvSpPr>
              <p:spPr>
                <a:xfrm>
                  <a:off x="6711950" y="4430712"/>
                  <a:ext cx="177800" cy="82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82075">
                      <a:moveTo>
                        <a:pt x="0" y="0"/>
                      </a:moveTo>
                      <a:cubicBezTo>
                        <a:pt x="5587" y="40199"/>
                        <a:pt x="37384" y="71687"/>
                        <a:pt x="77636" y="76881"/>
                      </a:cubicBezTo>
                      <a:cubicBezTo>
                        <a:pt x="117887" y="82075"/>
                        <a:pt x="156636" y="59689"/>
                        <a:pt x="172244" y="22225"/>
                      </a:cubicBezTo>
                      <a:moveTo>
                        <a:pt x="177800" y="66675"/>
                      </a:moveTo>
                      <a:lnTo>
                        <a:pt x="177800" y="22225"/>
                      </a:lnTo>
                      <a:lnTo>
                        <a:pt x="133350" y="22225"/>
                      </a:lnTo>
                    </a:path>
                  </a:pathLst>
                </a:custGeom>
                <a:noFill/>
                <a:ln w="19050">
                  <a:solidFill>
                    <a:srgbClr val="E8B931"/>
                  </a:solidFill>
                </a:ln>
                <a:effectLst>
                  <a:outerShdw blurRad="76200" dist="19050" dir="5400000" algn="ctr" rotWithShape="0">
                    <a:srgbClr val="000000">
                      <a:alpha val="4500"/>
                    </a:srgbClr>
                  </a:outerShdw>
                </a:effectLst>
              </p:spPr>
            </p:sp>
          </p:grpSp>
          <p:sp>
            <p:nvSpPr>
              <p:cNvPr id="109" name="TextBox 109"/>
              <p:cNvSpPr txBox="1"/>
              <p:nvPr/>
            </p:nvSpPr>
            <p:spPr>
              <a:xfrm>
                <a:off x="7033260" y="4347210"/>
                <a:ext cx="1374648" cy="2438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支持时序因果推理</a:t>
                </a:r>
                <a:endParaRPr lang="zh-CN" sz="12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0" name="TextBox 110"/>
              <p:cNvSpPr txBox="1"/>
              <p:nvPr/>
            </p:nvSpPr>
            <p:spPr>
              <a:xfrm>
                <a:off x="6654165" y="4649152"/>
                <a:ext cx="2546985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动态图更新，支持时间窗口内的因果发现</a:t>
                </a:r>
                <a:endPara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1" name="TextBox 111"/>
              <p:cNvSpPr txBox="1"/>
              <p:nvPr/>
            </p:nvSpPr>
            <p:spPr>
              <a:xfrm>
                <a:off x="6654165" y="4858702"/>
                <a:ext cx="2574989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00000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融合 Granger causality 和结构因果模型</a:t>
                </a:r>
                <a:endPara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16" name="Group 116"/>
          <p:cNvGrpSpPr/>
          <p:nvPr/>
        </p:nvGrpSpPr>
        <p:grpSpPr>
          <a:xfrm>
            <a:off x="560070" y="6522720"/>
            <a:ext cx="11071860" cy="182880"/>
            <a:chOff x="560070" y="6522720"/>
            <a:chExt cx="11071860" cy="182880"/>
          </a:xfrm>
        </p:grpSpPr>
        <p:sp>
          <p:nvSpPr>
            <p:cNvPr id="114" name="TextBox 114"/>
            <p:cNvSpPr txBox="1"/>
            <p:nvPr/>
          </p:nvSpPr>
          <p:spPr>
            <a:xfrm>
              <a:off x="560070" y="652272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13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954988" y="6522720"/>
              <a:ext cx="6769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EdgeThemis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74" grpId="0"/>
      <p:bldP spid="1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3C6E"/>
              </a:gs>
              <a:gs pos="100000">
                <a:srgbClr val="0F2445"/>
              </a:gs>
            </a:gsLst>
            <a:lin ang="54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62000" y="285750"/>
            <a:ext cx="2286000" cy="2286000"/>
          </a:xfrm>
          <a:prstGeom prst="ellipse">
            <a:avLst/>
          </a:prstGeom>
          <a:noFill/>
          <a:ln w="9525">
            <a:solidFill>
              <a:srgbClr val="2E86DE">
                <a:alpha val="10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90500" y="-285750"/>
            <a:ext cx="3429000" cy="3429000"/>
          </a:xfrm>
          <a:prstGeom prst="ellipse">
            <a:avLst/>
          </a:prstGeom>
          <a:noFill/>
          <a:ln w="7620">
            <a:solidFill>
              <a:srgbClr val="2E86DE">
                <a:alpha val="6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9334500" y="4286250"/>
            <a:ext cx="1905000" cy="1905000"/>
          </a:xfrm>
          <a:prstGeom prst="ellipse">
            <a:avLst/>
          </a:prstGeom>
          <a:noFill/>
          <a:ln w="9525">
            <a:solidFill>
              <a:srgbClr val="E8B931">
                <a:alpha val="8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8763000" y="3714750"/>
            <a:ext cx="3048000" cy="3048000"/>
          </a:xfrm>
          <a:prstGeom prst="ellipse">
            <a:avLst/>
          </a:prstGeom>
          <a:noFill/>
          <a:ln w="7620">
            <a:solidFill>
              <a:srgbClr val="E8B931">
                <a:alpha val="5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2828925" y="923925"/>
            <a:ext cx="57150" cy="57150"/>
          </a:xfrm>
          <a:prstGeom prst="ellipse">
            <a:avLst/>
          </a:prstGeom>
          <a:solidFill>
            <a:srgbClr val="2E86DE">
              <a:alpha val="30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024938" y="1690688"/>
            <a:ext cx="47625" cy="47625"/>
          </a:xfrm>
          <a:prstGeom prst="ellipse">
            <a:avLst/>
          </a:prstGeom>
          <a:solidFill>
            <a:srgbClr val="E8B931">
              <a:alpha val="25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10444162" y="3300412"/>
            <a:ext cx="66675" cy="66675"/>
          </a:xfrm>
          <a:prstGeom prst="ellipse">
            <a:avLst/>
          </a:prstGeom>
          <a:solidFill>
            <a:srgbClr val="2E86DE">
              <a:alpha val="2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866513" y="2404110"/>
            <a:ext cx="245897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rPr>
              <a:t>感谢聆听</a:t>
            </a:r>
            <a:endParaRPr lang="zh-CN" sz="4200" b="1" dirty="0">
              <a:solidFill>
                <a:srgbClr val="FFFFFF"/>
              </a:solidFill>
              <a:latin typeface="Georgia" panose="02040502050405020303"/>
              <a:ea typeface="黑体" panose="02010609060101010101" charset="-122"/>
              <a:cs typeface="Georgia" panose="020405020504050203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62337" y="3138488"/>
            <a:ext cx="146732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i="1" dirty="0">
                <a:solidFill>
                  <a:srgbClr val="FFFFFF">
                    <a:alphaMod val="70000"/>
                  </a:srgbClr>
                </a:solidFill>
                <a:latin typeface="Georgia" panose="02040502050405020303"/>
                <a:ea typeface="黑体" panose="02010609060101010101" charset="-122"/>
                <a:cs typeface="Georgia" panose="02040502050405020303"/>
              </a:rPr>
              <a:t>Thank You</a:t>
            </a:r>
            <a:endParaRPr lang="zh-CN" sz="2250" i="1" dirty="0">
              <a:solidFill>
                <a:srgbClr val="FFFFFF">
                  <a:alphaMod val="70000"/>
                </a:srgbClr>
              </a:solidFill>
              <a:latin typeface="Georgia" panose="02040502050405020303"/>
              <a:ea typeface="黑体" panose="02010609060101010101" charset="-122"/>
              <a:cs typeface="Georgia" panose="02040502050405020303"/>
            </a:endParaRPr>
          </a:p>
        </p:txBody>
      </p:sp>
      <p:sp>
        <p:nvSpPr>
          <p:cNvPr id="12" name="Rectangle 12"/>
          <p:cNvSpPr/>
          <p:nvPr/>
        </p:nvSpPr>
        <p:spPr>
          <a:xfrm>
            <a:off x="5143500" y="3619500"/>
            <a:ext cx="1905000" cy="28575"/>
          </a:xfrm>
          <a:prstGeom prst="roundRect">
            <a:avLst>
              <a:gd name="adj" fmla="val 33333"/>
            </a:avLst>
          </a:prstGeom>
          <a:solidFill>
            <a:srgbClr val="2E86D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598602" y="3899535"/>
            <a:ext cx="99479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E8B93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Q &amp; A</a:t>
            </a:r>
            <a:endParaRPr lang="zh-CN" sz="2700" b="1" dirty="0">
              <a:solidFill>
                <a:srgbClr val="E8B931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666554" y="4712018"/>
            <a:ext cx="48588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EdgeThemis — Causal Reasoning with Formal Verification</a:t>
            </a:r>
            <a:endParaRPr lang="zh-CN" sz="1350" dirty="0">
              <a:solidFill>
                <a:srgbClr val="FFFFFF">
                  <a:alphaMod val="5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108496" y="6371749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3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[Author] · [University] · 2026</a:t>
            </a:r>
            <a:endParaRPr lang="zh-CN" sz="975" dirty="0">
              <a:solidFill>
                <a:srgbClr val="FFFFFF">
                  <a:alphaMod val="3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10767</Words>
  <Application>WPS 演示</Application>
  <PresentationFormat>On-screen Show (16:9)</PresentationFormat>
  <Paragraphs>1744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宋体</vt:lpstr>
      <vt:lpstr>Wingdings</vt:lpstr>
      <vt:lpstr>Arial</vt:lpstr>
      <vt:lpstr>Georgia</vt:lpstr>
      <vt:lpstr>黑体</vt:lpstr>
      <vt:lpstr>微软雅黑</vt:lpstr>
      <vt:lpstr>Consolas</vt:lpstr>
      <vt:lpstr>Arial Unicode MS</vt:lpstr>
      <vt:lpstr>Calibri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WPS_1601795207</cp:lastModifiedBy>
  <cp:revision>2</cp:revision>
  <dcterms:created xsi:type="dcterms:W3CDTF">2026-06-14T18:20:00Z</dcterms:created>
  <dcterms:modified xsi:type="dcterms:W3CDTF">2026-06-14T18:23:54Z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40CA08D0672243C287754B6E53C05D3B_12</vt:lpwstr>
  </property>
  <property fmtid="{D5CDD505-2E9C-101B-9397-08002B2CF9AE}" pid="3" name="KSOProductBuildVer">
    <vt:lpwstr>2052-12.1.0.26895</vt:lpwstr>
  </property>
</Properties>
</file>